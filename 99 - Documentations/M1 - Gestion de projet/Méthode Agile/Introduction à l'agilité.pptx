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9"/>
  </p:sldMasterIdLst>
  <p:notesMasterIdLst>
    <p:notesMasterId r:id="rId51"/>
  </p:notesMasterIdLst>
  <p:handoutMasterIdLst>
    <p:handoutMasterId r:id="rId52"/>
  </p:handoutMasterIdLst>
  <p:sldIdLst>
    <p:sldId id="256" r:id="rId10"/>
    <p:sldId id="257" r:id="rId11"/>
    <p:sldId id="322" r:id="rId12"/>
    <p:sldId id="323" r:id="rId13"/>
    <p:sldId id="324" r:id="rId14"/>
    <p:sldId id="343" r:id="rId15"/>
    <p:sldId id="325" r:id="rId16"/>
    <p:sldId id="326" r:id="rId17"/>
    <p:sldId id="327" r:id="rId18"/>
    <p:sldId id="328" r:id="rId19"/>
    <p:sldId id="329" r:id="rId20"/>
    <p:sldId id="371" r:id="rId21"/>
    <p:sldId id="344" r:id="rId22"/>
    <p:sldId id="370" r:id="rId23"/>
    <p:sldId id="372" r:id="rId24"/>
    <p:sldId id="366" r:id="rId25"/>
    <p:sldId id="331" r:id="rId26"/>
    <p:sldId id="341" r:id="rId27"/>
    <p:sldId id="362" r:id="rId28"/>
    <p:sldId id="363" r:id="rId29"/>
    <p:sldId id="365" r:id="rId30"/>
    <p:sldId id="356" r:id="rId31"/>
    <p:sldId id="335" r:id="rId32"/>
    <p:sldId id="345" r:id="rId33"/>
    <p:sldId id="334" r:id="rId34"/>
    <p:sldId id="367" r:id="rId35"/>
    <p:sldId id="357" r:id="rId36"/>
    <p:sldId id="336" r:id="rId37"/>
    <p:sldId id="346" r:id="rId38"/>
    <p:sldId id="358" r:id="rId39"/>
    <p:sldId id="337" r:id="rId40"/>
    <p:sldId id="359" r:id="rId41"/>
    <p:sldId id="360" r:id="rId42"/>
    <p:sldId id="361" r:id="rId43"/>
    <p:sldId id="350" r:id="rId44"/>
    <p:sldId id="368" r:id="rId45"/>
    <p:sldId id="348" r:id="rId46"/>
    <p:sldId id="349" r:id="rId47"/>
    <p:sldId id="373" r:id="rId48"/>
    <p:sldId id="339" r:id="rId49"/>
    <p:sldId id="338" r:id="rId50"/>
  </p:sldIdLst>
  <p:sldSz cx="9144000" cy="6858000" type="screen4x3"/>
  <p:notesSz cx="6858000" cy="9144000"/>
  <p:custDataLst>
    <p:tags r:id="rId53"/>
  </p:custDataLst>
  <p:defaultTextStyle>
    <a:defPPr>
      <a:defRPr lang="fr-FR"/>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1218"/>
    <a:srgbClr val="238EA2"/>
    <a:srgbClr val="232F3F"/>
    <a:srgbClr val="DC911A"/>
    <a:srgbClr val="A1C037"/>
    <a:srgbClr val="89CC40"/>
    <a:srgbClr val="3D64A9"/>
    <a:srgbClr val="F2F2F2"/>
    <a:srgbClr val="08EFFD"/>
    <a:srgbClr val="5166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Style moyen 4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911" autoAdjust="0"/>
    <p:restoredTop sz="96357" autoAdjust="0"/>
  </p:normalViewPr>
  <p:slideViewPr>
    <p:cSldViewPr>
      <p:cViewPr>
        <p:scale>
          <a:sx n="150" d="100"/>
          <a:sy n="150" d="100"/>
        </p:scale>
        <p:origin x="1092" y="-1230"/>
      </p:cViewPr>
      <p:guideLst/>
    </p:cSldViewPr>
  </p:slideViewPr>
  <p:notesTextViewPr>
    <p:cViewPr>
      <p:scale>
        <a:sx n="1" d="1"/>
        <a:sy n="1" d="1"/>
      </p:scale>
      <p:origin x="0" y="0"/>
    </p:cViewPr>
  </p:notesTextViewPr>
  <p:notesViewPr>
    <p:cSldViewPr>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viewProps" Target="view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tags" Target="tags/tag1.xml"/><Relationship Id="rId58" Type="http://schemas.microsoft.com/office/2016/11/relationships/changesInfo" Target="changesInfos/changesInfo1.xml"/><Relationship Id="rId5" Type="http://schemas.openxmlformats.org/officeDocument/2006/relationships/customXml" Target="../customXml/item5.xml"/><Relationship Id="rId19" Type="http://schemas.openxmlformats.org/officeDocument/2006/relationships/slide" Target="slides/slide10.xml"/><Relationship Id="rId4" Type="http://schemas.openxmlformats.org/officeDocument/2006/relationships/customXml" Target="../customXml/item4.xml"/><Relationship Id="rId9" Type="http://schemas.openxmlformats.org/officeDocument/2006/relationships/slideMaster" Target="slideMasters/slideMaster1.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heme" Target="theme/theme1.xml"/><Relationship Id="rId8" Type="http://schemas.openxmlformats.org/officeDocument/2006/relationships/customXml" Target="../customXml/item8.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ableStyles" Target="tableStyle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t Lissandre" userId="2dd70e0d-15d2-46e9-9122-eb45ffb30a9f" providerId="ADAL" clId="{757FD612-D6B9-45C8-839C-4F25F0C2A2D8}"/>
    <pc:docChg chg="modSld">
      <pc:chgData name="Laurent Lissandre" userId="2dd70e0d-15d2-46e9-9122-eb45ffb30a9f" providerId="ADAL" clId="{757FD612-D6B9-45C8-839C-4F25F0C2A2D8}" dt="2023-04-03T12:46:57.314" v="1" actId="1076"/>
      <pc:docMkLst>
        <pc:docMk/>
      </pc:docMkLst>
      <pc:sldChg chg="modNotesTx">
        <pc:chgData name="Laurent Lissandre" userId="2dd70e0d-15d2-46e9-9122-eb45ffb30a9f" providerId="ADAL" clId="{757FD612-D6B9-45C8-839C-4F25F0C2A2D8}" dt="2023-04-03T12:11:35.290" v="0" actId="20577"/>
        <pc:sldMkLst>
          <pc:docMk/>
          <pc:sldMk cId="2257233332" sldId="358"/>
        </pc:sldMkLst>
      </pc:sldChg>
      <pc:sldChg chg="modSp mod">
        <pc:chgData name="Laurent Lissandre" userId="2dd70e0d-15d2-46e9-9122-eb45ffb30a9f" providerId="ADAL" clId="{757FD612-D6B9-45C8-839C-4F25F0C2A2D8}" dt="2023-04-03T12:46:57.314" v="1" actId="1076"/>
        <pc:sldMkLst>
          <pc:docMk/>
          <pc:sldMk cId="335469320" sldId="373"/>
        </pc:sldMkLst>
        <pc:picChg chg="mod">
          <ac:chgData name="Laurent Lissandre" userId="2dd70e0d-15d2-46e9-9122-eb45ffb30a9f" providerId="ADAL" clId="{757FD612-D6B9-45C8-839C-4F25F0C2A2D8}" dt="2023-04-03T12:46:57.314" v="1" actId="1076"/>
          <ac:picMkLst>
            <pc:docMk/>
            <pc:sldMk cId="335469320" sldId="373"/>
            <ac:picMk id="7" creationId="{E55C9913-48D4-84C9-4CA2-94272124DE2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D82040-FE3E-4072-9A68-4FA7EAD8FF64}"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fr-FR"/>
        </a:p>
      </dgm:t>
    </dgm:pt>
    <dgm:pt modelId="{5BE94CFB-5B50-4495-8F5B-7C8841582C85}">
      <dgm:prSet phldrT="[Texte]" custT="1"/>
      <dgm:spPr>
        <a:solidFill>
          <a:srgbClr val="3D64A9">
            <a:alpha val="85000"/>
          </a:srgbClr>
        </a:solidFill>
      </dgm:spPr>
      <dgm:t>
        <a:bodyPr/>
        <a:lstStyle/>
        <a:p>
          <a:r>
            <a:rPr lang="fr-FR" sz="2000" dirty="0" err="1"/>
            <a:t>Artifacts</a:t>
          </a:r>
          <a:endParaRPr lang="fr-FR" sz="2000" dirty="0"/>
        </a:p>
      </dgm:t>
    </dgm:pt>
    <dgm:pt modelId="{D1270A94-4CE0-4989-8278-2D23002279F1}" type="parTrans" cxnId="{D244F090-2359-4CAB-A7E7-AFE4A18EF8B9}">
      <dgm:prSet/>
      <dgm:spPr/>
      <dgm:t>
        <a:bodyPr/>
        <a:lstStyle/>
        <a:p>
          <a:endParaRPr lang="fr-FR"/>
        </a:p>
      </dgm:t>
    </dgm:pt>
    <dgm:pt modelId="{0192FE21-96BC-43BF-AA39-064672CBEF71}" type="sibTrans" cxnId="{D244F090-2359-4CAB-A7E7-AFE4A18EF8B9}">
      <dgm:prSet/>
      <dgm:spPr/>
      <dgm:t>
        <a:bodyPr/>
        <a:lstStyle/>
        <a:p>
          <a:endParaRPr lang="fr-FR"/>
        </a:p>
      </dgm:t>
    </dgm:pt>
    <dgm:pt modelId="{CFA5C22D-9B45-4B5A-B268-D73911D16D7B}">
      <dgm:prSet phldrT="[Texte]" custT="1"/>
      <dgm:spPr>
        <a:ln>
          <a:solidFill>
            <a:srgbClr val="3D64A9">
              <a:alpha val="20000"/>
            </a:srgbClr>
          </a:solidFill>
        </a:ln>
      </dgm:spPr>
      <dgm:t>
        <a:bodyPr/>
        <a:lstStyle/>
        <a:p>
          <a:r>
            <a:rPr lang="fr-FR" sz="1800" dirty="0">
              <a:solidFill>
                <a:srgbClr val="3D64A9"/>
              </a:solidFill>
            </a:rPr>
            <a:t>Product</a:t>
          </a:r>
        </a:p>
        <a:p>
          <a:r>
            <a:rPr lang="fr-FR" sz="1800" dirty="0">
              <a:solidFill>
                <a:srgbClr val="3D64A9"/>
              </a:solidFill>
            </a:rPr>
            <a:t>Backlog</a:t>
          </a:r>
        </a:p>
      </dgm:t>
    </dgm:pt>
    <dgm:pt modelId="{CAC48335-37FD-4495-98B3-8A964CFA6CE4}" type="parTrans" cxnId="{8FD761BD-0766-4830-8615-D475E780EF16}">
      <dgm:prSet/>
      <dgm:spPr>
        <a:ln>
          <a:solidFill>
            <a:srgbClr val="3D64A9">
              <a:alpha val="20000"/>
            </a:srgbClr>
          </a:solidFill>
        </a:ln>
      </dgm:spPr>
      <dgm:t>
        <a:bodyPr/>
        <a:lstStyle/>
        <a:p>
          <a:endParaRPr lang="fr-FR"/>
        </a:p>
      </dgm:t>
    </dgm:pt>
    <dgm:pt modelId="{CFFC9677-6D47-4E86-ACF5-027B40B7C695}" type="sibTrans" cxnId="{8FD761BD-0766-4830-8615-D475E780EF16}">
      <dgm:prSet/>
      <dgm:spPr/>
      <dgm:t>
        <a:bodyPr/>
        <a:lstStyle/>
        <a:p>
          <a:endParaRPr lang="fr-FR"/>
        </a:p>
      </dgm:t>
    </dgm:pt>
    <dgm:pt modelId="{20F31AF8-EC19-4B84-9C4A-26AFE7E8AA96}">
      <dgm:prSet phldrT="[Texte]" custT="1"/>
      <dgm:spPr>
        <a:ln>
          <a:solidFill>
            <a:srgbClr val="3D64A9">
              <a:alpha val="20000"/>
            </a:srgbClr>
          </a:solidFill>
        </a:ln>
      </dgm:spPr>
      <dgm:t>
        <a:bodyPr/>
        <a:lstStyle/>
        <a:p>
          <a:r>
            <a:rPr lang="fr-FR" sz="1800" dirty="0">
              <a:solidFill>
                <a:srgbClr val="3D64A9"/>
              </a:solidFill>
            </a:rPr>
            <a:t>Sprint</a:t>
          </a:r>
        </a:p>
        <a:p>
          <a:r>
            <a:rPr lang="fr-FR" sz="1800" dirty="0">
              <a:solidFill>
                <a:srgbClr val="3D64A9"/>
              </a:solidFill>
            </a:rPr>
            <a:t>Backlog</a:t>
          </a:r>
        </a:p>
      </dgm:t>
    </dgm:pt>
    <dgm:pt modelId="{3206FFC0-7392-458D-B385-7BF0722B7A45}" type="parTrans" cxnId="{3D5DC16E-13BC-4AFE-AB2E-2D56465CD607}">
      <dgm:prSet/>
      <dgm:spPr>
        <a:ln>
          <a:solidFill>
            <a:srgbClr val="3D64A9">
              <a:alpha val="20000"/>
            </a:srgbClr>
          </a:solidFill>
        </a:ln>
      </dgm:spPr>
      <dgm:t>
        <a:bodyPr/>
        <a:lstStyle/>
        <a:p>
          <a:endParaRPr lang="fr-FR"/>
        </a:p>
      </dgm:t>
    </dgm:pt>
    <dgm:pt modelId="{66638682-43C1-4A04-BEE1-5977DB825A3C}" type="sibTrans" cxnId="{3D5DC16E-13BC-4AFE-AB2E-2D56465CD607}">
      <dgm:prSet/>
      <dgm:spPr/>
      <dgm:t>
        <a:bodyPr/>
        <a:lstStyle/>
        <a:p>
          <a:endParaRPr lang="fr-FR"/>
        </a:p>
      </dgm:t>
    </dgm:pt>
    <dgm:pt modelId="{88C3F4F3-0FDE-4330-B777-1FF0C4B6D22C}">
      <dgm:prSet phldrT="[Texte]" custT="1"/>
      <dgm:spPr>
        <a:solidFill>
          <a:srgbClr val="3D64A9">
            <a:alpha val="85000"/>
          </a:srgbClr>
        </a:solidFill>
      </dgm:spPr>
      <dgm:t>
        <a:bodyPr/>
        <a:lstStyle/>
        <a:p>
          <a:r>
            <a:rPr lang="fr-FR" sz="2000" dirty="0"/>
            <a:t>Events</a:t>
          </a:r>
        </a:p>
      </dgm:t>
    </dgm:pt>
    <dgm:pt modelId="{C17A7958-FE7D-44FD-A34C-3D079AE5AC5B}" type="parTrans" cxnId="{091FBED9-6071-4969-802B-05F2CA3CC233}">
      <dgm:prSet/>
      <dgm:spPr/>
      <dgm:t>
        <a:bodyPr/>
        <a:lstStyle/>
        <a:p>
          <a:endParaRPr lang="fr-FR"/>
        </a:p>
      </dgm:t>
    </dgm:pt>
    <dgm:pt modelId="{2B58DFA5-8F0B-4CC5-B127-14FE00D1D2C6}" type="sibTrans" cxnId="{091FBED9-6071-4969-802B-05F2CA3CC233}">
      <dgm:prSet/>
      <dgm:spPr/>
      <dgm:t>
        <a:bodyPr/>
        <a:lstStyle/>
        <a:p>
          <a:endParaRPr lang="fr-FR"/>
        </a:p>
      </dgm:t>
    </dgm:pt>
    <dgm:pt modelId="{95201731-AE37-4C10-9701-7CB28527FA2D}">
      <dgm:prSet phldrT="[Texte]" custT="1"/>
      <dgm:spPr>
        <a:ln>
          <a:solidFill>
            <a:srgbClr val="3D64A9">
              <a:alpha val="20000"/>
            </a:srgbClr>
          </a:solidFill>
        </a:ln>
      </dgm:spPr>
      <dgm:t>
        <a:bodyPr/>
        <a:lstStyle/>
        <a:p>
          <a:r>
            <a:rPr lang="fr-FR" sz="1800" dirty="0">
              <a:solidFill>
                <a:srgbClr val="3D64A9"/>
              </a:solidFill>
            </a:rPr>
            <a:t>Sprint</a:t>
          </a:r>
        </a:p>
        <a:p>
          <a:r>
            <a:rPr lang="fr-FR" sz="1800" dirty="0">
              <a:solidFill>
                <a:srgbClr val="3D64A9"/>
              </a:solidFill>
            </a:rPr>
            <a:t>planning</a:t>
          </a:r>
        </a:p>
      </dgm:t>
    </dgm:pt>
    <dgm:pt modelId="{09311E53-529C-4E2B-BDA9-934DB273CA51}" type="parTrans" cxnId="{40C41F91-F051-41E8-9F33-9C644E535D04}">
      <dgm:prSet/>
      <dgm:spPr>
        <a:ln>
          <a:solidFill>
            <a:srgbClr val="3D64A9">
              <a:alpha val="20000"/>
            </a:srgbClr>
          </a:solidFill>
        </a:ln>
      </dgm:spPr>
      <dgm:t>
        <a:bodyPr/>
        <a:lstStyle/>
        <a:p>
          <a:endParaRPr lang="fr-FR"/>
        </a:p>
      </dgm:t>
    </dgm:pt>
    <dgm:pt modelId="{540A73B7-B093-43A0-A256-947545A06120}" type="sibTrans" cxnId="{40C41F91-F051-41E8-9F33-9C644E535D04}">
      <dgm:prSet/>
      <dgm:spPr/>
      <dgm:t>
        <a:bodyPr/>
        <a:lstStyle/>
        <a:p>
          <a:endParaRPr lang="fr-FR"/>
        </a:p>
      </dgm:t>
    </dgm:pt>
    <dgm:pt modelId="{DBC6EC94-8417-472A-9CDD-98AFA5E6485F}">
      <dgm:prSet phldrT="[Texte]" custT="1"/>
      <dgm:spPr>
        <a:ln>
          <a:solidFill>
            <a:srgbClr val="3D64A9">
              <a:alpha val="20000"/>
            </a:srgbClr>
          </a:solidFill>
        </a:ln>
      </dgm:spPr>
      <dgm:t>
        <a:bodyPr/>
        <a:lstStyle/>
        <a:p>
          <a:r>
            <a:rPr lang="fr-FR" sz="1800" dirty="0">
              <a:solidFill>
                <a:srgbClr val="3D64A9"/>
              </a:solidFill>
            </a:rPr>
            <a:t>Daily</a:t>
          </a:r>
        </a:p>
        <a:p>
          <a:r>
            <a:rPr lang="fr-FR" sz="1800" dirty="0" err="1">
              <a:solidFill>
                <a:srgbClr val="3D64A9"/>
              </a:solidFill>
            </a:rPr>
            <a:t>scrum</a:t>
          </a:r>
          <a:endParaRPr lang="fr-FR" sz="1800" dirty="0">
            <a:solidFill>
              <a:srgbClr val="3D64A9"/>
            </a:solidFill>
          </a:endParaRPr>
        </a:p>
      </dgm:t>
    </dgm:pt>
    <dgm:pt modelId="{18FF4325-6C0E-44A3-A9CF-2551856F2F3C}" type="parTrans" cxnId="{067A78D4-AE0C-429B-B8F1-057FF3B3B69A}">
      <dgm:prSet/>
      <dgm:spPr>
        <a:ln>
          <a:solidFill>
            <a:srgbClr val="3D64A9">
              <a:alpha val="20000"/>
            </a:srgbClr>
          </a:solidFill>
        </a:ln>
      </dgm:spPr>
      <dgm:t>
        <a:bodyPr/>
        <a:lstStyle/>
        <a:p>
          <a:endParaRPr lang="fr-FR"/>
        </a:p>
      </dgm:t>
    </dgm:pt>
    <dgm:pt modelId="{66147B14-0CB2-43CB-B2AA-6ED452C50C95}" type="sibTrans" cxnId="{067A78D4-AE0C-429B-B8F1-057FF3B3B69A}">
      <dgm:prSet/>
      <dgm:spPr/>
      <dgm:t>
        <a:bodyPr/>
        <a:lstStyle/>
        <a:p>
          <a:endParaRPr lang="fr-FR"/>
        </a:p>
      </dgm:t>
    </dgm:pt>
    <dgm:pt modelId="{F77B2080-2353-4633-8FA0-8BF63E605477}">
      <dgm:prSet custT="1"/>
      <dgm:spPr>
        <a:solidFill>
          <a:srgbClr val="3D64A9">
            <a:alpha val="85000"/>
          </a:srgbClr>
        </a:solidFill>
      </dgm:spPr>
      <dgm:t>
        <a:bodyPr lIns="38100"/>
        <a:lstStyle/>
        <a:p>
          <a:r>
            <a:rPr lang="fr-FR" sz="2000" dirty="0" err="1"/>
            <a:t>Process</a:t>
          </a:r>
          <a:endParaRPr lang="fr-FR" sz="2000" dirty="0"/>
        </a:p>
      </dgm:t>
    </dgm:pt>
    <dgm:pt modelId="{FD17807A-D1AE-403B-A4D9-4FCB321D72E1}" type="parTrans" cxnId="{7A8C3B41-2A3E-41C0-A4D0-27F2160F3562}">
      <dgm:prSet/>
      <dgm:spPr/>
      <dgm:t>
        <a:bodyPr/>
        <a:lstStyle/>
        <a:p>
          <a:endParaRPr lang="fr-FR"/>
        </a:p>
      </dgm:t>
    </dgm:pt>
    <dgm:pt modelId="{649485D4-047A-4401-82B3-6710C320707E}" type="sibTrans" cxnId="{7A8C3B41-2A3E-41C0-A4D0-27F2160F3562}">
      <dgm:prSet/>
      <dgm:spPr/>
      <dgm:t>
        <a:bodyPr/>
        <a:lstStyle/>
        <a:p>
          <a:endParaRPr lang="fr-FR"/>
        </a:p>
      </dgm:t>
    </dgm:pt>
    <dgm:pt modelId="{5A4D87FA-C31A-47D2-B438-260FFD6E3806}">
      <dgm:prSet custT="1"/>
      <dgm:spPr>
        <a:ln>
          <a:solidFill>
            <a:srgbClr val="3D64A9">
              <a:alpha val="20000"/>
            </a:srgbClr>
          </a:solidFill>
        </a:ln>
      </dgm:spPr>
      <dgm:t>
        <a:bodyPr/>
        <a:lstStyle/>
        <a:p>
          <a:r>
            <a:rPr lang="fr-FR" sz="1800" dirty="0">
              <a:solidFill>
                <a:srgbClr val="3D64A9"/>
              </a:solidFill>
            </a:rPr>
            <a:t>Product</a:t>
          </a:r>
        </a:p>
        <a:p>
          <a:r>
            <a:rPr lang="fr-FR" sz="1800" dirty="0">
              <a:solidFill>
                <a:srgbClr val="3D64A9"/>
              </a:solidFill>
            </a:rPr>
            <a:t>Owner</a:t>
          </a:r>
        </a:p>
      </dgm:t>
    </dgm:pt>
    <dgm:pt modelId="{00BFCB90-8C6C-4CAD-B963-B60895ADD0DD}" type="parTrans" cxnId="{5CA05036-913D-4827-8EF8-884AA7073196}">
      <dgm:prSet/>
      <dgm:spPr>
        <a:ln>
          <a:solidFill>
            <a:srgbClr val="3D64A9">
              <a:alpha val="20000"/>
            </a:srgbClr>
          </a:solidFill>
        </a:ln>
      </dgm:spPr>
      <dgm:t>
        <a:bodyPr/>
        <a:lstStyle/>
        <a:p>
          <a:endParaRPr lang="fr-FR"/>
        </a:p>
      </dgm:t>
    </dgm:pt>
    <dgm:pt modelId="{AAC7DCF7-7E1C-4609-949F-31A10EFEF871}" type="sibTrans" cxnId="{5CA05036-913D-4827-8EF8-884AA7073196}">
      <dgm:prSet/>
      <dgm:spPr/>
      <dgm:t>
        <a:bodyPr/>
        <a:lstStyle/>
        <a:p>
          <a:endParaRPr lang="fr-FR"/>
        </a:p>
      </dgm:t>
    </dgm:pt>
    <dgm:pt modelId="{58E938A7-3E41-4BA0-9202-B123DBC3F10C}">
      <dgm:prSet custT="1"/>
      <dgm:spPr>
        <a:solidFill>
          <a:srgbClr val="3D64A9">
            <a:alpha val="85000"/>
          </a:srgbClr>
        </a:solidFill>
      </dgm:spPr>
      <dgm:t>
        <a:bodyPr/>
        <a:lstStyle/>
        <a:p>
          <a:r>
            <a:rPr lang="fr-FR" sz="2000" dirty="0" err="1"/>
            <a:t>Roles</a:t>
          </a:r>
          <a:endParaRPr lang="fr-FR" sz="2000" dirty="0"/>
        </a:p>
      </dgm:t>
    </dgm:pt>
    <dgm:pt modelId="{6967E10A-C991-4A6D-9B4B-D2506F5E3DDA}" type="parTrans" cxnId="{8AB1D834-607B-4B22-8E8E-67E1F47D0EE4}">
      <dgm:prSet/>
      <dgm:spPr/>
      <dgm:t>
        <a:bodyPr/>
        <a:lstStyle/>
        <a:p>
          <a:endParaRPr lang="fr-FR"/>
        </a:p>
      </dgm:t>
    </dgm:pt>
    <dgm:pt modelId="{77E4D383-A8DB-45FE-A314-DFFD01583B71}" type="sibTrans" cxnId="{8AB1D834-607B-4B22-8E8E-67E1F47D0EE4}">
      <dgm:prSet/>
      <dgm:spPr/>
      <dgm:t>
        <a:bodyPr/>
        <a:lstStyle/>
        <a:p>
          <a:endParaRPr lang="fr-FR"/>
        </a:p>
      </dgm:t>
    </dgm:pt>
    <dgm:pt modelId="{5E502095-1DA3-4CAA-9D04-E9FDB3CA9507}">
      <dgm:prSet custT="1"/>
      <dgm:spPr>
        <a:ln>
          <a:solidFill>
            <a:srgbClr val="3D64A9">
              <a:alpha val="20000"/>
            </a:srgbClr>
          </a:solidFill>
        </a:ln>
      </dgm:spPr>
      <dgm:t>
        <a:bodyPr/>
        <a:lstStyle/>
        <a:p>
          <a:r>
            <a:rPr lang="fr-FR" sz="1800" dirty="0">
              <a:solidFill>
                <a:srgbClr val="3D64A9"/>
              </a:solidFill>
            </a:rPr>
            <a:t>Team</a:t>
          </a:r>
        </a:p>
      </dgm:t>
    </dgm:pt>
    <dgm:pt modelId="{A320D70B-8333-4225-9FF3-225EEF95574E}" type="parTrans" cxnId="{04593438-40AF-4D6C-99EE-529C625E530C}">
      <dgm:prSet/>
      <dgm:spPr>
        <a:ln>
          <a:solidFill>
            <a:srgbClr val="3D64A9">
              <a:alpha val="20000"/>
            </a:srgbClr>
          </a:solidFill>
        </a:ln>
      </dgm:spPr>
      <dgm:t>
        <a:bodyPr/>
        <a:lstStyle/>
        <a:p>
          <a:endParaRPr lang="fr-FR"/>
        </a:p>
      </dgm:t>
    </dgm:pt>
    <dgm:pt modelId="{EE266A85-247E-4711-8B9F-50DF2BC465C6}" type="sibTrans" cxnId="{04593438-40AF-4D6C-99EE-529C625E530C}">
      <dgm:prSet/>
      <dgm:spPr/>
      <dgm:t>
        <a:bodyPr/>
        <a:lstStyle/>
        <a:p>
          <a:endParaRPr lang="fr-FR"/>
        </a:p>
      </dgm:t>
    </dgm:pt>
    <dgm:pt modelId="{09B5D27A-FEF2-483C-A1D0-DBDC7F51323C}">
      <dgm:prSet custT="1"/>
      <dgm:spPr>
        <a:ln>
          <a:solidFill>
            <a:srgbClr val="3D64A9">
              <a:alpha val="20000"/>
            </a:srgbClr>
          </a:solidFill>
        </a:ln>
      </dgm:spPr>
      <dgm:t>
        <a:bodyPr/>
        <a:lstStyle/>
        <a:p>
          <a:r>
            <a:rPr lang="fr-FR" sz="1800" dirty="0">
              <a:solidFill>
                <a:srgbClr val="3D64A9"/>
              </a:solidFill>
            </a:rPr>
            <a:t>Scrum</a:t>
          </a:r>
        </a:p>
        <a:p>
          <a:r>
            <a:rPr lang="fr-FR" sz="1800" dirty="0">
              <a:solidFill>
                <a:srgbClr val="3D64A9"/>
              </a:solidFill>
            </a:rPr>
            <a:t>Master</a:t>
          </a:r>
        </a:p>
      </dgm:t>
    </dgm:pt>
    <dgm:pt modelId="{5A9EFD6E-5463-4845-A189-463673AE81D8}" type="parTrans" cxnId="{693CA650-5ADB-4927-B8BB-1AB0DBFE296B}">
      <dgm:prSet/>
      <dgm:spPr>
        <a:ln>
          <a:solidFill>
            <a:srgbClr val="3D64A9">
              <a:alpha val="20000"/>
            </a:srgbClr>
          </a:solidFill>
        </a:ln>
      </dgm:spPr>
      <dgm:t>
        <a:bodyPr/>
        <a:lstStyle/>
        <a:p>
          <a:endParaRPr lang="fr-FR"/>
        </a:p>
      </dgm:t>
    </dgm:pt>
    <dgm:pt modelId="{EAEFDA39-C3F8-4252-934E-9DA6815F5047}" type="sibTrans" cxnId="{693CA650-5ADB-4927-B8BB-1AB0DBFE296B}">
      <dgm:prSet/>
      <dgm:spPr/>
      <dgm:t>
        <a:bodyPr/>
        <a:lstStyle/>
        <a:p>
          <a:endParaRPr lang="fr-FR"/>
        </a:p>
      </dgm:t>
    </dgm:pt>
    <dgm:pt modelId="{EE68DB96-B3C6-48A5-883B-787BA1DE86E7}">
      <dgm:prSet custT="1"/>
      <dgm:spPr>
        <a:ln>
          <a:solidFill>
            <a:srgbClr val="3D64A9">
              <a:alpha val="20000"/>
            </a:srgbClr>
          </a:solidFill>
        </a:ln>
      </dgm:spPr>
      <dgm:t>
        <a:bodyPr/>
        <a:lstStyle/>
        <a:p>
          <a:r>
            <a:rPr lang="fr-FR" sz="1800" dirty="0">
              <a:solidFill>
                <a:srgbClr val="3D64A9"/>
              </a:solidFill>
            </a:rPr>
            <a:t>Sprint</a:t>
          </a:r>
        </a:p>
        <a:p>
          <a:r>
            <a:rPr lang="fr-FR" sz="1800" dirty="0" err="1">
              <a:solidFill>
                <a:srgbClr val="3D64A9"/>
              </a:solidFill>
            </a:rPr>
            <a:t>review</a:t>
          </a:r>
          <a:endParaRPr lang="fr-FR" sz="1800" dirty="0">
            <a:solidFill>
              <a:srgbClr val="3D64A9"/>
            </a:solidFill>
          </a:endParaRPr>
        </a:p>
      </dgm:t>
    </dgm:pt>
    <dgm:pt modelId="{54B62F8E-8991-423F-BEA3-36690CF2FB22}" type="parTrans" cxnId="{893D3B87-7CF9-46F9-B250-C89538273705}">
      <dgm:prSet/>
      <dgm:spPr>
        <a:ln>
          <a:solidFill>
            <a:srgbClr val="3D64A9">
              <a:alpha val="20000"/>
            </a:srgbClr>
          </a:solidFill>
        </a:ln>
      </dgm:spPr>
      <dgm:t>
        <a:bodyPr/>
        <a:lstStyle/>
        <a:p>
          <a:endParaRPr lang="fr-FR"/>
        </a:p>
      </dgm:t>
    </dgm:pt>
    <dgm:pt modelId="{C712719E-2C5F-4D91-A0E2-1A7D81BF535F}" type="sibTrans" cxnId="{893D3B87-7CF9-46F9-B250-C89538273705}">
      <dgm:prSet/>
      <dgm:spPr/>
      <dgm:t>
        <a:bodyPr/>
        <a:lstStyle/>
        <a:p>
          <a:endParaRPr lang="fr-FR"/>
        </a:p>
      </dgm:t>
    </dgm:pt>
    <dgm:pt modelId="{159588D4-5E8C-4AC3-9975-FA8696CED845}">
      <dgm:prSet custT="1"/>
      <dgm:spPr>
        <a:ln>
          <a:solidFill>
            <a:srgbClr val="3D64A9">
              <a:alpha val="20000"/>
            </a:srgbClr>
          </a:solidFill>
        </a:ln>
      </dgm:spPr>
      <dgm:t>
        <a:bodyPr/>
        <a:lstStyle/>
        <a:p>
          <a:r>
            <a:rPr lang="fr-FR" sz="1800" dirty="0">
              <a:solidFill>
                <a:srgbClr val="3D64A9"/>
              </a:solidFill>
            </a:rPr>
            <a:t>Sprint</a:t>
          </a:r>
        </a:p>
        <a:p>
          <a:r>
            <a:rPr lang="fr-FR" sz="1800" dirty="0" err="1">
              <a:solidFill>
                <a:srgbClr val="3D64A9"/>
              </a:solidFill>
            </a:rPr>
            <a:t>retrospective</a:t>
          </a:r>
          <a:endParaRPr lang="fr-FR" sz="1800" dirty="0">
            <a:solidFill>
              <a:srgbClr val="3D64A9"/>
            </a:solidFill>
          </a:endParaRPr>
        </a:p>
      </dgm:t>
    </dgm:pt>
    <dgm:pt modelId="{C4F8F0DF-F667-4C65-9228-86003301585D}" type="parTrans" cxnId="{6EC3C2A5-CF02-46A7-8729-5F687BC794B6}">
      <dgm:prSet/>
      <dgm:spPr>
        <a:ln>
          <a:solidFill>
            <a:srgbClr val="3D64A9">
              <a:alpha val="20000"/>
            </a:srgbClr>
          </a:solidFill>
        </a:ln>
      </dgm:spPr>
      <dgm:t>
        <a:bodyPr/>
        <a:lstStyle/>
        <a:p>
          <a:endParaRPr lang="fr-FR"/>
        </a:p>
      </dgm:t>
    </dgm:pt>
    <dgm:pt modelId="{D30741EC-BE8A-477E-81F3-261F067546C9}" type="sibTrans" cxnId="{6EC3C2A5-CF02-46A7-8729-5F687BC794B6}">
      <dgm:prSet/>
      <dgm:spPr/>
      <dgm:t>
        <a:bodyPr/>
        <a:lstStyle/>
        <a:p>
          <a:endParaRPr lang="fr-FR"/>
        </a:p>
      </dgm:t>
    </dgm:pt>
    <dgm:pt modelId="{A37C43D3-FB44-43E3-A62E-37FC5526E75C}">
      <dgm:prSet custT="1"/>
      <dgm:spPr/>
      <dgm:t>
        <a:bodyPr/>
        <a:lstStyle/>
        <a:p>
          <a:r>
            <a:rPr lang="fr-FR" sz="1800" dirty="0">
              <a:solidFill>
                <a:srgbClr val="3D64A9"/>
              </a:solidFill>
            </a:rPr>
            <a:t>Sprint</a:t>
          </a:r>
        </a:p>
      </dgm:t>
    </dgm:pt>
    <dgm:pt modelId="{146FEEDC-553D-43B1-901A-E5CEA7680714}" type="parTrans" cxnId="{DD86B45C-2664-4F2E-A99E-0E780AB50DDB}">
      <dgm:prSet/>
      <dgm:spPr/>
      <dgm:t>
        <a:bodyPr/>
        <a:lstStyle/>
        <a:p>
          <a:endParaRPr lang="fr-FR"/>
        </a:p>
      </dgm:t>
    </dgm:pt>
    <dgm:pt modelId="{B5549207-297F-47A6-8D50-628BD92716FC}" type="sibTrans" cxnId="{DD86B45C-2664-4F2E-A99E-0E780AB50DDB}">
      <dgm:prSet/>
      <dgm:spPr/>
      <dgm:t>
        <a:bodyPr/>
        <a:lstStyle/>
        <a:p>
          <a:endParaRPr lang="fr-FR"/>
        </a:p>
      </dgm:t>
    </dgm:pt>
    <dgm:pt modelId="{43C8E8BF-D5DD-4C20-8E48-B7B3F23AC6BB}">
      <dgm:prSet custT="1"/>
      <dgm:spPr/>
      <dgm:t>
        <a:bodyPr/>
        <a:lstStyle/>
        <a:p>
          <a:r>
            <a:rPr lang="fr-FR" sz="1800" dirty="0">
              <a:solidFill>
                <a:srgbClr val="3D64A9"/>
              </a:solidFill>
            </a:rPr>
            <a:t>Vision</a:t>
          </a:r>
        </a:p>
      </dgm:t>
    </dgm:pt>
    <dgm:pt modelId="{8A1103FA-FAC0-4D58-ADE7-83AD148355DC}" type="parTrans" cxnId="{CA9F71AC-F1A9-457B-8E12-6BF0D475DEEC}">
      <dgm:prSet/>
      <dgm:spPr/>
      <dgm:t>
        <a:bodyPr/>
        <a:lstStyle/>
        <a:p>
          <a:endParaRPr lang="fr-FR"/>
        </a:p>
      </dgm:t>
    </dgm:pt>
    <dgm:pt modelId="{87EDFB59-FD05-4C61-8D6D-22D44AF267F1}" type="sibTrans" cxnId="{CA9F71AC-F1A9-457B-8E12-6BF0D475DEEC}">
      <dgm:prSet/>
      <dgm:spPr/>
      <dgm:t>
        <a:bodyPr/>
        <a:lstStyle/>
        <a:p>
          <a:endParaRPr lang="fr-FR"/>
        </a:p>
      </dgm:t>
    </dgm:pt>
    <dgm:pt modelId="{E3009A22-9DCF-4649-AA89-F50E09A30170}">
      <dgm:prSet custT="1"/>
      <dgm:spPr/>
      <dgm:t>
        <a:bodyPr/>
        <a:lstStyle/>
        <a:p>
          <a:r>
            <a:rPr lang="fr-FR" sz="1800" dirty="0" err="1">
              <a:solidFill>
                <a:srgbClr val="3D64A9"/>
              </a:solidFill>
            </a:rPr>
            <a:t>Increment</a:t>
          </a:r>
          <a:endParaRPr lang="fr-FR" sz="1800" dirty="0">
            <a:solidFill>
              <a:srgbClr val="3D64A9"/>
            </a:solidFill>
          </a:endParaRPr>
        </a:p>
      </dgm:t>
    </dgm:pt>
    <dgm:pt modelId="{52F6958E-988C-4F98-BB98-79BCF0BBF6C9}" type="parTrans" cxnId="{78643E83-45EA-434B-9F2D-FF99A1F6B876}">
      <dgm:prSet/>
      <dgm:spPr/>
      <dgm:t>
        <a:bodyPr/>
        <a:lstStyle/>
        <a:p>
          <a:endParaRPr lang="fr-FR"/>
        </a:p>
      </dgm:t>
    </dgm:pt>
    <dgm:pt modelId="{097B8D08-010D-4EB0-89D6-CA217C230856}" type="sibTrans" cxnId="{78643E83-45EA-434B-9F2D-FF99A1F6B876}">
      <dgm:prSet/>
      <dgm:spPr/>
      <dgm:t>
        <a:bodyPr/>
        <a:lstStyle/>
        <a:p>
          <a:endParaRPr lang="fr-FR"/>
        </a:p>
      </dgm:t>
    </dgm:pt>
    <dgm:pt modelId="{19F9A420-92B9-4C55-8CF0-1AE210922E58}" type="pres">
      <dgm:prSet presAssocID="{0ED82040-FE3E-4072-9A68-4FA7EAD8FF64}" presName="diagram" presStyleCnt="0">
        <dgm:presLayoutVars>
          <dgm:chPref val="1"/>
          <dgm:dir/>
          <dgm:animOne val="branch"/>
          <dgm:animLvl val="lvl"/>
          <dgm:resizeHandles/>
        </dgm:presLayoutVars>
      </dgm:prSet>
      <dgm:spPr/>
    </dgm:pt>
    <dgm:pt modelId="{AC402FB9-32DB-4311-8805-F8AA991D4AF4}" type="pres">
      <dgm:prSet presAssocID="{F77B2080-2353-4633-8FA0-8BF63E605477}" presName="root" presStyleCnt="0"/>
      <dgm:spPr/>
    </dgm:pt>
    <dgm:pt modelId="{FE4C52DF-2318-431B-A428-A1B5BFC4A38B}" type="pres">
      <dgm:prSet presAssocID="{F77B2080-2353-4633-8FA0-8BF63E605477}" presName="rootComposite" presStyleCnt="0"/>
      <dgm:spPr/>
    </dgm:pt>
    <dgm:pt modelId="{9B143E4A-BFDB-4C33-A46F-5896BDC3737C}" type="pres">
      <dgm:prSet presAssocID="{F77B2080-2353-4633-8FA0-8BF63E605477}" presName="rootText" presStyleLbl="node1" presStyleIdx="0" presStyleCnt="4" custLinFactNeighborX="-128" custLinFactNeighborY="-6197"/>
      <dgm:spPr/>
    </dgm:pt>
    <dgm:pt modelId="{58DED302-EEEB-4049-B294-94130965FE37}" type="pres">
      <dgm:prSet presAssocID="{F77B2080-2353-4633-8FA0-8BF63E605477}" presName="rootConnector" presStyleLbl="node1" presStyleIdx="0" presStyleCnt="4"/>
      <dgm:spPr/>
    </dgm:pt>
    <dgm:pt modelId="{32C4A5DE-CC68-48E3-A414-ACE2B83D8D97}" type="pres">
      <dgm:prSet presAssocID="{F77B2080-2353-4633-8FA0-8BF63E605477}" presName="childShape" presStyleCnt="0"/>
      <dgm:spPr/>
    </dgm:pt>
    <dgm:pt modelId="{95D9A8AE-2705-40D2-A80F-0E8DCAE8C128}" type="pres">
      <dgm:prSet presAssocID="{58E938A7-3E41-4BA0-9202-B123DBC3F10C}" presName="root" presStyleCnt="0"/>
      <dgm:spPr/>
    </dgm:pt>
    <dgm:pt modelId="{FE40611F-3995-4636-AD9E-B0283EAF8997}" type="pres">
      <dgm:prSet presAssocID="{58E938A7-3E41-4BA0-9202-B123DBC3F10C}" presName="rootComposite" presStyleCnt="0"/>
      <dgm:spPr/>
    </dgm:pt>
    <dgm:pt modelId="{BFABA44F-496E-4800-9D24-A0E8B69100B2}" type="pres">
      <dgm:prSet presAssocID="{58E938A7-3E41-4BA0-9202-B123DBC3F10C}" presName="rootText" presStyleLbl="node1" presStyleIdx="1" presStyleCnt="4" custLinFactNeighborY="-6197"/>
      <dgm:spPr/>
    </dgm:pt>
    <dgm:pt modelId="{1EA96813-A3AC-4EDB-9D0F-740DDD727F9B}" type="pres">
      <dgm:prSet presAssocID="{58E938A7-3E41-4BA0-9202-B123DBC3F10C}" presName="rootConnector" presStyleLbl="node1" presStyleIdx="1" presStyleCnt="4"/>
      <dgm:spPr/>
    </dgm:pt>
    <dgm:pt modelId="{C738F663-0870-47BB-B5DE-9A0304B729A0}" type="pres">
      <dgm:prSet presAssocID="{58E938A7-3E41-4BA0-9202-B123DBC3F10C}" presName="childShape" presStyleCnt="0"/>
      <dgm:spPr/>
    </dgm:pt>
    <dgm:pt modelId="{89BFD184-C127-4436-BBA9-9E3518D20E96}" type="pres">
      <dgm:prSet presAssocID="{00BFCB90-8C6C-4CAD-B963-B60895ADD0DD}" presName="Name13" presStyleLbl="parChTrans1D2" presStyleIdx="0" presStyleCnt="12"/>
      <dgm:spPr/>
    </dgm:pt>
    <dgm:pt modelId="{7BB9FCDC-CC15-46B8-A721-EAD825060E04}" type="pres">
      <dgm:prSet presAssocID="{5A4D87FA-C31A-47D2-B438-260FFD6E3806}" presName="childText" presStyleLbl="bgAcc1" presStyleIdx="0" presStyleCnt="12" custScaleX="146633" custScaleY="93924">
        <dgm:presLayoutVars>
          <dgm:bulletEnabled val="1"/>
        </dgm:presLayoutVars>
      </dgm:prSet>
      <dgm:spPr/>
    </dgm:pt>
    <dgm:pt modelId="{F8D81225-97A8-4DEA-8F1A-6482ECF2FC61}" type="pres">
      <dgm:prSet presAssocID="{A320D70B-8333-4225-9FF3-225EEF95574E}" presName="Name13" presStyleLbl="parChTrans1D2" presStyleIdx="1" presStyleCnt="12"/>
      <dgm:spPr/>
    </dgm:pt>
    <dgm:pt modelId="{FCEA41AB-2D89-4BF4-86D7-EF21C8AE5E7D}" type="pres">
      <dgm:prSet presAssocID="{5E502095-1DA3-4CAA-9D04-E9FDB3CA9507}" presName="childText" presStyleLbl="bgAcc1" presStyleIdx="1" presStyleCnt="12" custScaleX="147216" custScaleY="93432" custLinFactNeighborX="171" custLinFactNeighborY="7448">
        <dgm:presLayoutVars>
          <dgm:bulletEnabled val="1"/>
        </dgm:presLayoutVars>
      </dgm:prSet>
      <dgm:spPr/>
    </dgm:pt>
    <dgm:pt modelId="{B511D004-A139-46AA-A2FB-96B1BDFA2CD5}" type="pres">
      <dgm:prSet presAssocID="{5A9EFD6E-5463-4845-A189-463673AE81D8}" presName="Name13" presStyleLbl="parChTrans1D2" presStyleIdx="2" presStyleCnt="12"/>
      <dgm:spPr/>
    </dgm:pt>
    <dgm:pt modelId="{A77333F7-7466-45E0-AEE2-3E36BED68E0A}" type="pres">
      <dgm:prSet presAssocID="{09B5D27A-FEF2-483C-A1D0-DBDC7F51323C}" presName="childText" presStyleLbl="bgAcc1" presStyleIdx="2" presStyleCnt="12" custScaleX="146633" custScaleY="93554">
        <dgm:presLayoutVars>
          <dgm:bulletEnabled val="1"/>
        </dgm:presLayoutVars>
      </dgm:prSet>
      <dgm:spPr/>
    </dgm:pt>
    <dgm:pt modelId="{E0F598F3-3F2A-4C7C-ABF0-13E498524653}" type="pres">
      <dgm:prSet presAssocID="{5BE94CFB-5B50-4495-8F5B-7C8841582C85}" presName="root" presStyleCnt="0"/>
      <dgm:spPr/>
    </dgm:pt>
    <dgm:pt modelId="{ECCAD8EB-7C24-4F8D-AFE5-35A9CB136B47}" type="pres">
      <dgm:prSet presAssocID="{5BE94CFB-5B50-4495-8F5B-7C8841582C85}" presName="rootComposite" presStyleCnt="0"/>
      <dgm:spPr/>
    </dgm:pt>
    <dgm:pt modelId="{7CC5708D-42EC-4622-9CF8-F3A84C6CA157}" type="pres">
      <dgm:prSet presAssocID="{5BE94CFB-5B50-4495-8F5B-7C8841582C85}" presName="rootText" presStyleLbl="node1" presStyleIdx="2" presStyleCnt="4" custLinFactNeighborY="-6197"/>
      <dgm:spPr/>
    </dgm:pt>
    <dgm:pt modelId="{53CAE410-B87C-4CB6-A1CD-2E9C0E19B76A}" type="pres">
      <dgm:prSet presAssocID="{5BE94CFB-5B50-4495-8F5B-7C8841582C85}" presName="rootConnector" presStyleLbl="node1" presStyleIdx="2" presStyleCnt="4"/>
      <dgm:spPr/>
    </dgm:pt>
    <dgm:pt modelId="{E736B488-D075-4FFD-B7CC-530A6A6CF184}" type="pres">
      <dgm:prSet presAssocID="{5BE94CFB-5B50-4495-8F5B-7C8841582C85}" presName="childShape" presStyleCnt="0"/>
      <dgm:spPr/>
    </dgm:pt>
    <dgm:pt modelId="{9D5E06B9-3679-4E14-A51D-7FA983A0A353}" type="pres">
      <dgm:prSet presAssocID="{8A1103FA-FAC0-4D58-ADE7-83AD148355DC}" presName="Name13" presStyleLbl="parChTrans1D2" presStyleIdx="3" presStyleCnt="12"/>
      <dgm:spPr/>
    </dgm:pt>
    <dgm:pt modelId="{C8E59A86-E455-4AA1-A8B4-570F8E0D635A}" type="pres">
      <dgm:prSet presAssocID="{43C8E8BF-D5DD-4C20-8E48-B7B3F23AC6BB}" presName="childText" presStyleLbl="bgAcc1" presStyleIdx="3" presStyleCnt="12" custScaleX="143227" custScaleY="90711">
        <dgm:presLayoutVars>
          <dgm:bulletEnabled val="1"/>
        </dgm:presLayoutVars>
      </dgm:prSet>
      <dgm:spPr/>
    </dgm:pt>
    <dgm:pt modelId="{D7E371EC-8E56-4B2F-8676-6D9E2200A40B}" type="pres">
      <dgm:prSet presAssocID="{CAC48335-37FD-4495-98B3-8A964CFA6CE4}" presName="Name13" presStyleLbl="parChTrans1D2" presStyleIdx="4" presStyleCnt="12"/>
      <dgm:spPr/>
    </dgm:pt>
    <dgm:pt modelId="{E20A1485-D9C6-478E-A8EA-063B24724480}" type="pres">
      <dgm:prSet presAssocID="{CFA5C22D-9B45-4B5A-B268-D73911D16D7B}" presName="childText" presStyleLbl="bgAcc1" presStyleIdx="4" presStyleCnt="12" custScaleX="145671" custScaleY="90701">
        <dgm:presLayoutVars>
          <dgm:bulletEnabled val="1"/>
        </dgm:presLayoutVars>
      </dgm:prSet>
      <dgm:spPr/>
    </dgm:pt>
    <dgm:pt modelId="{6D6EB423-AD3B-437B-B696-1BC7BE491F85}" type="pres">
      <dgm:prSet presAssocID="{3206FFC0-7392-458D-B385-7BF0722B7A45}" presName="Name13" presStyleLbl="parChTrans1D2" presStyleIdx="5" presStyleCnt="12"/>
      <dgm:spPr/>
    </dgm:pt>
    <dgm:pt modelId="{E3F23BBB-DC1D-48E1-A304-75C0C12B73A2}" type="pres">
      <dgm:prSet presAssocID="{20F31AF8-EC19-4B84-9C4A-26AFE7E8AA96}" presName="childText" presStyleLbl="bgAcc1" presStyleIdx="5" presStyleCnt="12" custScaleX="146246" custScaleY="90586">
        <dgm:presLayoutVars>
          <dgm:bulletEnabled val="1"/>
        </dgm:presLayoutVars>
      </dgm:prSet>
      <dgm:spPr/>
    </dgm:pt>
    <dgm:pt modelId="{25419AE4-C220-428E-B648-E2393CB86E3D}" type="pres">
      <dgm:prSet presAssocID="{52F6958E-988C-4F98-BB98-79BCF0BBF6C9}" presName="Name13" presStyleLbl="parChTrans1D2" presStyleIdx="6" presStyleCnt="12"/>
      <dgm:spPr/>
    </dgm:pt>
    <dgm:pt modelId="{7ACDCB2A-CF3A-45E6-968C-9EE003526937}" type="pres">
      <dgm:prSet presAssocID="{E3009A22-9DCF-4649-AA89-F50E09A30170}" presName="childText" presStyleLbl="bgAcc1" presStyleIdx="6" presStyleCnt="12" custScaleX="146211" custScaleY="85936">
        <dgm:presLayoutVars>
          <dgm:bulletEnabled val="1"/>
        </dgm:presLayoutVars>
      </dgm:prSet>
      <dgm:spPr/>
    </dgm:pt>
    <dgm:pt modelId="{3B90EC01-447B-44C4-AD90-04B98822A291}" type="pres">
      <dgm:prSet presAssocID="{88C3F4F3-0FDE-4330-B777-1FF0C4B6D22C}" presName="root" presStyleCnt="0"/>
      <dgm:spPr/>
    </dgm:pt>
    <dgm:pt modelId="{48FC068B-3B26-4E52-B223-FBA4F61FAD57}" type="pres">
      <dgm:prSet presAssocID="{88C3F4F3-0FDE-4330-B777-1FF0C4B6D22C}" presName="rootComposite" presStyleCnt="0"/>
      <dgm:spPr/>
    </dgm:pt>
    <dgm:pt modelId="{5344838D-ACAF-4329-8BD2-E8DC82039B3C}" type="pres">
      <dgm:prSet presAssocID="{88C3F4F3-0FDE-4330-B777-1FF0C4B6D22C}" presName="rootText" presStyleLbl="node1" presStyleIdx="3" presStyleCnt="4" custScaleX="134306" custLinFactNeighborY="-6197"/>
      <dgm:spPr/>
    </dgm:pt>
    <dgm:pt modelId="{68FCD248-111D-41EB-B9AE-06027F3D7015}" type="pres">
      <dgm:prSet presAssocID="{88C3F4F3-0FDE-4330-B777-1FF0C4B6D22C}" presName="rootConnector" presStyleLbl="node1" presStyleIdx="3" presStyleCnt="4"/>
      <dgm:spPr/>
    </dgm:pt>
    <dgm:pt modelId="{350697B4-2ADC-41C9-9E64-D3D4AF30D7AA}" type="pres">
      <dgm:prSet presAssocID="{88C3F4F3-0FDE-4330-B777-1FF0C4B6D22C}" presName="childShape" presStyleCnt="0"/>
      <dgm:spPr/>
    </dgm:pt>
    <dgm:pt modelId="{B46D388C-C438-41B6-90CE-812E1F157899}" type="pres">
      <dgm:prSet presAssocID="{146FEEDC-553D-43B1-901A-E5CEA7680714}" presName="Name13" presStyleLbl="parChTrans1D2" presStyleIdx="7" presStyleCnt="12"/>
      <dgm:spPr/>
    </dgm:pt>
    <dgm:pt modelId="{A366893D-8BB0-42F7-BDF1-C022A34432F8}" type="pres">
      <dgm:prSet presAssocID="{A37C43D3-FB44-43E3-A62E-37FC5526E75C}" presName="childText" presStyleLbl="bgAcc1" presStyleIdx="7" presStyleCnt="12" custScaleX="146136" custScaleY="83174">
        <dgm:presLayoutVars>
          <dgm:bulletEnabled val="1"/>
        </dgm:presLayoutVars>
      </dgm:prSet>
      <dgm:spPr/>
    </dgm:pt>
    <dgm:pt modelId="{D0643DD1-7CEF-4D07-B56B-D9D47D6D3E2D}" type="pres">
      <dgm:prSet presAssocID="{09311E53-529C-4E2B-BDA9-934DB273CA51}" presName="Name13" presStyleLbl="parChTrans1D2" presStyleIdx="8" presStyleCnt="12"/>
      <dgm:spPr/>
    </dgm:pt>
    <dgm:pt modelId="{55BFDFBB-2AA0-44C1-A20E-CEF70380E66D}" type="pres">
      <dgm:prSet presAssocID="{95201731-AE37-4C10-9701-7CB28527FA2D}" presName="childText" presStyleLbl="bgAcc1" presStyleIdx="8" presStyleCnt="12" custScaleX="148001" custScaleY="88235">
        <dgm:presLayoutVars>
          <dgm:bulletEnabled val="1"/>
        </dgm:presLayoutVars>
      </dgm:prSet>
      <dgm:spPr/>
    </dgm:pt>
    <dgm:pt modelId="{8F4898AA-B35A-44BF-A272-659A81DDB9BE}" type="pres">
      <dgm:prSet presAssocID="{18FF4325-6C0E-44A3-A9CF-2551856F2F3C}" presName="Name13" presStyleLbl="parChTrans1D2" presStyleIdx="9" presStyleCnt="12"/>
      <dgm:spPr/>
    </dgm:pt>
    <dgm:pt modelId="{DFA70571-E103-43F3-93BB-AA6E7AEA3025}" type="pres">
      <dgm:prSet presAssocID="{DBC6EC94-8417-472A-9CDD-98AFA5E6485F}" presName="childText" presStyleLbl="bgAcc1" presStyleIdx="9" presStyleCnt="12" custScaleX="148596" custScaleY="88235">
        <dgm:presLayoutVars>
          <dgm:bulletEnabled val="1"/>
        </dgm:presLayoutVars>
      </dgm:prSet>
      <dgm:spPr/>
    </dgm:pt>
    <dgm:pt modelId="{90C540E5-08D1-4D76-928D-27609A3B7D14}" type="pres">
      <dgm:prSet presAssocID="{54B62F8E-8991-423F-BEA3-36690CF2FB22}" presName="Name13" presStyleLbl="parChTrans1D2" presStyleIdx="10" presStyleCnt="12"/>
      <dgm:spPr/>
    </dgm:pt>
    <dgm:pt modelId="{F0A99C6E-BA79-4295-B84F-CB067C16294B}" type="pres">
      <dgm:prSet presAssocID="{EE68DB96-B3C6-48A5-883B-787BA1DE86E7}" presName="childText" presStyleLbl="bgAcc1" presStyleIdx="10" presStyleCnt="12" custScaleX="148795" custScaleY="82044">
        <dgm:presLayoutVars>
          <dgm:bulletEnabled val="1"/>
        </dgm:presLayoutVars>
      </dgm:prSet>
      <dgm:spPr/>
    </dgm:pt>
    <dgm:pt modelId="{D205C6AE-C06B-45FF-BD84-391C35162F44}" type="pres">
      <dgm:prSet presAssocID="{C4F8F0DF-F667-4C65-9228-86003301585D}" presName="Name13" presStyleLbl="parChTrans1D2" presStyleIdx="11" presStyleCnt="12"/>
      <dgm:spPr/>
    </dgm:pt>
    <dgm:pt modelId="{64C6E4E6-B6FE-477B-BD75-2AA93CED11A7}" type="pres">
      <dgm:prSet presAssocID="{159588D4-5E8C-4AC3-9975-FA8696CED845}" presName="childText" presStyleLbl="bgAcc1" presStyleIdx="11" presStyleCnt="12" custScaleX="148795" custScaleY="85706">
        <dgm:presLayoutVars>
          <dgm:bulletEnabled val="1"/>
        </dgm:presLayoutVars>
      </dgm:prSet>
      <dgm:spPr/>
    </dgm:pt>
  </dgm:ptLst>
  <dgm:cxnLst>
    <dgm:cxn modelId="{F1D00604-DFE7-4729-BE44-B80BE244CF31}" type="presOf" srcId="{EE68DB96-B3C6-48A5-883B-787BA1DE86E7}" destId="{F0A99C6E-BA79-4295-B84F-CB067C16294B}" srcOrd="0" destOrd="0" presId="urn:microsoft.com/office/officeart/2005/8/layout/hierarchy3"/>
    <dgm:cxn modelId="{A807BA0E-5E26-453D-8B7F-57527BB35020}" type="presOf" srcId="{CFA5C22D-9B45-4B5A-B268-D73911D16D7B}" destId="{E20A1485-D9C6-478E-A8EA-063B24724480}" srcOrd="0" destOrd="0" presId="urn:microsoft.com/office/officeart/2005/8/layout/hierarchy3"/>
    <dgm:cxn modelId="{02C3CA23-DC28-4870-9D2D-E53E58016C54}" type="presOf" srcId="{52F6958E-988C-4F98-BB98-79BCF0BBF6C9}" destId="{25419AE4-C220-428E-B648-E2393CB86E3D}" srcOrd="0" destOrd="0" presId="urn:microsoft.com/office/officeart/2005/8/layout/hierarchy3"/>
    <dgm:cxn modelId="{CE65ED27-E8A6-445C-B2AE-86697394F04E}" type="presOf" srcId="{18FF4325-6C0E-44A3-A9CF-2551856F2F3C}" destId="{8F4898AA-B35A-44BF-A272-659A81DDB9BE}" srcOrd="0" destOrd="0" presId="urn:microsoft.com/office/officeart/2005/8/layout/hierarchy3"/>
    <dgm:cxn modelId="{76A8E02A-4443-4972-BEDB-2472119E79A3}" type="presOf" srcId="{88C3F4F3-0FDE-4330-B777-1FF0C4B6D22C}" destId="{68FCD248-111D-41EB-B9AE-06027F3D7015}" srcOrd="1" destOrd="0" presId="urn:microsoft.com/office/officeart/2005/8/layout/hierarchy3"/>
    <dgm:cxn modelId="{063F502B-9E14-40AE-8C0F-556F7337290D}" type="presOf" srcId="{DBC6EC94-8417-472A-9CDD-98AFA5E6485F}" destId="{DFA70571-E103-43F3-93BB-AA6E7AEA3025}" srcOrd="0" destOrd="0" presId="urn:microsoft.com/office/officeart/2005/8/layout/hierarchy3"/>
    <dgm:cxn modelId="{8AB1D834-607B-4B22-8E8E-67E1F47D0EE4}" srcId="{0ED82040-FE3E-4072-9A68-4FA7EAD8FF64}" destId="{58E938A7-3E41-4BA0-9202-B123DBC3F10C}" srcOrd="1" destOrd="0" parTransId="{6967E10A-C991-4A6D-9B4B-D2506F5E3DDA}" sibTransId="{77E4D383-A8DB-45FE-A314-DFFD01583B71}"/>
    <dgm:cxn modelId="{5CA05036-913D-4827-8EF8-884AA7073196}" srcId="{58E938A7-3E41-4BA0-9202-B123DBC3F10C}" destId="{5A4D87FA-C31A-47D2-B438-260FFD6E3806}" srcOrd="0" destOrd="0" parTransId="{00BFCB90-8C6C-4CAD-B963-B60895ADD0DD}" sibTransId="{AAC7DCF7-7E1C-4609-949F-31A10EFEF871}"/>
    <dgm:cxn modelId="{BB468636-885E-4A1C-A811-40D41FC50F2C}" type="presOf" srcId="{09B5D27A-FEF2-483C-A1D0-DBDC7F51323C}" destId="{A77333F7-7466-45E0-AEE2-3E36BED68E0A}" srcOrd="0" destOrd="0" presId="urn:microsoft.com/office/officeart/2005/8/layout/hierarchy3"/>
    <dgm:cxn modelId="{04593438-40AF-4D6C-99EE-529C625E530C}" srcId="{58E938A7-3E41-4BA0-9202-B123DBC3F10C}" destId="{5E502095-1DA3-4CAA-9D04-E9FDB3CA9507}" srcOrd="1" destOrd="0" parTransId="{A320D70B-8333-4225-9FF3-225EEF95574E}" sibTransId="{EE266A85-247E-4711-8B9F-50DF2BC465C6}"/>
    <dgm:cxn modelId="{D47B4039-BBA5-4A80-989D-257F620FE9A8}" type="presOf" srcId="{E3009A22-9DCF-4649-AA89-F50E09A30170}" destId="{7ACDCB2A-CF3A-45E6-968C-9EE003526937}" srcOrd="0" destOrd="0" presId="urn:microsoft.com/office/officeart/2005/8/layout/hierarchy3"/>
    <dgm:cxn modelId="{75E9643C-BEFB-4E80-9103-EEB9E4ED0D31}" type="presOf" srcId="{3206FFC0-7392-458D-B385-7BF0722B7A45}" destId="{6D6EB423-AD3B-437B-B696-1BC7BE491F85}" srcOrd="0" destOrd="0" presId="urn:microsoft.com/office/officeart/2005/8/layout/hierarchy3"/>
    <dgm:cxn modelId="{DD86B45C-2664-4F2E-A99E-0E780AB50DDB}" srcId="{88C3F4F3-0FDE-4330-B777-1FF0C4B6D22C}" destId="{A37C43D3-FB44-43E3-A62E-37FC5526E75C}" srcOrd="0" destOrd="0" parTransId="{146FEEDC-553D-43B1-901A-E5CEA7680714}" sibTransId="{B5549207-297F-47A6-8D50-628BD92716FC}"/>
    <dgm:cxn modelId="{7A8C3B41-2A3E-41C0-A4D0-27F2160F3562}" srcId="{0ED82040-FE3E-4072-9A68-4FA7EAD8FF64}" destId="{F77B2080-2353-4633-8FA0-8BF63E605477}" srcOrd="0" destOrd="0" parTransId="{FD17807A-D1AE-403B-A4D9-4FCB321D72E1}" sibTransId="{649485D4-047A-4401-82B3-6710C320707E}"/>
    <dgm:cxn modelId="{86857564-D652-48F5-A363-29D83B6E3FE8}" type="presOf" srcId="{20F31AF8-EC19-4B84-9C4A-26AFE7E8AA96}" destId="{E3F23BBB-DC1D-48E1-A304-75C0C12B73A2}" srcOrd="0" destOrd="0" presId="urn:microsoft.com/office/officeart/2005/8/layout/hierarchy3"/>
    <dgm:cxn modelId="{FE80CE44-A389-49D7-82E8-84563F905FBC}" type="presOf" srcId="{95201731-AE37-4C10-9701-7CB28527FA2D}" destId="{55BFDFBB-2AA0-44C1-A20E-CEF70380E66D}" srcOrd="0" destOrd="0" presId="urn:microsoft.com/office/officeart/2005/8/layout/hierarchy3"/>
    <dgm:cxn modelId="{14733C47-EBBC-4C27-AB5E-C9549BD354C8}" type="presOf" srcId="{43C8E8BF-D5DD-4C20-8E48-B7B3F23AC6BB}" destId="{C8E59A86-E455-4AA1-A8B4-570F8E0D635A}" srcOrd="0" destOrd="0" presId="urn:microsoft.com/office/officeart/2005/8/layout/hierarchy3"/>
    <dgm:cxn modelId="{97925F68-6BC1-4809-A1ED-98B9FF71E70A}" type="presOf" srcId="{0ED82040-FE3E-4072-9A68-4FA7EAD8FF64}" destId="{19F9A420-92B9-4C55-8CF0-1AE210922E58}" srcOrd="0" destOrd="0" presId="urn:microsoft.com/office/officeart/2005/8/layout/hierarchy3"/>
    <dgm:cxn modelId="{3D5DC16E-13BC-4AFE-AB2E-2D56465CD607}" srcId="{5BE94CFB-5B50-4495-8F5B-7C8841582C85}" destId="{20F31AF8-EC19-4B84-9C4A-26AFE7E8AA96}" srcOrd="2" destOrd="0" parTransId="{3206FFC0-7392-458D-B385-7BF0722B7A45}" sibTransId="{66638682-43C1-4A04-BEE1-5977DB825A3C}"/>
    <dgm:cxn modelId="{693CA650-5ADB-4927-B8BB-1AB0DBFE296B}" srcId="{58E938A7-3E41-4BA0-9202-B123DBC3F10C}" destId="{09B5D27A-FEF2-483C-A1D0-DBDC7F51323C}" srcOrd="2" destOrd="0" parTransId="{5A9EFD6E-5463-4845-A189-463673AE81D8}" sibTransId="{EAEFDA39-C3F8-4252-934E-9DA6815F5047}"/>
    <dgm:cxn modelId="{268B8D77-76BA-4796-96F6-B8FF6EEB12E1}" type="presOf" srcId="{146FEEDC-553D-43B1-901A-E5CEA7680714}" destId="{B46D388C-C438-41B6-90CE-812E1F157899}" srcOrd="0" destOrd="0" presId="urn:microsoft.com/office/officeart/2005/8/layout/hierarchy3"/>
    <dgm:cxn modelId="{E73FDA7A-C7C4-4B47-9AB6-57E2AE0E1FC5}" type="presOf" srcId="{5BE94CFB-5B50-4495-8F5B-7C8841582C85}" destId="{53CAE410-B87C-4CB6-A1CD-2E9C0E19B76A}" srcOrd="1" destOrd="0" presId="urn:microsoft.com/office/officeart/2005/8/layout/hierarchy3"/>
    <dgm:cxn modelId="{3D12837E-92C8-45C7-B227-6AE5E3D4B33D}" type="presOf" srcId="{8A1103FA-FAC0-4D58-ADE7-83AD148355DC}" destId="{9D5E06B9-3679-4E14-A51D-7FA983A0A353}" srcOrd="0" destOrd="0" presId="urn:microsoft.com/office/officeart/2005/8/layout/hierarchy3"/>
    <dgm:cxn modelId="{C3D54681-60C9-4D8C-90FF-FAA9A5384A3C}" type="presOf" srcId="{58E938A7-3E41-4BA0-9202-B123DBC3F10C}" destId="{1EA96813-A3AC-4EDB-9D0F-740DDD727F9B}" srcOrd="1" destOrd="0" presId="urn:microsoft.com/office/officeart/2005/8/layout/hierarchy3"/>
    <dgm:cxn modelId="{DBF86881-5833-49B6-8AA2-C45DF0E4A4BD}" type="presOf" srcId="{A320D70B-8333-4225-9FF3-225EEF95574E}" destId="{F8D81225-97A8-4DEA-8F1A-6482ECF2FC61}" srcOrd="0" destOrd="0" presId="urn:microsoft.com/office/officeart/2005/8/layout/hierarchy3"/>
    <dgm:cxn modelId="{78643E83-45EA-434B-9F2D-FF99A1F6B876}" srcId="{5BE94CFB-5B50-4495-8F5B-7C8841582C85}" destId="{E3009A22-9DCF-4649-AA89-F50E09A30170}" srcOrd="3" destOrd="0" parTransId="{52F6958E-988C-4F98-BB98-79BCF0BBF6C9}" sibTransId="{097B8D08-010D-4EB0-89D6-CA217C230856}"/>
    <dgm:cxn modelId="{893D3B87-7CF9-46F9-B250-C89538273705}" srcId="{88C3F4F3-0FDE-4330-B777-1FF0C4B6D22C}" destId="{EE68DB96-B3C6-48A5-883B-787BA1DE86E7}" srcOrd="3" destOrd="0" parTransId="{54B62F8E-8991-423F-BEA3-36690CF2FB22}" sibTransId="{C712719E-2C5F-4D91-A0E2-1A7D81BF535F}"/>
    <dgm:cxn modelId="{79589087-7253-4806-9127-FAEF3E7E8CB5}" type="presOf" srcId="{5A4D87FA-C31A-47D2-B438-260FFD6E3806}" destId="{7BB9FCDC-CC15-46B8-A721-EAD825060E04}" srcOrd="0" destOrd="0" presId="urn:microsoft.com/office/officeart/2005/8/layout/hierarchy3"/>
    <dgm:cxn modelId="{A5AB588E-3206-42C1-8EAF-6945E95EE164}" type="presOf" srcId="{A37C43D3-FB44-43E3-A62E-37FC5526E75C}" destId="{A366893D-8BB0-42F7-BDF1-C022A34432F8}" srcOrd="0" destOrd="0" presId="urn:microsoft.com/office/officeart/2005/8/layout/hierarchy3"/>
    <dgm:cxn modelId="{D244F090-2359-4CAB-A7E7-AFE4A18EF8B9}" srcId="{0ED82040-FE3E-4072-9A68-4FA7EAD8FF64}" destId="{5BE94CFB-5B50-4495-8F5B-7C8841582C85}" srcOrd="2" destOrd="0" parTransId="{D1270A94-4CE0-4989-8278-2D23002279F1}" sibTransId="{0192FE21-96BC-43BF-AA39-064672CBEF71}"/>
    <dgm:cxn modelId="{40C41F91-F051-41E8-9F33-9C644E535D04}" srcId="{88C3F4F3-0FDE-4330-B777-1FF0C4B6D22C}" destId="{95201731-AE37-4C10-9701-7CB28527FA2D}" srcOrd="1" destOrd="0" parTransId="{09311E53-529C-4E2B-BDA9-934DB273CA51}" sibTransId="{540A73B7-B093-43A0-A256-947545A06120}"/>
    <dgm:cxn modelId="{51539998-3F00-4C6F-B20A-A2C28D64C079}" type="presOf" srcId="{F77B2080-2353-4633-8FA0-8BF63E605477}" destId="{9B143E4A-BFDB-4C33-A46F-5896BDC3737C}" srcOrd="0" destOrd="0" presId="urn:microsoft.com/office/officeart/2005/8/layout/hierarchy3"/>
    <dgm:cxn modelId="{EAE0839D-C559-4FB1-9687-36B23BF633A8}" type="presOf" srcId="{54B62F8E-8991-423F-BEA3-36690CF2FB22}" destId="{90C540E5-08D1-4D76-928D-27609A3B7D14}" srcOrd="0" destOrd="0" presId="urn:microsoft.com/office/officeart/2005/8/layout/hierarchy3"/>
    <dgm:cxn modelId="{9F74D4A2-3FD1-40D7-A050-4B8677B9A232}" type="presOf" srcId="{F77B2080-2353-4633-8FA0-8BF63E605477}" destId="{58DED302-EEEB-4049-B294-94130965FE37}" srcOrd="1" destOrd="0" presId="urn:microsoft.com/office/officeart/2005/8/layout/hierarchy3"/>
    <dgm:cxn modelId="{6EC3C2A5-CF02-46A7-8729-5F687BC794B6}" srcId="{88C3F4F3-0FDE-4330-B777-1FF0C4B6D22C}" destId="{159588D4-5E8C-4AC3-9975-FA8696CED845}" srcOrd="4" destOrd="0" parTransId="{C4F8F0DF-F667-4C65-9228-86003301585D}" sibTransId="{D30741EC-BE8A-477E-81F3-261F067546C9}"/>
    <dgm:cxn modelId="{DB1295A6-3A57-4FD5-9ECD-4BD8F520256F}" type="presOf" srcId="{00BFCB90-8C6C-4CAD-B963-B60895ADD0DD}" destId="{89BFD184-C127-4436-BBA9-9E3518D20E96}" srcOrd="0" destOrd="0" presId="urn:microsoft.com/office/officeart/2005/8/layout/hierarchy3"/>
    <dgm:cxn modelId="{B7D095A6-46A3-4BB8-AEF4-E5215E43D91E}" type="presOf" srcId="{5BE94CFB-5B50-4495-8F5B-7C8841582C85}" destId="{7CC5708D-42EC-4622-9CF8-F3A84C6CA157}" srcOrd="0" destOrd="0" presId="urn:microsoft.com/office/officeart/2005/8/layout/hierarchy3"/>
    <dgm:cxn modelId="{CA9F71AC-F1A9-457B-8E12-6BF0D475DEEC}" srcId="{5BE94CFB-5B50-4495-8F5B-7C8841582C85}" destId="{43C8E8BF-D5DD-4C20-8E48-B7B3F23AC6BB}" srcOrd="0" destOrd="0" parTransId="{8A1103FA-FAC0-4D58-ADE7-83AD148355DC}" sibTransId="{87EDFB59-FD05-4C61-8D6D-22D44AF267F1}"/>
    <dgm:cxn modelId="{4400AFB8-CF35-45FB-835A-6CD739D3F7D5}" type="presOf" srcId="{09311E53-529C-4E2B-BDA9-934DB273CA51}" destId="{D0643DD1-7CEF-4D07-B56B-D9D47D6D3E2D}" srcOrd="0" destOrd="0" presId="urn:microsoft.com/office/officeart/2005/8/layout/hierarchy3"/>
    <dgm:cxn modelId="{8FD761BD-0766-4830-8615-D475E780EF16}" srcId="{5BE94CFB-5B50-4495-8F5B-7C8841582C85}" destId="{CFA5C22D-9B45-4B5A-B268-D73911D16D7B}" srcOrd="1" destOrd="0" parTransId="{CAC48335-37FD-4495-98B3-8A964CFA6CE4}" sibTransId="{CFFC9677-6D47-4E86-ACF5-027B40B7C695}"/>
    <dgm:cxn modelId="{65AFDCBF-0DB2-481A-9278-E87BE7BFF505}" type="presOf" srcId="{88C3F4F3-0FDE-4330-B777-1FF0C4B6D22C}" destId="{5344838D-ACAF-4329-8BD2-E8DC82039B3C}" srcOrd="0" destOrd="0" presId="urn:microsoft.com/office/officeart/2005/8/layout/hierarchy3"/>
    <dgm:cxn modelId="{5C7065CA-65B1-40F9-A2D2-5F892ADED3D1}" type="presOf" srcId="{5A9EFD6E-5463-4845-A189-463673AE81D8}" destId="{B511D004-A139-46AA-A2FB-96B1BDFA2CD5}" srcOrd="0" destOrd="0" presId="urn:microsoft.com/office/officeart/2005/8/layout/hierarchy3"/>
    <dgm:cxn modelId="{77BB9AD3-C18E-4787-9507-9042F7C93A1F}" type="presOf" srcId="{5E502095-1DA3-4CAA-9D04-E9FDB3CA9507}" destId="{FCEA41AB-2D89-4BF4-86D7-EF21C8AE5E7D}" srcOrd="0" destOrd="0" presId="urn:microsoft.com/office/officeart/2005/8/layout/hierarchy3"/>
    <dgm:cxn modelId="{067A78D4-AE0C-429B-B8F1-057FF3B3B69A}" srcId="{88C3F4F3-0FDE-4330-B777-1FF0C4B6D22C}" destId="{DBC6EC94-8417-472A-9CDD-98AFA5E6485F}" srcOrd="2" destOrd="0" parTransId="{18FF4325-6C0E-44A3-A9CF-2551856F2F3C}" sibTransId="{66147B14-0CB2-43CB-B2AA-6ED452C50C95}"/>
    <dgm:cxn modelId="{A65B0ED7-557A-4C28-9696-E5B394F63D96}" type="presOf" srcId="{58E938A7-3E41-4BA0-9202-B123DBC3F10C}" destId="{BFABA44F-496E-4800-9D24-A0E8B69100B2}" srcOrd="0" destOrd="0" presId="urn:microsoft.com/office/officeart/2005/8/layout/hierarchy3"/>
    <dgm:cxn modelId="{091FBED9-6071-4969-802B-05F2CA3CC233}" srcId="{0ED82040-FE3E-4072-9A68-4FA7EAD8FF64}" destId="{88C3F4F3-0FDE-4330-B777-1FF0C4B6D22C}" srcOrd="3" destOrd="0" parTransId="{C17A7958-FE7D-44FD-A34C-3D079AE5AC5B}" sibTransId="{2B58DFA5-8F0B-4CC5-B127-14FE00D1D2C6}"/>
    <dgm:cxn modelId="{C5C20FDF-8593-42DD-ABA3-6FFD98F6A23E}" type="presOf" srcId="{159588D4-5E8C-4AC3-9975-FA8696CED845}" destId="{64C6E4E6-B6FE-477B-BD75-2AA93CED11A7}" srcOrd="0" destOrd="0" presId="urn:microsoft.com/office/officeart/2005/8/layout/hierarchy3"/>
    <dgm:cxn modelId="{4059DAE2-98A2-4E2E-8472-B7E655DB0C33}" type="presOf" srcId="{CAC48335-37FD-4495-98B3-8A964CFA6CE4}" destId="{D7E371EC-8E56-4B2F-8676-6D9E2200A40B}" srcOrd="0" destOrd="0" presId="urn:microsoft.com/office/officeart/2005/8/layout/hierarchy3"/>
    <dgm:cxn modelId="{0A21E1ED-7F71-46EC-A19A-A23B2A0EE4B3}" type="presOf" srcId="{C4F8F0DF-F667-4C65-9228-86003301585D}" destId="{D205C6AE-C06B-45FF-BD84-391C35162F44}" srcOrd="0" destOrd="0" presId="urn:microsoft.com/office/officeart/2005/8/layout/hierarchy3"/>
    <dgm:cxn modelId="{EE83A882-2430-4F3B-999B-4B8DC0892765}" type="presParOf" srcId="{19F9A420-92B9-4C55-8CF0-1AE210922E58}" destId="{AC402FB9-32DB-4311-8805-F8AA991D4AF4}" srcOrd="0" destOrd="0" presId="urn:microsoft.com/office/officeart/2005/8/layout/hierarchy3"/>
    <dgm:cxn modelId="{8DE46D39-D950-42C5-9CAF-3A5D35CC9968}" type="presParOf" srcId="{AC402FB9-32DB-4311-8805-F8AA991D4AF4}" destId="{FE4C52DF-2318-431B-A428-A1B5BFC4A38B}" srcOrd="0" destOrd="0" presId="urn:microsoft.com/office/officeart/2005/8/layout/hierarchy3"/>
    <dgm:cxn modelId="{B7564C97-5F93-46AD-BAD8-1753D003CB20}" type="presParOf" srcId="{FE4C52DF-2318-431B-A428-A1B5BFC4A38B}" destId="{9B143E4A-BFDB-4C33-A46F-5896BDC3737C}" srcOrd="0" destOrd="0" presId="urn:microsoft.com/office/officeart/2005/8/layout/hierarchy3"/>
    <dgm:cxn modelId="{51ECCDED-BDC1-446E-9962-79282551D12E}" type="presParOf" srcId="{FE4C52DF-2318-431B-A428-A1B5BFC4A38B}" destId="{58DED302-EEEB-4049-B294-94130965FE37}" srcOrd="1" destOrd="0" presId="urn:microsoft.com/office/officeart/2005/8/layout/hierarchy3"/>
    <dgm:cxn modelId="{CC1C1F2B-AD41-4AF4-8A1A-824094255BAC}" type="presParOf" srcId="{AC402FB9-32DB-4311-8805-F8AA991D4AF4}" destId="{32C4A5DE-CC68-48E3-A414-ACE2B83D8D97}" srcOrd="1" destOrd="0" presId="urn:microsoft.com/office/officeart/2005/8/layout/hierarchy3"/>
    <dgm:cxn modelId="{F786343D-1457-4649-B0CB-BCCA9AC08D9E}" type="presParOf" srcId="{19F9A420-92B9-4C55-8CF0-1AE210922E58}" destId="{95D9A8AE-2705-40D2-A80F-0E8DCAE8C128}" srcOrd="1" destOrd="0" presId="urn:microsoft.com/office/officeart/2005/8/layout/hierarchy3"/>
    <dgm:cxn modelId="{94E1E7DB-36D5-4754-8A24-8AA10C13453E}" type="presParOf" srcId="{95D9A8AE-2705-40D2-A80F-0E8DCAE8C128}" destId="{FE40611F-3995-4636-AD9E-B0283EAF8997}" srcOrd="0" destOrd="0" presId="urn:microsoft.com/office/officeart/2005/8/layout/hierarchy3"/>
    <dgm:cxn modelId="{11A8D4BF-EAA6-43E2-AE6B-4C19D3CC1776}" type="presParOf" srcId="{FE40611F-3995-4636-AD9E-B0283EAF8997}" destId="{BFABA44F-496E-4800-9D24-A0E8B69100B2}" srcOrd="0" destOrd="0" presId="urn:microsoft.com/office/officeart/2005/8/layout/hierarchy3"/>
    <dgm:cxn modelId="{7293CAA6-CEDF-460B-B0F0-ED8DD4957245}" type="presParOf" srcId="{FE40611F-3995-4636-AD9E-B0283EAF8997}" destId="{1EA96813-A3AC-4EDB-9D0F-740DDD727F9B}" srcOrd="1" destOrd="0" presId="urn:microsoft.com/office/officeart/2005/8/layout/hierarchy3"/>
    <dgm:cxn modelId="{6A7AFD79-FF87-4E77-B34C-3634B6AD0559}" type="presParOf" srcId="{95D9A8AE-2705-40D2-A80F-0E8DCAE8C128}" destId="{C738F663-0870-47BB-B5DE-9A0304B729A0}" srcOrd="1" destOrd="0" presId="urn:microsoft.com/office/officeart/2005/8/layout/hierarchy3"/>
    <dgm:cxn modelId="{0AD59E28-78DE-412B-95EA-902BF52325E9}" type="presParOf" srcId="{C738F663-0870-47BB-B5DE-9A0304B729A0}" destId="{89BFD184-C127-4436-BBA9-9E3518D20E96}" srcOrd="0" destOrd="0" presId="urn:microsoft.com/office/officeart/2005/8/layout/hierarchy3"/>
    <dgm:cxn modelId="{190F7F5F-E3F2-4E72-9E99-AA75D63C5FD3}" type="presParOf" srcId="{C738F663-0870-47BB-B5DE-9A0304B729A0}" destId="{7BB9FCDC-CC15-46B8-A721-EAD825060E04}" srcOrd="1" destOrd="0" presId="urn:microsoft.com/office/officeart/2005/8/layout/hierarchy3"/>
    <dgm:cxn modelId="{86211885-E0E7-4FED-AB23-D1E7EA9F69EA}" type="presParOf" srcId="{C738F663-0870-47BB-B5DE-9A0304B729A0}" destId="{F8D81225-97A8-4DEA-8F1A-6482ECF2FC61}" srcOrd="2" destOrd="0" presId="urn:microsoft.com/office/officeart/2005/8/layout/hierarchy3"/>
    <dgm:cxn modelId="{4AFFB0C3-C41C-4118-9999-29235B5AF2C7}" type="presParOf" srcId="{C738F663-0870-47BB-B5DE-9A0304B729A0}" destId="{FCEA41AB-2D89-4BF4-86D7-EF21C8AE5E7D}" srcOrd="3" destOrd="0" presId="urn:microsoft.com/office/officeart/2005/8/layout/hierarchy3"/>
    <dgm:cxn modelId="{E022F917-9B5D-40A5-870D-0EB8E6905328}" type="presParOf" srcId="{C738F663-0870-47BB-B5DE-9A0304B729A0}" destId="{B511D004-A139-46AA-A2FB-96B1BDFA2CD5}" srcOrd="4" destOrd="0" presId="urn:microsoft.com/office/officeart/2005/8/layout/hierarchy3"/>
    <dgm:cxn modelId="{84443249-F16E-4DA8-9679-CBF5663E27AB}" type="presParOf" srcId="{C738F663-0870-47BB-B5DE-9A0304B729A0}" destId="{A77333F7-7466-45E0-AEE2-3E36BED68E0A}" srcOrd="5" destOrd="0" presId="urn:microsoft.com/office/officeart/2005/8/layout/hierarchy3"/>
    <dgm:cxn modelId="{6D98AD5B-9B43-47F0-BDE1-DAA6350243AB}" type="presParOf" srcId="{19F9A420-92B9-4C55-8CF0-1AE210922E58}" destId="{E0F598F3-3F2A-4C7C-ABF0-13E498524653}" srcOrd="2" destOrd="0" presId="urn:microsoft.com/office/officeart/2005/8/layout/hierarchy3"/>
    <dgm:cxn modelId="{22456607-EFF5-4722-B2C7-EF0704A885DD}" type="presParOf" srcId="{E0F598F3-3F2A-4C7C-ABF0-13E498524653}" destId="{ECCAD8EB-7C24-4F8D-AFE5-35A9CB136B47}" srcOrd="0" destOrd="0" presId="urn:microsoft.com/office/officeart/2005/8/layout/hierarchy3"/>
    <dgm:cxn modelId="{810EADEE-64ED-44CE-8D2D-5EC565C5C099}" type="presParOf" srcId="{ECCAD8EB-7C24-4F8D-AFE5-35A9CB136B47}" destId="{7CC5708D-42EC-4622-9CF8-F3A84C6CA157}" srcOrd="0" destOrd="0" presId="urn:microsoft.com/office/officeart/2005/8/layout/hierarchy3"/>
    <dgm:cxn modelId="{C5322D85-0187-40DD-A9B9-9C4AF25CE9F8}" type="presParOf" srcId="{ECCAD8EB-7C24-4F8D-AFE5-35A9CB136B47}" destId="{53CAE410-B87C-4CB6-A1CD-2E9C0E19B76A}" srcOrd="1" destOrd="0" presId="urn:microsoft.com/office/officeart/2005/8/layout/hierarchy3"/>
    <dgm:cxn modelId="{44FD7035-04E7-443F-8D69-6DB6B1D37594}" type="presParOf" srcId="{E0F598F3-3F2A-4C7C-ABF0-13E498524653}" destId="{E736B488-D075-4FFD-B7CC-530A6A6CF184}" srcOrd="1" destOrd="0" presId="urn:microsoft.com/office/officeart/2005/8/layout/hierarchy3"/>
    <dgm:cxn modelId="{B03CE676-8A8E-4B12-84BE-6194977F627B}" type="presParOf" srcId="{E736B488-D075-4FFD-B7CC-530A6A6CF184}" destId="{9D5E06B9-3679-4E14-A51D-7FA983A0A353}" srcOrd="0" destOrd="0" presId="urn:microsoft.com/office/officeart/2005/8/layout/hierarchy3"/>
    <dgm:cxn modelId="{F554F6C8-544C-4424-8076-4A3364D4BA31}" type="presParOf" srcId="{E736B488-D075-4FFD-B7CC-530A6A6CF184}" destId="{C8E59A86-E455-4AA1-A8B4-570F8E0D635A}" srcOrd="1" destOrd="0" presId="urn:microsoft.com/office/officeart/2005/8/layout/hierarchy3"/>
    <dgm:cxn modelId="{1AB63A61-3F62-4EEB-8D51-3B08882BCDA0}" type="presParOf" srcId="{E736B488-D075-4FFD-B7CC-530A6A6CF184}" destId="{D7E371EC-8E56-4B2F-8676-6D9E2200A40B}" srcOrd="2" destOrd="0" presId="urn:microsoft.com/office/officeart/2005/8/layout/hierarchy3"/>
    <dgm:cxn modelId="{AD0F6561-D1E9-4428-8BBB-444C9AE625F8}" type="presParOf" srcId="{E736B488-D075-4FFD-B7CC-530A6A6CF184}" destId="{E20A1485-D9C6-478E-A8EA-063B24724480}" srcOrd="3" destOrd="0" presId="urn:microsoft.com/office/officeart/2005/8/layout/hierarchy3"/>
    <dgm:cxn modelId="{9D7D1934-BC91-471A-A06D-A173C48DA2C2}" type="presParOf" srcId="{E736B488-D075-4FFD-B7CC-530A6A6CF184}" destId="{6D6EB423-AD3B-437B-B696-1BC7BE491F85}" srcOrd="4" destOrd="0" presId="urn:microsoft.com/office/officeart/2005/8/layout/hierarchy3"/>
    <dgm:cxn modelId="{06D24B3E-D01E-4A74-9DDB-2D4E2091F5E0}" type="presParOf" srcId="{E736B488-D075-4FFD-B7CC-530A6A6CF184}" destId="{E3F23BBB-DC1D-48E1-A304-75C0C12B73A2}" srcOrd="5" destOrd="0" presId="urn:microsoft.com/office/officeart/2005/8/layout/hierarchy3"/>
    <dgm:cxn modelId="{EA3295BA-036F-4DD1-BF0D-174BAF732E39}" type="presParOf" srcId="{E736B488-D075-4FFD-B7CC-530A6A6CF184}" destId="{25419AE4-C220-428E-B648-E2393CB86E3D}" srcOrd="6" destOrd="0" presId="urn:microsoft.com/office/officeart/2005/8/layout/hierarchy3"/>
    <dgm:cxn modelId="{D73C2AB1-A080-4CA7-AC8A-32E6867BE4E7}" type="presParOf" srcId="{E736B488-D075-4FFD-B7CC-530A6A6CF184}" destId="{7ACDCB2A-CF3A-45E6-968C-9EE003526937}" srcOrd="7" destOrd="0" presId="urn:microsoft.com/office/officeart/2005/8/layout/hierarchy3"/>
    <dgm:cxn modelId="{FB6E8461-22FE-4F46-A553-78BA99FADB16}" type="presParOf" srcId="{19F9A420-92B9-4C55-8CF0-1AE210922E58}" destId="{3B90EC01-447B-44C4-AD90-04B98822A291}" srcOrd="3" destOrd="0" presId="urn:microsoft.com/office/officeart/2005/8/layout/hierarchy3"/>
    <dgm:cxn modelId="{B5ACBABC-8F77-4144-BE60-643BBBD3D056}" type="presParOf" srcId="{3B90EC01-447B-44C4-AD90-04B98822A291}" destId="{48FC068B-3B26-4E52-B223-FBA4F61FAD57}" srcOrd="0" destOrd="0" presId="urn:microsoft.com/office/officeart/2005/8/layout/hierarchy3"/>
    <dgm:cxn modelId="{33E31272-A673-4619-BE2B-509046FCED56}" type="presParOf" srcId="{48FC068B-3B26-4E52-B223-FBA4F61FAD57}" destId="{5344838D-ACAF-4329-8BD2-E8DC82039B3C}" srcOrd="0" destOrd="0" presId="urn:microsoft.com/office/officeart/2005/8/layout/hierarchy3"/>
    <dgm:cxn modelId="{E3EFFA1A-B5A7-4108-99D6-25E7D3F24BD7}" type="presParOf" srcId="{48FC068B-3B26-4E52-B223-FBA4F61FAD57}" destId="{68FCD248-111D-41EB-B9AE-06027F3D7015}" srcOrd="1" destOrd="0" presId="urn:microsoft.com/office/officeart/2005/8/layout/hierarchy3"/>
    <dgm:cxn modelId="{AFE5CD9C-0271-4AF8-8F38-457675936449}" type="presParOf" srcId="{3B90EC01-447B-44C4-AD90-04B98822A291}" destId="{350697B4-2ADC-41C9-9E64-D3D4AF30D7AA}" srcOrd="1" destOrd="0" presId="urn:microsoft.com/office/officeart/2005/8/layout/hierarchy3"/>
    <dgm:cxn modelId="{DD287510-F32F-4641-BF24-49F39128B7C8}" type="presParOf" srcId="{350697B4-2ADC-41C9-9E64-D3D4AF30D7AA}" destId="{B46D388C-C438-41B6-90CE-812E1F157899}" srcOrd="0" destOrd="0" presId="urn:microsoft.com/office/officeart/2005/8/layout/hierarchy3"/>
    <dgm:cxn modelId="{41079470-DBC0-4090-AB48-2817076C7FE1}" type="presParOf" srcId="{350697B4-2ADC-41C9-9E64-D3D4AF30D7AA}" destId="{A366893D-8BB0-42F7-BDF1-C022A34432F8}" srcOrd="1" destOrd="0" presId="urn:microsoft.com/office/officeart/2005/8/layout/hierarchy3"/>
    <dgm:cxn modelId="{9A268C42-FD3D-4D36-93ED-1A28258EF9DB}" type="presParOf" srcId="{350697B4-2ADC-41C9-9E64-D3D4AF30D7AA}" destId="{D0643DD1-7CEF-4D07-B56B-D9D47D6D3E2D}" srcOrd="2" destOrd="0" presId="urn:microsoft.com/office/officeart/2005/8/layout/hierarchy3"/>
    <dgm:cxn modelId="{F2EC0BC0-3214-4641-AC8F-3B9904A196F6}" type="presParOf" srcId="{350697B4-2ADC-41C9-9E64-D3D4AF30D7AA}" destId="{55BFDFBB-2AA0-44C1-A20E-CEF70380E66D}" srcOrd="3" destOrd="0" presId="urn:microsoft.com/office/officeart/2005/8/layout/hierarchy3"/>
    <dgm:cxn modelId="{328B3274-6201-4C87-BA2B-6835DFED8EC4}" type="presParOf" srcId="{350697B4-2ADC-41C9-9E64-D3D4AF30D7AA}" destId="{8F4898AA-B35A-44BF-A272-659A81DDB9BE}" srcOrd="4" destOrd="0" presId="urn:microsoft.com/office/officeart/2005/8/layout/hierarchy3"/>
    <dgm:cxn modelId="{4AFE3461-0BC9-497D-AA15-ECB4FF189C1B}" type="presParOf" srcId="{350697B4-2ADC-41C9-9E64-D3D4AF30D7AA}" destId="{DFA70571-E103-43F3-93BB-AA6E7AEA3025}" srcOrd="5" destOrd="0" presId="urn:microsoft.com/office/officeart/2005/8/layout/hierarchy3"/>
    <dgm:cxn modelId="{60043C97-7A80-4872-822A-271DEFC5B089}" type="presParOf" srcId="{350697B4-2ADC-41C9-9E64-D3D4AF30D7AA}" destId="{90C540E5-08D1-4D76-928D-27609A3B7D14}" srcOrd="6" destOrd="0" presId="urn:microsoft.com/office/officeart/2005/8/layout/hierarchy3"/>
    <dgm:cxn modelId="{D9B3669D-344F-4AC0-AF77-C40E77C1282A}" type="presParOf" srcId="{350697B4-2ADC-41C9-9E64-D3D4AF30D7AA}" destId="{F0A99C6E-BA79-4295-B84F-CB067C16294B}" srcOrd="7" destOrd="0" presId="urn:microsoft.com/office/officeart/2005/8/layout/hierarchy3"/>
    <dgm:cxn modelId="{B7A1F11F-D542-4384-80E1-C49C3EE5A859}" type="presParOf" srcId="{350697B4-2ADC-41C9-9E64-D3D4AF30D7AA}" destId="{D205C6AE-C06B-45FF-BD84-391C35162F44}" srcOrd="8" destOrd="0" presId="urn:microsoft.com/office/officeart/2005/8/layout/hierarchy3"/>
    <dgm:cxn modelId="{03CA99AD-6D97-410A-93A5-F14040E717F9}" type="presParOf" srcId="{350697B4-2ADC-41C9-9E64-D3D4AF30D7AA}" destId="{64C6E4E6-B6FE-477B-BD75-2AA93CED11A7}"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60DA73-B90C-4199-B639-D51127CA6A00}"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fr-FR"/>
        </a:p>
      </dgm:t>
    </dgm:pt>
    <dgm:pt modelId="{524B48D8-69C0-4A3C-8314-A9F254AB566A}">
      <dgm:prSet phldrT="[Texte]" custT="1"/>
      <dgm:spPr>
        <a:solidFill>
          <a:srgbClr val="3D64A9">
            <a:alpha val="85000"/>
          </a:srgbClr>
        </a:solidFill>
      </dgm:spPr>
      <dgm:t>
        <a:bodyPr/>
        <a:lstStyle/>
        <a:p>
          <a:r>
            <a:rPr lang="fr-FR" sz="1600" dirty="0"/>
            <a:t>Sprint</a:t>
          </a:r>
        </a:p>
        <a:p>
          <a:r>
            <a:rPr lang="fr-FR" sz="1600" dirty="0"/>
            <a:t>Planning</a:t>
          </a:r>
        </a:p>
      </dgm:t>
    </dgm:pt>
    <dgm:pt modelId="{8B1FC3FC-84B0-4B57-B365-243C17B801C1}" type="parTrans" cxnId="{19B3D9EF-22E0-4461-A5AB-57C29650FBB6}">
      <dgm:prSet/>
      <dgm:spPr/>
      <dgm:t>
        <a:bodyPr/>
        <a:lstStyle/>
        <a:p>
          <a:endParaRPr lang="fr-FR"/>
        </a:p>
      </dgm:t>
    </dgm:pt>
    <dgm:pt modelId="{F389614A-94D0-4641-A935-500D13B007AC}" type="sibTrans" cxnId="{19B3D9EF-22E0-4461-A5AB-57C29650FBB6}">
      <dgm:prSet/>
      <dgm:spPr/>
      <dgm:t>
        <a:bodyPr/>
        <a:lstStyle/>
        <a:p>
          <a:endParaRPr lang="fr-FR"/>
        </a:p>
      </dgm:t>
    </dgm:pt>
    <dgm:pt modelId="{516CA0D5-CACA-409F-BF17-5D40BD5E82BB}">
      <dgm:prSet phldrT="[Texte]" custT="1"/>
      <dgm:spPr>
        <a:solidFill>
          <a:srgbClr val="3D64A9">
            <a:alpha val="85000"/>
          </a:srgbClr>
        </a:solidFill>
      </dgm:spPr>
      <dgm:t>
        <a:bodyPr/>
        <a:lstStyle/>
        <a:p>
          <a:r>
            <a:rPr lang="fr-FR" sz="1600" dirty="0"/>
            <a:t>Daily</a:t>
          </a:r>
        </a:p>
        <a:p>
          <a:r>
            <a:rPr lang="fr-FR" sz="1600" dirty="0"/>
            <a:t>Scrum</a:t>
          </a:r>
        </a:p>
      </dgm:t>
    </dgm:pt>
    <dgm:pt modelId="{6A1683CD-3C30-48D1-862E-761BBCEB92E5}" type="parTrans" cxnId="{69E5A744-970D-4E71-BE11-2B17FB66282A}">
      <dgm:prSet/>
      <dgm:spPr/>
      <dgm:t>
        <a:bodyPr/>
        <a:lstStyle/>
        <a:p>
          <a:endParaRPr lang="fr-FR"/>
        </a:p>
      </dgm:t>
    </dgm:pt>
    <dgm:pt modelId="{2F0F5B50-5DA4-4CF5-8545-AA11360202B3}" type="sibTrans" cxnId="{69E5A744-970D-4E71-BE11-2B17FB66282A}">
      <dgm:prSet/>
      <dgm:spPr/>
      <dgm:t>
        <a:bodyPr/>
        <a:lstStyle/>
        <a:p>
          <a:endParaRPr lang="fr-FR"/>
        </a:p>
      </dgm:t>
    </dgm:pt>
    <dgm:pt modelId="{8D2744B6-8287-4C05-9297-7EFBB6E3A937}">
      <dgm:prSet phldrT="[Texte]" custT="1"/>
      <dgm:spPr>
        <a:solidFill>
          <a:srgbClr val="3D64A9">
            <a:alpha val="85000"/>
          </a:srgbClr>
        </a:solidFill>
      </dgm:spPr>
      <dgm:t>
        <a:bodyPr/>
        <a:lstStyle/>
        <a:p>
          <a:r>
            <a:rPr lang="fr-FR" sz="1600" dirty="0"/>
            <a:t>Sprint</a:t>
          </a:r>
        </a:p>
        <a:p>
          <a:r>
            <a:rPr lang="fr-FR" sz="1600" dirty="0"/>
            <a:t>Review</a:t>
          </a:r>
        </a:p>
      </dgm:t>
    </dgm:pt>
    <dgm:pt modelId="{6722C0B9-1EC4-4692-987B-C7CDD4CCFE24}" type="parTrans" cxnId="{85E4A7AE-901D-4404-B1FB-AB459B7536F8}">
      <dgm:prSet/>
      <dgm:spPr/>
      <dgm:t>
        <a:bodyPr/>
        <a:lstStyle/>
        <a:p>
          <a:endParaRPr lang="fr-FR"/>
        </a:p>
      </dgm:t>
    </dgm:pt>
    <dgm:pt modelId="{EE97C067-A598-42CF-BA8E-B65129C16B71}" type="sibTrans" cxnId="{85E4A7AE-901D-4404-B1FB-AB459B7536F8}">
      <dgm:prSet/>
      <dgm:spPr/>
      <dgm:t>
        <a:bodyPr/>
        <a:lstStyle/>
        <a:p>
          <a:endParaRPr lang="fr-FR"/>
        </a:p>
      </dgm:t>
    </dgm:pt>
    <dgm:pt modelId="{E09E9E27-77F3-47FE-8CB8-03D3FCD10213}">
      <dgm:prSet custT="1"/>
      <dgm:spPr>
        <a:solidFill>
          <a:srgbClr val="3D64A9">
            <a:alpha val="85000"/>
          </a:srgbClr>
        </a:solidFill>
      </dgm:spPr>
      <dgm:t>
        <a:bodyPr/>
        <a:lstStyle/>
        <a:p>
          <a:r>
            <a:rPr lang="fr-FR" sz="1600" dirty="0"/>
            <a:t>Sprint</a:t>
          </a:r>
        </a:p>
        <a:p>
          <a:r>
            <a:rPr lang="fr-FR" sz="1600"/>
            <a:t>Retro</a:t>
          </a:r>
          <a:endParaRPr lang="fr-FR" sz="1600" dirty="0"/>
        </a:p>
      </dgm:t>
    </dgm:pt>
    <dgm:pt modelId="{D6D64C00-5B97-4F6A-8C87-8802E53DCA5A}" type="parTrans" cxnId="{B1533D15-D453-4BEC-96E3-9DA0A8E03BC6}">
      <dgm:prSet/>
      <dgm:spPr/>
      <dgm:t>
        <a:bodyPr/>
        <a:lstStyle/>
        <a:p>
          <a:endParaRPr lang="fr-FR"/>
        </a:p>
      </dgm:t>
    </dgm:pt>
    <dgm:pt modelId="{47BEE776-B253-4A8F-9FCF-75B85E630DD6}" type="sibTrans" cxnId="{B1533D15-D453-4BEC-96E3-9DA0A8E03BC6}">
      <dgm:prSet/>
      <dgm:spPr/>
      <dgm:t>
        <a:bodyPr/>
        <a:lstStyle/>
        <a:p>
          <a:endParaRPr lang="fr-FR"/>
        </a:p>
      </dgm:t>
    </dgm:pt>
    <dgm:pt modelId="{830FCAD9-6BCD-4414-A114-947C7FEF8A11}">
      <dgm:prSet/>
      <dgm:spPr>
        <a:pattFill prst="ltDnDiag">
          <a:fgClr>
            <a:schemeClr val="accent1">
              <a:hueOff val="0"/>
              <a:satOff val="0"/>
              <a:lumOff val="0"/>
            </a:schemeClr>
          </a:fgClr>
          <a:bgClr>
            <a:schemeClr val="bg1"/>
          </a:bgClr>
        </a:pattFill>
      </dgm:spPr>
      <dgm:t>
        <a:bodyPr/>
        <a:lstStyle/>
        <a:p>
          <a:endParaRPr lang="fr-FR"/>
        </a:p>
      </dgm:t>
    </dgm:pt>
    <dgm:pt modelId="{75E49376-ED30-4C8C-96F6-1D3D45B2C145}" type="parTrans" cxnId="{FF44E1A4-BDEB-4BA7-8C48-7F79314D5526}">
      <dgm:prSet/>
      <dgm:spPr/>
      <dgm:t>
        <a:bodyPr/>
        <a:lstStyle/>
        <a:p>
          <a:endParaRPr lang="fr-FR"/>
        </a:p>
      </dgm:t>
    </dgm:pt>
    <dgm:pt modelId="{DB6445F3-F436-42EE-9314-D72B65EB3831}" type="sibTrans" cxnId="{FF44E1A4-BDEB-4BA7-8C48-7F79314D5526}">
      <dgm:prSet/>
      <dgm:spPr/>
      <dgm:t>
        <a:bodyPr/>
        <a:lstStyle/>
        <a:p>
          <a:endParaRPr lang="fr-FR"/>
        </a:p>
      </dgm:t>
    </dgm:pt>
    <dgm:pt modelId="{4CD8E64E-7467-4935-ADA8-8DC24F36224A}">
      <dgm:prSet/>
      <dgm:spPr>
        <a:pattFill prst="ltDnDiag">
          <a:fgClr>
            <a:schemeClr val="accent1">
              <a:hueOff val="0"/>
              <a:satOff val="0"/>
              <a:lumOff val="0"/>
            </a:schemeClr>
          </a:fgClr>
          <a:bgClr>
            <a:schemeClr val="bg1"/>
          </a:bgClr>
        </a:pattFill>
      </dgm:spPr>
      <dgm:t>
        <a:bodyPr/>
        <a:lstStyle/>
        <a:p>
          <a:endParaRPr lang="fr-FR"/>
        </a:p>
      </dgm:t>
    </dgm:pt>
    <dgm:pt modelId="{45C95130-DB64-47D9-9B3B-99F109EE42EB}" type="parTrans" cxnId="{59200A14-3AC7-41F3-8466-D708CCA1CF14}">
      <dgm:prSet/>
      <dgm:spPr/>
      <dgm:t>
        <a:bodyPr/>
        <a:lstStyle/>
        <a:p>
          <a:endParaRPr lang="fr-FR"/>
        </a:p>
      </dgm:t>
    </dgm:pt>
    <dgm:pt modelId="{33C81E9B-F3E7-48B3-9055-175159379B29}" type="sibTrans" cxnId="{59200A14-3AC7-41F3-8466-D708CCA1CF14}">
      <dgm:prSet/>
      <dgm:spPr/>
      <dgm:t>
        <a:bodyPr/>
        <a:lstStyle/>
        <a:p>
          <a:endParaRPr lang="fr-FR"/>
        </a:p>
      </dgm:t>
    </dgm:pt>
    <dgm:pt modelId="{9AFE455A-CB26-4437-B95C-AAB3FEE0D85A}" type="pres">
      <dgm:prSet presAssocID="{7D60DA73-B90C-4199-B639-D51127CA6A00}" presName="Name0" presStyleCnt="0">
        <dgm:presLayoutVars>
          <dgm:dir/>
          <dgm:resizeHandles val="exact"/>
        </dgm:presLayoutVars>
      </dgm:prSet>
      <dgm:spPr/>
    </dgm:pt>
    <dgm:pt modelId="{A4982375-74B2-48B5-BD80-ADA2A9E56595}" type="pres">
      <dgm:prSet presAssocID="{524B48D8-69C0-4A3C-8314-A9F254AB566A}" presName="parTxOnly" presStyleLbl="node1" presStyleIdx="0" presStyleCnt="6" custScaleX="69541" custScaleY="87804">
        <dgm:presLayoutVars>
          <dgm:bulletEnabled val="1"/>
        </dgm:presLayoutVars>
      </dgm:prSet>
      <dgm:spPr/>
    </dgm:pt>
    <dgm:pt modelId="{5902A67A-8684-437D-9B99-A9AAD2D62F41}" type="pres">
      <dgm:prSet presAssocID="{F389614A-94D0-4641-A935-500D13B007AC}" presName="parSpace" presStyleCnt="0"/>
      <dgm:spPr/>
    </dgm:pt>
    <dgm:pt modelId="{9E4C451D-8D00-4E99-A10A-90DD43FE74A8}" type="pres">
      <dgm:prSet presAssocID="{4CD8E64E-7467-4935-ADA8-8DC24F36224A}" presName="parTxOnly" presStyleLbl="node1" presStyleIdx="1" presStyleCnt="6" custScaleX="29073">
        <dgm:presLayoutVars>
          <dgm:bulletEnabled val="1"/>
        </dgm:presLayoutVars>
      </dgm:prSet>
      <dgm:spPr/>
    </dgm:pt>
    <dgm:pt modelId="{A5197239-C559-4B43-8516-64AED9CD7217}" type="pres">
      <dgm:prSet presAssocID="{33C81E9B-F3E7-48B3-9055-175159379B29}" presName="parSpace" presStyleCnt="0"/>
      <dgm:spPr/>
    </dgm:pt>
    <dgm:pt modelId="{665B90B7-521F-4F37-AB82-4B125A05A296}" type="pres">
      <dgm:prSet presAssocID="{516CA0D5-CACA-409F-BF17-5D40BD5E82BB}" presName="parTxOnly" presStyleLbl="node1" presStyleIdx="2" presStyleCnt="6" custScaleX="68275">
        <dgm:presLayoutVars>
          <dgm:bulletEnabled val="1"/>
        </dgm:presLayoutVars>
      </dgm:prSet>
      <dgm:spPr/>
    </dgm:pt>
    <dgm:pt modelId="{73A151DA-4F54-41F6-B1AE-7BD0CE7A1D2F}" type="pres">
      <dgm:prSet presAssocID="{2F0F5B50-5DA4-4CF5-8545-AA11360202B3}" presName="parSpace" presStyleCnt="0"/>
      <dgm:spPr/>
    </dgm:pt>
    <dgm:pt modelId="{8213350C-763D-41BA-8581-BD3794E086E7}" type="pres">
      <dgm:prSet presAssocID="{830FCAD9-6BCD-4414-A114-947C7FEF8A11}" presName="parTxOnly" presStyleLbl="node1" presStyleIdx="3" presStyleCnt="6" custScaleX="31255">
        <dgm:presLayoutVars>
          <dgm:bulletEnabled val="1"/>
        </dgm:presLayoutVars>
      </dgm:prSet>
      <dgm:spPr/>
    </dgm:pt>
    <dgm:pt modelId="{CC08F99F-EBA2-4A46-B9A0-EAB8E636F21A}" type="pres">
      <dgm:prSet presAssocID="{DB6445F3-F436-42EE-9314-D72B65EB3831}" presName="parSpace" presStyleCnt="0"/>
      <dgm:spPr/>
    </dgm:pt>
    <dgm:pt modelId="{DAE3A98E-5BC9-4648-AE52-0E840D8CB15E}" type="pres">
      <dgm:prSet presAssocID="{8D2744B6-8287-4C05-9297-7EFBB6E3A937}" presName="parTxOnly" presStyleLbl="node1" presStyleIdx="4" presStyleCnt="6" custScaleX="77654" custScaleY="326995" custLinFactNeighborX="-8150" custLinFactNeighborY="-40">
        <dgm:presLayoutVars>
          <dgm:bulletEnabled val="1"/>
        </dgm:presLayoutVars>
      </dgm:prSet>
      <dgm:spPr/>
    </dgm:pt>
    <dgm:pt modelId="{1FC896E1-A523-4152-A094-B3564B3238DC}" type="pres">
      <dgm:prSet presAssocID="{EE97C067-A598-42CF-BA8E-B65129C16B71}" presName="parSpace" presStyleCnt="0"/>
      <dgm:spPr/>
    </dgm:pt>
    <dgm:pt modelId="{95F1E873-B045-4DBC-BA57-D41A5665A59C}" type="pres">
      <dgm:prSet presAssocID="{E09E9E27-77F3-47FE-8CB8-03D3FCD10213}" presName="parTxOnly" presStyleLbl="node1" presStyleIdx="5" presStyleCnt="6" custScaleX="73625" custScaleY="2000000">
        <dgm:presLayoutVars>
          <dgm:bulletEnabled val="1"/>
        </dgm:presLayoutVars>
      </dgm:prSet>
      <dgm:spPr/>
    </dgm:pt>
  </dgm:ptLst>
  <dgm:cxnLst>
    <dgm:cxn modelId="{59200A14-3AC7-41F3-8466-D708CCA1CF14}" srcId="{7D60DA73-B90C-4199-B639-D51127CA6A00}" destId="{4CD8E64E-7467-4935-ADA8-8DC24F36224A}" srcOrd="1" destOrd="0" parTransId="{45C95130-DB64-47D9-9B3B-99F109EE42EB}" sibTransId="{33C81E9B-F3E7-48B3-9055-175159379B29}"/>
    <dgm:cxn modelId="{B1533D15-D453-4BEC-96E3-9DA0A8E03BC6}" srcId="{7D60DA73-B90C-4199-B639-D51127CA6A00}" destId="{E09E9E27-77F3-47FE-8CB8-03D3FCD10213}" srcOrd="5" destOrd="0" parTransId="{D6D64C00-5B97-4F6A-8C87-8802E53DCA5A}" sibTransId="{47BEE776-B253-4A8F-9FCF-75B85E630DD6}"/>
    <dgm:cxn modelId="{00B66C1A-375C-4A01-B1D3-D547CF78973B}" type="presOf" srcId="{7D60DA73-B90C-4199-B639-D51127CA6A00}" destId="{9AFE455A-CB26-4437-B95C-AAB3FEE0D85A}" srcOrd="0" destOrd="0" presId="urn:microsoft.com/office/officeart/2005/8/layout/hChevron3"/>
    <dgm:cxn modelId="{98E2D62D-4166-4784-951D-B8306519B942}" type="presOf" srcId="{516CA0D5-CACA-409F-BF17-5D40BD5E82BB}" destId="{665B90B7-521F-4F37-AB82-4B125A05A296}" srcOrd="0" destOrd="0" presId="urn:microsoft.com/office/officeart/2005/8/layout/hChevron3"/>
    <dgm:cxn modelId="{69E5A744-970D-4E71-BE11-2B17FB66282A}" srcId="{7D60DA73-B90C-4199-B639-D51127CA6A00}" destId="{516CA0D5-CACA-409F-BF17-5D40BD5E82BB}" srcOrd="2" destOrd="0" parTransId="{6A1683CD-3C30-48D1-862E-761BBCEB92E5}" sibTransId="{2F0F5B50-5DA4-4CF5-8545-AA11360202B3}"/>
    <dgm:cxn modelId="{DF3FF168-E3B7-4C05-8457-CB2F5D89EB69}" type="presOf" srcId="{8D2744B6-8287-4C05-9297-7EFBB6E3A937}" destId="{DAE3A98E-5BC9-4648-AE52-0E840D8CB15E}" srcOrd="0" destOrd="0" presId="urn:microsoft.com/office/officeart/2005/8/layout/hChevron3"/>
    <dgm:cxn modelId="{3963C78F-E0B0-402A-B15E-D67EE3CCAA5A}" type="presOf" srcId="{524B48D8-69C0-4A3C-8314-A9F254AB566A}" destId="{A4982375-74B2-48B5-BD80-ADA2A9E56595}" srcOrd="0" destOrd="0" presId="urn:microsoft.com/office/officeart/2005/8/layout/hChevron3"/>
    <dgm:cxn modelId="{FF44E1A4-BDEB-4BA7-8C48-7F79314D5526}" srcId="{7D60DA73-B90C-4199-B639-D51127CA6A00}" destId="{830FCAD9-6BCD-4414-A114-947C7FEF8A11}" srcOrd="3" destOrd="0" parTransId="{75E49376-ED30-4C8C-96F6-1D3D45B2C145}" sibTransId="{DB6445F3-F436-42EE-9314-D72B65EB3831}"/>
    <dgm:cxn modelId="{85E4A7AE-901D-4404-B1FB-AB459B7536F8}" srcId="{7D60DA73-B90C-4199-B639-D51127CA6A00}" destId="{8D2744B6-8287-4C05-9297-7EFBB6E3A937}" srcOrd="4" destOrd="0" parTransId="{6722C0B9-1EC4-4692-987B-C7CDD4CCFE24}" sibTransId="{EE97C067-A598-42CF-BA8E-B65129C16B71}"/>
    <dgm:cxn modelId="{77DB5CCE-272E-45C1-BE23-1018D97B3C9B}" type="presOf" srcId="{E09E9E27-77F3-47FE-8CB8-03D3FCD10213}" destId="{95F1E873-B045-4DBC-BA57-D41A5665A59C}" srcOrd="0" destOrd="0" presId="urn:microsoft.com/office/officeart/2005/8/layout/hChevron3"/>
    <dgm:cxn modelId="{C0ED13D5-99C4-404A-977F-BDD7B336775B}" type="presOf" srcId="{830FCAD9-6BCD-4414-A114-947C7FEF8A11}" destId="{8213350C-763D-41BA-8581-BD3794E086E7}" srcOrd="0" destOrd="0" presId="urn:microsoft.com/office/officeart/2005/8/layout/hChevron3"/>
    <dgm:cxn modelId="{19B3D9EF-22E0-4461-A5AB-57C29650FBB6}" srcId="{7D60DA73-B90C-4199-B639-D51127CA6A00}" destId="{524B48D8-69C0-4A3C-8314-A9F254AB566A}" srcOrd="0" destOrd="0" parTransId="{8B1FC3FC-84B0-4B57-B365-243C17B801C1}" sibTransId="{F389614A-94D0-4641-A935-500D13B007AC}"/>
    <dgm:cxn modelId="{C5B5ECFA-4466-4CB9-939B-EEA25E8D26D8}" type="presOf" srcId="{4CD8E64E-7467-4935-ADA8-8DC24F36224A}" destId="{9E4C451D-8D00-4E99-A10A-90DD43FE74A8}" srcOrd="0" destOrd="0" presId="urn:microsoft.com/office/officeart/2005/8/layout/hChevron3"/>
    <dgm:cxn modelId="{C6BABD7E-BE22-4C98-87FC-FB30F7E40731}" type="presParOf" srcId="{9AFE455A-CB26-4437-B95C-AAB3FEE0D85A}" destId="{A4982375-74B2-48B5-BD80-ADA2A9E56595}" srcOrd="0" destOrd="0" presId="urn:microsoft.com/office/officeart/2005/8/layout/hChevron3"/>
    <dgm:cxn modelId="{63827E41-80F9-4903-B4D4-AAC4D2A92B8D}" type="presParOf" srcId="{9AFE455A-CB26-4437-B95C-AAB3FEE0D85A}" destId="{5902A67A-8684-437D-9B99-A9AAD2D62F41}" srcOrd="1" destOrd="0" presId="urn:microsoft.com/office/officeart/2005/8/layout/hChevron3"/>
    <dgm:cxn modelId="{6BDD5C18-7E1D-4E53-840D-3EBD0BDDC1C5}" type="presParOf" srcId="{9AFE455A-CB26-4437-B95C-AAB3FEE0D85A}" destId="{9E4C451D-8D00-4E99-A10A-90DD43FE74A8}" srcOrd="2" destOrd="0" presId="urn:microsoft.com/office/officeart/2005/8/layout/hChevron3"/>
    <dgm:cxn modelId="{FC83D9DB-9D19-4379-A759-15EB2E53FA1D}" type="presParOf" srcId="{9AFE455A-CB26-4437-B95C-AAB3FEE0D85A}" destId="{A5197239-C559-4B43-8516-64AED9CD7217}" srcOrd="3" destOrd="0" presId="urn:microsoft.com/office/officeart/2005/8/layout/hChevron3"/>
    <dgm:cxn modelId="{3E15A07A-D43B-4A65-A613-0419D3584DE7}" type="presParOf" srcId="{9AFE455A-CB26-4437-B95C-AAB3FEE0D85A}" destId="{665B90B7-521F-4F37-AB82-4B125A05A296}" srcOrd="4" destOrd="0" presId="urn:microsoft.com/office/officeart/2005/8/layout/hChevron3"/>
    <dgm:cxn modelId="{B3AC1BDE-4426-485F-8816-B040C4D9F7EF}" type="presParOf" srcId="{9AFE455A-CB26-4437-B95C-AAB3FEE0D85A}" destId="{73A151DA-4F54-41F6-B1AE-7BD0CE7A1D2F}" srcOrd="5" destOrd="0" presId="urn:microsoft.com/office/officeart/2005/8/layout/hChevron3"/>
    <dgm:cxn modelId="{EB2B86D0-2563-4D30-8A64-7E7CC9A14004}" type="presParOf" srcId="{9AFE455A-CB26-4437-B95C-AAB3FEE0D85A}" destId="{8213350C-763D-41BA-8581-BD3794E086E7}" srcOrd="6" destOrd="0" presId="urn:microsoft.com/office/officeart/2005/8/layout/hChevron3"/>
    <dgm:cxn modelId="{ECC36A25-87F5-4AD1-AB1B-C4852986144A}" type="presParOf" srcId="{9AFE455A-CB26-4437-B95C-AAB3FEE0D85A}" destId="{CC08F99F-EBA2-4A46-B9A0-EAB8E636F21A}" srcOrd="7" destOrd="0" presId="urn:microsoft.com/office/officeart/2005/8/layout/hChevron3"/>
    <dgm:cxn modelId="{B6B3C6CD-0938-4751-9EDA-B81EABCC9825}" type="presParOf" srcId="{9AFE455A-CB26-4437-B95C-AAB3FEE0D85A}" destId="{DAE3A98E-5BC9-4648-AE52-0E840D8CB15E}" srcOrd="8" destOrd="0" presId="urn:microsoft.com/office/officeart/2005/8/layout/hChevron3"/>
    <dgm:cxn modelId="{489C9BB8-7BF3-4CC9-9A54-CC7AAF94FAD8}" type="presParOf" srcId="{9AFE455A-CB26-4437-B95C-AAB3FEE0D85A}" destId="{1FC896E1-A523-4152-A094-B3564B3238DC}" srcOrd="9" destOrd="0" presId="urn:microsoft.com/office/officeart/2005/8/layout/hChevron3"/>
    <dgm:cxn modelId="{64076862-24D7-4694-BD08-D465B1050479}" type="presParOf" srcId="{9AFE455A-CB26-4437-B95C-AAB3FEE0D85A}" destId="{95F1E873-B045-4DBC-BA57-D41A5665A59C}"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60DA73-B90C-4199-B639-D51127CA6A00}"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fr-FR"/>
        </a:p>
      </dgm:t>
    </dgm:pt>
    <dgm:pt modelId="{524B48D8-69C0-4A3C-8314-A9F254AB566A}">
      <dgm:prSet phldrT="[Texte]" custT="1"/>
      <dgm:spPr>
        <a:solidFill>
          <a:srgbClr val="BE1218">
            <a:alpha val="85000"/>
          </a:srgbClr>
        </a:solidFill>
      </dgm:spPr>
      <dgm:t>
        <a:bodyPr/>
        <a:lstStyle/>
        <a:p>
          <a:r>
            <a:rPr lang="fr-FR" sz="1600" dirty="0"/>
            <a:t>Sprint</a:t>
          </a:r>
        </a:p>
        <a:p>
          <a:r>
            <a:rPr lang="fr-FR" sz="1600" dirty="0"/>
            <a:t>Planning</a:t>
          </a:r>
        </a:p>
      </dgm:t>
    </dgm:pt>
    <dgm:pt modelId="{8B1FC3FC-84B0-4B57-B365-243C17B801C1}" type="parTrans" cxnId="{19B3D9EF-22E0-4461-A5AB-57C29650FBB6}">
      <dgm:prSet/>
      <dgm:spPr/>
      <dgm:t>
        <a:bodyPr/>
        <a:lstStyle/>
        <a:p>
          <a:endParaRPr lang="fr-FR"/>
        </a:p>
      </dgm:t>
    </dgm:pt>
    <dgm:pt modelId="{F389614A-94D0-4641-A935-500D13B007AC}" type="sibTrans" cxnId="{19B3D9EF-22E0-4461-A5AB-57C29650FBB6}">
      <dgm:prSet/>
      <dgm:spPr/>
      <dgm:t>
        <a:bodyPr/>
        <a:lstStyle/>
        <a:p>
          <a:endParaRPr lang="fr-FR"/>
        </a:p>
      </dgm:t>
    </dgm:pt>
    <dgm:pt modelId="{516CA0D5-CACA-409F-BF17-5D40BD5E82BB}">
      <dgm:prSet phldrT="[Texte]" custT="1"/>
      <dgm:spPr>
        <a:solidFill>
          <a:srgbClr val="3D64A9">
            <a:alpha val="85000"/>
          </a:srgbClr>
        </a:solidFill>
      </dgm:spPr>
      <dgm:t>
        <a:bodyPr/>
        <a:lstStyle/>
        <a:p>
          <a:r>
            <a:rPr lang="fr-FR" sz="1600" dirty="0"/>
            <a:t>Daily</a:t>
          </a:r>
        </a:p>
        <a:p>
          <a:r>
            <a:rPr lang="fr-FR" sz="1600" dirty="0"/>
            <a:t>Scrum</a:t>
          </a:r>
        </a:p>
      </dgm:t>
    </dgm:pt>
    <dgm:pt modelId="{6A1683CD-3C30-48D1-862E-761BBCEB92E5}" type="parTrans" cxnId="{69E5A744-970D-4E71-BE11-2B17FB66282A}">
      <dgm:prSet/>
      <dgm:spPr/>
      <dgm:t>
        <a:bodyPr/>
        <a:lstStyle/>
        <a:p>
          <a:endParaRPr lang="fr-FR"/>
        </a:p>
      </dgm:t>
    </dgm:pt>
    <dgm:pt modelId="{2F0F5B50-5DA4-4CF5-8545-AA11360202B3}" type="sibTrans" cxnId="{69E5A744-970D-4E71-BE11-2B17FB66282A}">
      <dgm:prSet/>
      <dgm:spPr/>
      <dgm:t>
        <a:bodyPr/>
        <a:lstStyle/>
        <a:p>
          <a:endParaRPr lang="fr-FR"/>
        </a:p>
      </dgm:t>
    </dgm:pt>
    <dgm:pt modelId="{8D2744B6-8287-4C05-9297-7EFBB6E3A937}">
      <dgm:prSet phldrT="[Texte]" custT="1"/>
      <dgm:spPr>
        <a:solidFill>
          <a:srgbClr val="3D64A9">
            <a:alpha val="85000"/>
          </a:srgbClr>
        </a:solidFill>
      </dgm:spPr>
      <dgm:t>
        <a:bodyPr/>
        <a:lstStyle/>
        <a:p>
          <a:r>
            <a:rPr lang="fr-FR" sz="1600" dirty="0"/>
            <a:t>Sprint</a:t>
          </a:r>
        </a:p>
        <a:p>
          <a:r>
            <a:rPr lang="fr-FR" sz="1600" dirty="0"/>
            <a:t>Review</a:t>
          </a:r>
        </a:p>
      </dgm:t>
    </dgm:pt>
    <dgm:pt modelId="{6722C0B9-1EC4-4692-987B-C7CDD4CCFE24}" type="parTrans" cxnId="{85E4A7AE-901D-4404-B1FB-AB459B7536F8}">
      <dgm:prSet/>
      <dgm:spPr/>
      <dgm:t>
        <a:bodyPr/>
        <a:lstStyle/>
        <a:p>
          <a:endParaRPr lang="fr-FR"/>
        </a:p>
      </dgm:t>
    </dgm:pt>
    <dgm:pt modelId="{EE97C067-A598-42CF-BA8E-B65129C16B71}" type="sibTrans" cxnId="{85E4A7AE-901D-4404-B1FB-AB459B7536F8}">
      <dgm:prSet/>
      <dgm:spPr/>
      <dgm:t>
        <a:bodyPr/>
        <a:lstStyle/>
        <a:p>
          <a:endParaRPr lang="fr-FR"/>
        </a:p>
      </dgm:t>
    </dgm:pt>
    <dgm:pt modelId="{E09E9E27-77F3-47FE-8CB8-03D3FCD10213}">
      <dgm:prSet custT="1"/>
      <dgm:spPr>
        <a:solidFill>
          <a:srgbClr val="3D64A9">
            <a:alpha val="85000"/>
          </a:srgbClr>
        </a:solidFill>
      </dgm:spPr>
      <dgm:t>
        <a:bodyPr/>
        <a:lstStyle/>
        <a:p>
          <a:r>
            <a:rPr lang="fr-FR" sz="1600" dirty="0"/>
            <a:t>Sprint</a:t>
          </a:r>
        </a:p>
        <a:p>
          <a:r>
            <a:rPr lang="fr-FR" sz="1600" dirty="0"/>
            <a:t>Retrospective</a:t>
          </a:r>
        </a:p>
      </dgm:t>
    </dgm:pt>
    <dgm:pt modelId="{D6D64C00-5B97-4F6A-8C87-8802E53DCA5A}" type="parTrans" cxnId="{B1533D15-D453-4BEC-96E3-9DA0A8E03BC6}">
      <dgm:prSet/>
      <dgm:spPr/>
      <dgm:t>
        <a:bodyPr/>
        <a:lstStyle/>
        <a:p>
          <a:endParaRPr lang="fr-FR"/>
        </a:p>
      </dgm:t>
    </dgm:pt>
    <dgm:pt modelId="{47BEE776-B253-4A8F-9FCF-75B85E630DD6}" type="sibTrans" cxnId="{B1533D15-D453-4BEC-96E3-9DA0A8E03BC6}">
      <dgm:prSet/>
      <dgm:spPr/>
      <dgm:t>
        <a:bodyPr/>
        <a:lstStyle/>
        <a:p>
          <a:endParaRPr lang="fr-FR"/>
        </a:p>
      </dgm:t>
    </dgm:pt>
    <dgm:pt modelId="{830FCAD9-6BCD-4414-A114-947C7FEF8A11}">
      <dgm:prSet/>
      <dgm:spPr>
        <a:pattFill prst="ltDnDiag">
          <a:fgClr>
            <a:schemeClr val="accent1">
              <a:hueOff val="0"/>
              <a:satOff val="0"/>
              <a:lumOff val="0"/>
            </a:schemeClr>
          </a:fgClr>
          <a:bgClr>
            <a:schemeClr val="bg1"/>
          </a:bgClr>
        </a:pattFill>
      </dgm:spPr>
      <dgm:t>
        <a:bodyPr/>
        <a:lstStyle/>
        <a:p>
          <a:endParaRPr lang="fr-FR"/>
        </a:p>
      </dgm:t>
    </dgm:pt>
    <dgm:pt modelId="{75E49376-ED30-4C8C-96F6-1D3D45B2C145}" type="parTrans" cxnId="{FF44E1A4-BDEB-4BA7-8C48-7F79314D5526}">
      <dgm:prSet/>
      <dgm:spPr/>
      <dgm:t>
        <a:bodyPr/>
        <a:lstStyle/>
        <a:p>
          <a:endParaRPr lang="fr-FR"/>
        </a:p>
      </dgm:t>
    </dgm:pt>
    <dgm:pt modelId="{DB6445F3-F436-42EE-9314-D72B65EB3831}" type="sibTrans" cxnId="{FF44E1A4-BDEB-4BA7-8C48-7F79314D5526}">
      <dgm:prSet/>
      <dgm:spPr/>
      <dgm:t>
        <a:bodyPr/>
        <a:lstStyle/>
        <a:p>
          <a:endParaRPr lang="fr-FR"/>
        </a:p>
      </dgm:t>
    </dgm:pt>
    <dgm:pt modelId="{4CD8E64E-7467-4935-ADA8-8DC24F36224A}">
      <dgm:prSet/>
      <dgm:spPr>
        <a:pattFill prst="ltDnDiag">
          <a:fgClr>
            <a:schemeClr val="accent1">
              <a:hueOff val="0"/>
              <a:satOff val="0"/>
              <a:lumOff val="0"/>
            </a:schemeClr>
          </a:fgClr>
          <a:bgClr>
            <a:schemeClr val="bg1"/>
          </a:bgClr>
        </a:pattFill>
      </dgm:spPr>
      <dgm:t>
        <a:bodyPr/>
        <a:lstStyle/>
        <a:p>
          <a:endParaRPr lang="fr-FR"/>
        </a:p>
      </dgm:t>
    </dgm:pt>
    <dgm:pt modelId="{45C95130-DB64-47D9-9B3B-99F109EE42EB}" type="parTrans" cxnId="{59200A14-3AC7-41F3-8466-D708CCA1CF14}">
      <dgm:prSet/>
      <dgm:spPr/>
      <dgm:t>
        <a:bodyPr/>
        <a:lstStyle/>
        <a:p>
          <a:endParaRPr lang="fr-FR"/>
        </a:p>
      </dgm:t>
    </dgm:pt>
    <dgm:pt modelId="{33C81E9B-F3E7-48B3-9055-175159379B29}" type="sibTrans" cxnId="{59200A14-3AC7-41F3-8466-D708CCA1CF14}">
      <dgm:prSet/>
      <dgm:spPr/>
      <dgm:t>
        <a:bodyPr/>
        <a:lstStyle/>
        <a:p>
          <a:endParaRPr lang="fr-FR"/>
        </a:p>
      </dgm:t>
    </dgm:pt>
    <dgm:pt modelId="{9AFE455A-CB26-4437-B95C-AAB3FEE0D85A}" type="pres">
      <dgm:prSet presAssocID="{7D60DA73-B90C-4199-B639-D51127CA6A00}" presName="Name0" presStyleCnt="0">
        <dgm:presLayoutVars>
          <dgm:dir/>
          <dgm:resizeHandles val="exact"/>
        </dgm:presLayoutVars>
      </dgm:prSet>
      <dgm:spPr/>
    </dgm:pt>
    <dgm:pt modelId="{A4982375-74B2-48B5-BD80-ADA2A9E56595}" type="pres">
      <dgm:prSet presAssocID="{524B48D8-69C0-4A3C-8314-A9F254AB566A}" presName="parTxOnly" presStyleLbl="node1" presStyleIdx="0" presStyleCnt="6" custScaleX="108925">
        <dgm:presLayoutVars>
          <dgm:bulletEnabled val="1"/>
        </dgm:presLayoutVars>
      </dgm:prSet>
      <dgm:spPr/>
    </dgm:pt>
    <dgm:pt modelId="{5902A67A-8684-437D-9B99-A9AAD2D62F41}" type="pres">
      <dgm:prSet presAssocID="{F389614A-94D0-4641-A935-500D13B007AC}" presName="parSpace" presStyleCnt="0"/>
      <dgm:spPr/>
    </dgm:pt>
    <dgm:pt modelId="{9E4C451D-8D00-4E99-A10A-90DD43FE74A8}" type="pres">
      <dgm:prSet presAssocID="{4CD8E64E-7467-4935-ADA8-8DC24F36224A}" presName="parTxOnly" presStyleLbl="node1" presStyleIdx="1" presStyleCnt="6" custScaleX="38754">
        <dgm:presLayoutVars>
          <dgm:bulletEnabled val="1"/>
        </dgm:presLayoutVars>
      </dgm:prSet>
      <dgm:spPr/>
    </dgm:pt>
    <dgm:pt modelId="{A5197239-C559-4B43-8516-64AED9CD7217}" type="pres">
      <dgm:prSet presAssocID="{33C81E9B-F3E7-48B3-9055-175159379B29}" presName="parSpace" presStyleCnt="0"/>
      <dgm:spPr/>
    </dgm:pt>
    <dgm:pt modelId="{665B90B7-521F-4F37-AB82-4B125A05A296}" type="pres">
      <dgm:prSet presAssocID="{516CA0D5-CACA-409F-BF17-5D40BD5E82BB}" presName="parTxOnly" presStyleLbl="node1" presStyleIdx="2" presStyleCnt="6" custScaleX="111650">
        <dgm:presLayoutVars>
          <dgm:bulletEnabled val="1"/>
        </dgm:presLayoutVars>
      </dgm:prSet>
      <dgm:spPr/>
    </dgm:pt>
    <dgm:pt modelId="{73A151DA-4F54-41F6-B1AE-7BD0CE7A1D2F}" type="pres">
      <dgm:prSet presAssocID="{2F0F5B50-5DA4-4CF5-8545-AA11360202B3}" presName="parSpace" presStyleCnt="0"/>
      <dgm:spPr/>
    </dgm:pt>
    <dgm:pt modelId="{8213350C-763D-41BA-8581-BD3794E086E7}" type="pres">
      <dgm:prSet presAssocID="{830FCAD9-6BCD-4414-A114-947C7FEF8A11}" presName="parTxOnly" presStyleLbl="node1" presStyleIdx="3" presStyleCnt="6" custScaleX="38397">
        <dgm:presLayoutVars>
          <dgm:bulletEnabled val="1"/>
        </dgm:presLayoutVars>
      </dgm:prSet>
      <dgm:spPr/>
    </dgm:pt>
    <dgm:pt modelId="{CC08F99F-EBA2-4A46-B9A0-EAB8E636F21A}" type="pres">
      <dgm:prSet presAssocID="{DB6445F3-F436-42EE-9314-D72B65EB3831}" presName="parSpace" presStyleCnt="0"/>
      <dgm:spPr/>
    </dgm:pt>
    <dgm:pt modelId="{DAE3A98E-5BC9-4648-AE52-0E840D8CB15E}" type="pres">
      <dgm:prSet presAssocID="{8D2744B6-8287-4C05-9297-7EFBB6E3A937}" presName="parTxOnly" presStyleLbl="node1" presStyleIdx="4" presStyleCnt="6" custScaleX="115008" custLinFactNeighborX="-8150" custLinFactNeighborY="-40">
        <dgm:presLayoutVars>
          <dgm:bulletEnabled val="1"/>
        </dgm:presLayoutVars>
      </dgm:prSet>
      <dgm:spPr/>
    </dgm:pt>
    <dgm:pt modelId="{1FC896E1-A523-4152-A094-B3564B3238DC}" type="pres">
      <dgm:prSet presAssocID="{EE97C067-A598-42CF-BA8E-B65129C16B71}" presName="parSpace" presStyleCnt="0"/>
      <dgm:spPr/>
    </dgm:pt>
    <dgm:pt modelId="{95F1E873-B045-4DBC-BA57-D41A5665A59C}" type="pres">
      <dgm:prSet presAssocID="{E09E9E27-77F3-47FE-8CB8-03D3FCD10213}" presName="parTxOnly" presStyleLbl="node1" presStyleIdx="5" presStyleCnt="6" custScaleX="127208">
        <dgm:presLayoutVars>
          <dgm:bulletEnabled val="1"/>
        </dgm:presLayoutVars>
      </dgm:prSet>
      <dgm:spPr/>
    </dgm:pt>
  </dgm:ptLst>
  <dgm:cxnLst>
    <dgm:cxn modelId="{F5C51B10-DAA6-4563-B7E7-CA8F57CF6406}" type="presOf" srcId="{E09E9E27-77F3-47FE-8CB8-03D3FCD10213}" destId="{95F1E873-B045-4DBC-BA57-D41A5665A59C}" srcOrd="0" destOrd="0" presId="urn:microsoft.com/office/officeart/2005/8/layout/hChevron3"/>
    <dgm:cxn modelId="{59200A14-3AC7-41F3-8466-D708CCA1CF14}" srcId="{7D60DA73-B90C-4199-B639-D51127CA6A00}" destId="{4CD8E64E-7467-4935-ADA8-8DC24F36224A}" srcOrd="1" destOrd="0" parTransId="{45C95130-DB64-47D9-9B3B-99F109EE42EB}" sibTransId="{33C81E9B-F3E7-48B3-9055-175159379B29}"/>
    <dgm:cxn modelId="{B1533D15-D453-4BEC-96E3-9DA0A8E03BC6}" srcId="{7D60DA73-B90C-4199-B639-D51127CA6A00}" destId="{E09E9E27-77F3-47FE-8CB8-03D3FCD10213}" srcOrd="5" destOrd="0" parTransId="{D6D64C00-5B97-4F6A-8C87-8802E53DCA5A}" sibTransId="{47BEE776-B253-4A8F-9FCF-75B85E630DD6}"/>
    <dgm:cxn modelId="{87DAF830-D997-431B-8F27-0137EC965365}" type="presOf" srcId="{4CD8E64E-7467-4935-ADA8-8DC24F36224A}" destId="{9E4C451D-8D00-4E99-A10A-90DD43FE74A8}" srcOrd="0" destOrd="0" presId="urn:microsoft.com/office/officeart/2005/8/layout/hChevron3"/>
    <dgm:cxn modelId="{69E5A744-970D-4E71-BE11-2B17FB66282A}" srcId="{7D60DA73-B90C-4199-B639-D51127CA6A00}" destId="{516CA0D5-CACA-409F-BF17-5D40BD5E82BB}" srcOrd="2" destOrd="0" parTransId="{6A1683CD-3C30-48D1-862E-761BBCEB92E5}" sibTransId="{2F0F5B50-5DA4-4CF5-8545-AA11360202B3}"/>
    <dgm:cxn modelId="{9470C54B-4F9A-49DC-B8E8-77CCBE3AFE8C}" type="presOf" srcId="{8D2744B6-8287-4C05-9297-7EFBB6E3A937}" destId="{DAE3A98E-5BC9-4648-AE52-0E840D8CB15E}" srcOrd="0" destOrd="0" presId="urn:microsoft.com/office/officeart/2005/8/layout/hChevron3"/>
    <dgm:cxn modelId="{9ADDD67B-1F72-4174-8BAD-A587B21819A8}" type="presOf" srcId="{7D60DA73-B90C-4199-B639-D51127CA6A00}" destId="{9AFE455A-CB26-4437-B95C-AAB3FEE0D85A}" srcOrd="0" destOrd="0" presId="urn:microsoft.com/office/officeart/2005/8/layout/hChevron3"/>
    <dgm:cxn modelId="{1E58C6A2-465C-4C6D-8B8F-8EA972B46725}" type="presOf" srcId="{516CA0D5-CACA-409F-BF17-5D40BD5E82BB}" destId="{665B90B7-521F-4F37-AB82-4B125A05A296}" srcOrd="0" destOrd="0" presId="urn:microsoft.com/office/officeart/2005/8/layout/hChevron3"/>
    <dgm:cxn modelId="{FF44E1A4-BDEB-4BA7-8C48-7F79314D5526}" srcId="{7D60DA73-B90C-4199-B639-D51127CA6A00}" destId="{830FCAD9-6BCD-4414-A114-947C7FEF8A11}" srcOrd="3" destOrd="0" parTransId="{75E49376-ED30-4C8C-96F6-1D3D45B2C145}" sibTransId="{DB6445F3-F436-42EE-9314-D72B65EB3831}"/>
    <dgm:cxn modelId="{85E4A7AE-901D-4404-B1FB-AB459B7536F8}" srcId="{7D60DA73-B90C-4199-B639-D51127CA6A00}" destId="{8D2744B6-8287-4C05-9297-7EFBB6E3A937}" srcOrd="4" destOrd="0" parTransId="{6722C0B9-1EC4-4692-987B-C7CDD4CCFE24}" sibTransId="{EE97C067-A598-42CF-BA8E-B65129C16B71}"/>
    <dgm:cxn modelId="{19B3D9EF-22E0-4461-A5AB-57C29650FBB6}" srcId="{7D60DA73-B90C-4199-B639-D51127CA6A00}" destId="{524B48D8-69C0-4A3C-8314-A9F254AB566A}" srcOrd="0" destOrd="0" parTransId="{8B1FC3FC-84B0-4B57-B365-243C17B801C1}" sibTransId="{F389614A-94D0-4641-A935-500D13B007AC}"/>
    <dgm:cxn modelId="{A7B157F9-692A-44B7-B104-F1144DAEA4BB}" type="presOf" srcId="{830FCAD9-6BCD-4414-A114-947C7FEF8A11}" destId="{8213350C-763D-41BA-8581-BD3794E086E7}" srcOrd="0" destOrd="0" presId="urn:microsoft.com/office/officeart/2005/8/layout/hChevron3"/>
    <dgm:cxn modelId="{B2C693FB-6398-4B9E-8486-809B44BF2034}" type="presOf" srcId="{524B48D8-69C0-4A3C-8314-A9F254AB566A}" destId="{A4982375-74B2-48B5-BD80-ADA2A9E56595}" srcOrd="0" destOrd="0" presId="urn:microsoft.com/office/officeart/2005/8/layout/hChevron3"/>
    <dgm:cxn modelId="{37C620B7-B9DC-4782-87C1-6279FE224BB7}" type="presParOf" srcId="{9AFE455A-CB26-4437-B95C-AAB3FEE0D85A}" destId="{A4982375-74B2-48B5-BD80-ADA2A9E56595}" srcOrd="0" destOrd="0" presId="urn:microsoft.com/office/officeart/2005/8/layout/hChevron3"/>
    <dgm:cxn modelId="{BC1988FC-6EBC-42BF-8462-4357C07BCD8F}" type="presParOf" srcId="{9AFE455A-CB26-4437-B95C-AAB3FEE0D85A}" destId="{5902A67A-8684-437D-9B99-A9AAD2D62F41}" srcOrd="1" destOrd="0" presId="urn:microsoft.com/office/officeart/2005/8/layout/hChevron3"/>
    <dgm:cxn modelId="{37A7C473-C999-4936-A2F3-EC83187B3208}" type="presParOf" srcId="{9AFE455A-CB26-4437-B95C-AAB3FEE0D85A}" destId="{9E4C451D-8D00-4E99-A10A-90DD43FE74A8}" srcOrd="2" destOrd="0" presId="urn:microsoft.com/office/officeart/2005/8/layout/hChevron3"/>
    <dgm:cxn modelId="{7D9998F0-3AB3-41FD-9BF2-BB0E0C935E58}" type="presParOf" srcId="{9AFE455A-CB26-4437-B95C-AAB3FEE0D85A}" destId="{A5197239-C559-4B43-8516-64AED9CD7217}" srcOrd="3" destOrd="0" presId="urn:microsoft.com/office/officeart/2005/8/layout/hChevron3"/>
    <dgm:cxn modelId="{DA950F5D-4CF8-4414-BA6A-104714350189}" type="presParOf" srcId="{9AFE455A-CB26-4437-B95C-AAB3FEE0D85A}" destId="{665B90B7-521F-4F37-AB82-4B125A05A296}" srcOrd="4" destOrd="0" presId="urn:microsoft.com/office/officeart/2005/8/layout/hChevron3"/>
    <dgm:cxn modelId="{7D608A77-8518-4666-BA33-28A9B47D027D}" type="presParOf" srcId="{9AFE455A-CB26-4437-B95C-AAB3FEE0D85A}" destId="{73A151DA-4F54-41F6-B1AE-7BD0CE7A1D2F}" srcOrd="5" destOrd="0" presId="urn:microsoft.com/office/officeart/2005/8/layout/hChevron3"/>
    <dgm:cxn modelId="{A510D67D-1A4B-46E6-9DB7-27B917FCD69E}" type="presParOf" srcId="{9AFE455A-CB26-4437-B95C-AAB3FEE0D85A}" destId="{8213350C-763D-41BA-8581-BD3794E086E7}" srcOrd="6" destOrd="0" presId="urn:microsoft.com/office/officeart/2005/8/layout/hChevron3"/>
    <dgm:cxn modelId="{62299DB9-B78F-43FC-A5BA-EB32B186297D}" type="presParOf" srcId="{9AFE455A-CB26-4437-B95C-AAB3FEE0D85A}" destId="{CC08F99F-EBA2-4A46-B9A0-EAB8E636F21A}" srcOrd="7" destOrd="0" presId="urn:microsoft.com/office/officeart/2005/8/layout/hChevron3"/>
    <dgm:cxn modelId="{4C1EDE1C-5B18-404D-9BDF-04E278BC583C}" type="presParOf" srcId="{9AFE455A-CB26-4437-B95C-AAB3FEE0D85A}" destId="{DAE3A98E-5BC9-4648-AE52-0E840D8CB15E}" srcOrd="8" destOrd="0" presId="urn:microsoft.com/office/officeart/2005/8/layout/hChevron3"/>
    <dgm:cxn modelId="{E615A2B5-6652-438D-959A-DFAAF221DAAD}" type="presParOf" srcId="{9AFE455A-CB26-4437-B95C-AAB3FEE0D85A}" destId="{1FC896E1-A523-4152-A094-B3564B3238DC}" srcOrd="9" destOrd="0" presId="urn:microsoft.com/office/officeart/2005/8/layout/hChevron3"/>
    <dgm:cxn modelId="{3408345F-16B3-41EC-B65F-8498AD4FBA7F}" type="presParOf" srcId="{9AFE455A-CB26-4437-B95C-AAB3FEE0D85A}" destId="{95F1E873-B045-4DBC-BA57-D41A5665A59C}"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60DA73-B90C-4199-B639-D51127CA6A00}"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fr-FR"/>
        </a:p>
      </dgm:t>
    </dgm:pt>
    <dgm:pt modelId="{524B48D8-69C0-4A3C-8314-A9F254AB566A}">
      <dgm:prSet phldrT="[Texte]" custT="1"/>
      <dgm:spPr>
        <a:solidFill>
          <a:schemeClr val="tx1">
            <a:lumMod val="50000"/>
            <a:lumOff val="50000"/>
            <a:alpha val="85000"/>
          </a:schemeClr>
        </a:solidFill>
      </dgm:spPr>
      <dgm:t>
        <a:bodyPr/>
        <a:lstStyle/>
        <a:p>
          <a:r>
            <a:rPr lang="fr-FR" sz="1600" dirty="0"/>
            <a:t>Sprint</a:t>
          </a:r>
        </a:p>
        <a:p>
          <a:r>
            <a:rPr lang="fr-FR" sz="1600" dirty="0"/>
            <a:t>Planning</a:t>
          </a:r>
        </a:p>
      </dgm:t>
    </dgm:pt>
    <dgm:pt modelId="{8B1FC3FC-84B0-4B57-B365-243C17B801C1}" type="parTrans" cxnId="{19B3D9EF-22E0-4461-A5AB-57C29650FBB6}">
      <dgm:prSet/>
      <dgm:spPr/>
      <dgm:t>
        <a:bodyPr/>
        <a:lstStyle/>
        <a:p>
          <a:endParaRPr lang="fr-FR"/>
        </a:p>
      </dgm:t>
    </dgm:pt>
    <dgm:pt modelId="{F389614A-94D0-4641-A935-500D13B007AC}" type="sibTrans" cxnId="{19B3D9EF-22E0-4461-A5AB-57C29650FBB6}">
      <dgm:prSet/>
      <dgm:spPr/>
      <dgm:t>
        <a:bodyPr/>
        <a:lstStyle/>
        <a:p>
          <a:endParaRPr lang="fr-FR"/>
        </a:p>
      </dgm:t>
    </dgm:pt>
    <dgm:pt modelId="{516CA0D5-CACA-409F-BF17-5D40BD5E82BB}">
      <dgm:prSet phldrT="[Texte]" custT="1"/>
      <dgm:spPr>
        <a:solidFill>
          <a:srgbClr val="C00000">
            <a:alpha val="85000"/>
          </a:srgbClr>
        </a:solidFill>
      </dgm:spPr>
      <dgm:t>
        <a:bodyPr/>
        <a:lstStyle/>
        <a:p>
          <a:r>
            <a:rPr lang="fr-FR" sz="1600" dirty="0"/>
            <a:t>Daily</a:t>
          </a:r>
        </a:p>
        <a:p>
          <a:r>
            <a:rPr lang="fr-FR" sz="1600" dirty="0"/>
            <a:t>Scrum</a:t>
          </a:r>
        </a:p>
      </dgm:t>
    </dgm:pt>
    <dgm:pt modelId="{6A1683CD-3C30-48D1-862E-761BBCEB92E5}" type="parTrans" cxnId="{69E5A744-970D-4E71-BE11-2B17FB66282A}">
      <dgm:prSet/>
      <dgm:spPr/>
      <dgm:t>
        <a:bodyPr/>
        <a:lstStyle/>
        <a:p>
          <a:endParaRPr lang="fr-FR"/>
        </a:p>
      </dgm:t>
    </dgm:pt>
    <dgm:pt modelId="{2F0F5B50-5DA4-4CF5-8545-AA11360202B3}" type="sibTrans" cxnId="{69E5A744-970D-4E71-BE11-2B17FB66282A}">
      <dgm:prSet/>
      <dgm:spPr/>
      <dgm:t>
        <a:bodyPr/>
        <a:lstStyle/>
        <a:p>
          <a:endParaRPr lang="fr-FR"/>
        </a:p>
      </dgm:t>
    </dgm:pt>
    <dgm:pt modelId="{8D2744B6-8287-4C05-9297-7EFBB6E3A937}">
      <dgm:prSet phldrT="[Texte]" custT="1"/>
      <dgm:spPr>
        <a:solidFill>
          <a:srgbClr val="3D64A9">
            <a:alpha val="85000"/>
          </a:srgbClr>
        </a:solidFill>
      </dgm:spPr>
      <dgm:t>
        <a:bodyPr/>
        <a:lstStyle/>
        <a:p>
          <a:r>
            <a:rPr lang="fr-FR" sz="1600" dirty="0"/>
            <a:t>Sprint</a:t>
          </a:r>
        </a:p>
        <a:p>
          <a:r>
            <a:rPr lang="fr-FR" sz="1600" dirty="0"/>
            <a:t>Review</a:t>
          </a:r>
        </a:p>
      </dgm:t>
    </dgm:pt>
    <dgm:pt modelId="{6722C0B9-1EC4-4692-987B-C7CDD4CCFE24}" type="parTrans" cxnId="{85E4A7AE-901D-4404-B1FB-AB459B7536F8}">
      <dgm:prSet/>
      <dgm:spPr/>
      <dgm:t>
        <a:bodyPr/>
        <a:lstStyle/>
        <a:p>
          <a:endParaRPr lang="fr-FR"/>
        </a:p>
      </dgm:t>
    </dgm:pt>
    <dgm:pt modelId="{EE97C067-A598-42CF-BA8E-B65129C16B71}" type="sibTrans" cxnId="{85E4A7AE-901D-4404-B1FB-AB459B7536F8}">
      <dgm:prSet/>
      <dgm:spPr/>
      <dgm:t>
        <a:bodyPr/>
        <a:lstStyle/>
        <a:p>
          <a:endParaRPr lang="fr-FR"/>
        </a:p>
      </dgm:t>
    </dgm:pt>
    <dgm:pt modelId="{E09E9E27-77F3-47FE-8CB8-03D3FCD10213}">
      <dgm:prSet custT="1"/>
      <dgm:spPr>
        <a:solidFill>
          <a:srgbClr val="3D64A9">
            <a:alpha val="85000"/>
          </a:srgbClr>
        </a:solidFill>
      </dgm:spPr>
      <dgm:t>
        <a:bodyPr/>
        <a:lstStyle/>
        <a:p>
          <a:r>
            <a:rPr lang="fr-FR" sz="1600" dirty="0"/>
            <a:t>Sprint</a:t>
          </a:r>
        </a:p>
        <a:p>
          <a:r>
            <a:rPr lang="fr-FR" sz="1600" dirty="0"/>
            <a:t>Retrospective</a:t>
          </a:r>
        </a:p>
      </dgm:t>
    </dgm:pt>
    <dgm:pt modelId="{D6D64C00-5B97-4F6A-8C87-8802E53DCA5A}" type="parTrans" cxnId="{B1533D15-D453-4BEC-96E3-9DA0A8E03BC6}">
      <dgm:prSet/>
      <dgm:spPr/>
      <dgm:t>
        <a:bodyPr/>
        <a:lstStyle/>
        <a:p>
          <a:endParaRPr lang="fr-FR"/>
        </a:p>
      </dgm:t>
    </dgm:pt>
    <dgm:pt modelId="{47BEE776-B253-4A8F-9FCF-75B85E630DD6}" type="sibTrans" cxnId="{B1533D15-D453-4BEC-96E3-9DA0A8E03BC6}">
      <dgm:prSet/>
      <dgm:spPr/>
      <dgm:t>
        <a:bodyPr/>
        <a:lstStyle/>
        <a:p>
          <a:endParaRPr lang="fr-FR"/>
        </a:p>
      </dgm:t>
    </dgm:pt>
    <dgm:pt modelId="{830FCAD9-6BCD-4414-A114-947C7FEF8A11}">
      <dgm:prSet/>
      <dgm:spPr>
        <a:pattFill prst="ltDnDiag">
          <a:fgClr>
            <a:schemeClr val="accent1">
              <a:hueOff val="0"/>
              <a:satOff val="0"/>
              <a:lumOff val="0"/>
            </a:schemeClr>
          </a:fgClr>
          <a:bgClr>
            <a:schemeClr val="bg1"/>
          </a:bgClr>
        </a:pattFill>
      </dgm:spPr>
      <dgm:t>
        <a:bodyPr/>
        <a:lstStyle/>
        <a:p>
          <a:endParaRPr lang="fr-FR"/>
        </a:p>
      </dgm:t>
    </dgm:pt>
    <dgm:pt modelId="{75E49376-ED30-4C8C-96F6-1D3D45B2C145}" type="parTrans" cxnId="{FF44E1A4-BDEB-4BA7-8C48-7F79314D5526}">
      <dgm:prSet/>
      <dgm:spPr/>
      <dgm:t>
        <a:bodyPr/>
        <a:lstStyle/>
        <a:p>
          <a:endParaRPr lang="fr-FR"/>
        </a:p>
      </dgm:t>
    </dgm:pt>
    <dgm:pt modelId="{DB6445F3-F436-42EE-9314-D72B65EB3831}" type="sibTrans" cxnId="{FF44E1A4-BDEB-4BA7-8C48-7F79314D5526}">
      <dgm:prSet/>
      <dgm:spPr/>
      <dgm:t>
        <a:bodyPr/>
        <a:lstStyle/>
        <a:p>
          <a:endParaRPr lang="fr-FR"/>
        </a:p>
      </dgm:t>
    </dgm:pt>
    <dgm:pt modelId="{4CD8E64E-7467-4935-ADA8-8DC24F36224A}">
      <dgm:prSet/>
      <dgm:spPr>
        <a:pattFill prst="ltDnDiag">
          <a:fgClr>
            <a:schemeClr val="accent1">
              <a:hueOff val="0"/>
              <a:satOff val="0"/>
              <a:lumOff val="0"/>
            </a:schemeClr>
          </a:fgClr>
          <a:bgClr>
            <a:schemeClr val="bg1"/>
          </a:bgClr>
        </a:pattFill>
      </dgm:spPr>
      <dgm:t>
        <a:bodyPr/>
        <a:lstStyle/>
        <a:p>
          <a:endParaRPr lang="fr-FR"/>
        </a:p>
      </dgm:t>
    </dgm:pt>
    <dgm:pt modelId="{45C95130-DB64-47D9-9B3B-99F109EE42EB}" type="parTrans" cxnId="{59200A14-3AC7-41F3-8466-D708CCA1CF14}">
      <dgm:prSet/>
      <dgm:spPr/>
      <dgm:t>
        <a:bodyPr/>
        <a:lstStyle/>
        <a:p>
          <a:endParaRPr lang="fr-FR"/>
        </a:p>
      </dgm:t>
    </dgm:pt>
    <dgm:pt modelId="{33C81E9B-F3E7-48B3-9055-175159379B29}" type="sibTrans" cxnId="{59200A14-3AC7-41F3-8466-D708CCA1CF14}">
      <dgm:prSet/>
      <dgm:spPr/>
      <dgm:t>
        <a:bodyPr/>
        <a:lstStyle/>
        <a:p>
          <a:endParaRPr lang="fr-FR"/>
        </a:p>
      </dgm:t>
    </dgm:pt>
    <dgm:pt modelId="{9AFE455A-CB26-4437-B95C-AAB3FEE0D85A}" type="pres">
      <dgm:prSet presAssocID="{7D60DA73-B90C-4199-B639-D51127CA6A00}" presName="Name0" presStyleCnt="0">
        <dgm:presLayoutVars>
          <dgm:dir/>
          <dgm:resizeHandles val="exact"/>
        </dgm:presLayoutVars>
      </dgm:prSet>
      <dgm:spPr/>
    </dgm:pt>
    <dgm:pt modelId="{A4982375-74B2-48B5-BD80-ADA2A9E56595}" type="pres">
      <dgm:prSet presAssocID="{524B48D8-69C0-4A3C-8314-A9F254AB566A}" presName="parTxOnly" presStyleLbl="node1" presStyleIdx="0" presStyleCnt="6" custScaleX="108925">
        <dgm:presLayoutVars>
          <dgm:bulletEnabled val="1"/>
        </dgm:presLayoutVars>
      </dgm:prSet>
      <dgm:spPr/>
    </dgm:pt>
    <dgm:pt modelId="{5902A67A-8684-437D-9B99-A9AAD2D62F41}" type="pres">
      <dgm:prSet presAssocID="{F389614A-94D0-4641-A935-500D13B007AC}" presName="parSpace" presStyleCnt="0"/>
      <dgm:spPr/>
    </dgm:pt>
    <dgm:pt modelId="{9E4C451D-8D00-4E99-A10A-90DD43FE74A8}" type="pres">
      <dgm:prSet presAssocID="{4CD8E64E-7467-4935-ADA8-8DC24F36224A}" presName="parTxOnly" presStyleLbl="node1" presStyleIdx="1" presStyleCnt="6" custScaleX="38754">
        <dgm:presLayoutVars>
          <dgm:bulletEnabled val="1"/>
        </dgm:presLayoutVars>
      </dgm:prSet>
      <dgm:spPr/>
    </dgm:pt>
    <dgm:pt modelId="{A5197239-C559-4B43-8516-64AED9CD7217}" type="pres">
      <dgm:prSet presAssocID="{33C81E9B-F3E7-48B3-9055-175159379B29}" presName="parSpace" presStyleCnt="0"/>
      <dgm:spPr/>
    </dgm:pt>
    <dgm:pt modelId="{665B90B7-521F-4F37-AB82-4B125A05A296}" type="pres">
      <dgm:prSet presAssocID="{516CA0D5-CACA-409F-BF17-5D40BD5E82BB}" presName="parTxOnly" presStyleLbl="node1" presStyleIdx="2" presStyleCnt="6" custScaleX="111650">
        <dgm:presLayoutVars>
          <dgm:bulletEnabled val="1"/>
        </dgm:presLayoutVars>
      </dgm:prSet>
      <dgm:spPr/>
    </dgm:pt>
    <dgm:pt modelId="{73A151DA-4F54-41F6-B1AE-7BD0CE7A1D2F}" type="pres">
      <dgm:prSet presAssocID="{2F0F5B50-5DA4-4CF5-8545-AA11360202B3}" presName="parSpace" presStyleCnt="0"/>
      <dgm:spPr/>
    </dgm:pt>
    <dgm:pt modelId="{8213350C-763D-41BA-8581-BD3794E086E7}" type="pres">
      <dgm:prSet presAssocID="{830FCAD9-6BCD-4414-A114-947C7FEF8A11}" presName="parTxOnly" presStyleLbl="node1" presStyleIdx="3" presStyleCnt="6" custScaleX="38397">
        <dgm:presLayoutVars>
          <dgm:bulletEnabled val="1"/>
        </dgm:presLayoutVars>
      </dgm:prSet>
      <dgm:spPr/>
    </dgm:pt>
    <dgm:pt modelId="{CC08F99F-EBA2-4A46-B9A0-EAB8E636F21A}" type="pres">
      <dgm:prSet presAssocID="{DB6445F3-F436-42EE-9314-D72B65EB3831}" presName="parSpace" presStyleCnt="0"/>
      <dgm:spPr/>
    </dgm:pt>
    <dgm:pt modelId="{DAE3A98E-5BC9-4648-AE52-0E840D8CB15E}" type="pres">
      <dgm:prSet presAssocID="{8D2744B6-8287-4C05-9297-7EFBB6E3A937}" presName="parTxOnly" presStyleLbl="node1" presStyleIdx="4" presStyleCnt="6" custScaleX="115008" custLinFactNeighborX="-8150" custLinFactNeighborY="-40">
        <dgm:presLayoutVars>
          <dgm:bulletEnabled val="1"/>
        </dgm:presLayoutVars>
      </dgm:prSet>
      <dgm:spPr/>
    </dgm:pt>
    <dgm:pt modelId="{1FC896E1-A523-4152-A094-B3564B3238DC}" type="pres">
      <dgm:prSet presAssocID="{EE97C067-A598-42CF-BA8E-B65129C16B71}" presName="parSpace" presStyleCnt="0"/>
      <dgm:spPr/>
    </dgm:pt>
    <dgm:pt modelId="{95F1E873-B045-4DBC-BA57-D41A5665A59C}" type="pres">
      <dgm:prSet presAssocID="{E09E9E27-77F3-47FE-8CB8-03D3FCD10213}" presName="parTxOnly" presStyleLbl="node1" presStyleIdx="5" presStyleCnt="6" custScaleX="127208">
        <dgm:presLayoutVars>
          <dgm:bulletEnabled val="1"/>
        </dgm:presLayoutVars>
      </dgm:prSet>
      <dgm:spPr/>
    </dgm:pt>
  </dgm:ptLst>
  <dgm:cxnLst>
    <dgm:cxn modelId="{59200A14-3AC7-41F3-8466-D708CCA1CF14}" srcId="{7D60DA73-B90C-4199-B639-D51127CA6A00}" destId="{4CD8E64E-7467-4935-ADA8-8DC24F36224A}" srcOrd="1" destOrd="0" parTransId="{45C95130-DB64-47D9-9B3B-99F109EE42EB}" sibTransId="{33C81E9B-F3E7-48B3-9055-175159379B29}"/>
    <dgm:cxn modelId="{B1533D15-D453-4BEC-96E3-9DA0A8E03BC6}" srcId="{7D60DA73-B90C-4199-B639-D51127CA6A00}" destId="{E09E9E27-77F3-47FE-8CB8-03D3FCD10213}" srcOrd="5" destOrd="0" parTransId="{D6D64C00-5B97-4F6A-8C87-8802E53DCA5A}" sibTransId="{47BEE776-B253-4A8F-9FCF-75B85E630DD6}"/>
    <dgm:cxn modelId="{05D8FD21-6C34-44AE-B2F2-EFD114309159}" type="presOf" srcId="{E09E9E27-77F3-47FE-8CB8-03D3FCD10213}" destId="{95F1E873-B045-4DBC-BA57-D41A5665A59C}" srcOrd="0" destOrd="0" presId="urn:microsoft.com/office/officeart/2005/8/layout/hChevron3"/>
    <dgm:cxn modelId="{20168436-C048-4976-9667-A84DE35673F2}" type="presOf" srcId="{7D60DA73-B90C-4199-B639-D51127CA6A00}" destId="{9AFE455A-CB26-4437-B95C-AAB3FEE0D85A}" srcOrd="0" destOrd="0" presId="urn:microsoft.com/office/officeart/2005/8/layout/hChevron3"/>
    <dgm:cxn modelId="{69E5A744-970D-4E71-BE11-2B17FB66282A}" srcId="{7D60DA73-B90C-4199-B639-D51127CA6A00}" destId="{516CA0D5-CACA-409F-BF17-5D40BD5E82BB}" srcOrd="2" destOrd="0" parTransId="{6A1683CD-3C30-48D1-862E-761BBCEB92E5}" sibTransId="{2F0F5B50-5DA4-4CF5-8545-AA11360202B3}"/>
    <dgm:cxn modelId="{4F99E78E-F52D-4A96-AC40-589A28308F8C}" type="presOf" srcId="{4CD8E64E-7467-4935-ADA8-8DC24F36224A}" destId="{9E4C451D-8D00-4E99-A10A-90DD43FE74A8}" srcOrd="0" destOrd="0" presId="urn:microsoft.com/office/officeart/2005/8/layout/hChevron3"/>
    <dgm:cxn modelId="{487AA29E-27B4-4FB2-B8C5-FA52263AD0BC}" type="presOf" srcId="{516CA0D5-CACA-409F-BF17-5D40BD5E82BB}" destId="{665B90B7-521F-4F37-AB82-4B125A05A296}" srcOrd="0" destOrd="0" presId="urn:microsoft.com/office/officeart/2005/8/layout/hChevron3"/>
    <dgm:cxn modelId="{FF44E1A4-BDEB-4BA7-8C48-7F79314D5526}" srcId="{7D60DA73-B90C-4199-B639-D51127CA6A00}" destId="{830FCAD9-6BCD-4414-A114-947C7FEF8A11}" srcOrd="3" destOrd="0" parTransId="{75E49376-ED30-4C8C-96F6-1D3D45B2C145}" sibTransId="{DB6445F3-F436-42EE-9314-D72B65EB3831}"/>
    <dgm:cxn modelId="{85E4A7AE-901D-4404-B1FB-AB459B7536F8}" srcId="{7D60DA73-B90C-4199-B639-D51127CA6A00}" destId="{8D2744B6-8287-4C05-9297-7EFBB6E3A937}" srcOrd="4" destOrd="0" parTransId="{6722C0B9-1EC4-4692-987B-C7CDD4CCFE24}" sibTransId="{EE97C067-A598-42CF-BA8E-B65129C16B71}"/>
    <dgm:cxn modelId="{926077DA-095B-46F3-AC6B-FC593F0CBE52}" type="presOf" srcId="{524B48D8-69C0-4A3C-8314-A9F254AB566A}" destId="{A4982375-74B2-48B5-BD80-ADA2A9E56595}" srcOrd="0" destOrd="0" presId="urn:microsoft.com/office/officeart/2005/8/layout/hChevron3"/>
    <dgm:cxn modelId="{F118C9DD-438F-40E8-996C-1C6D1498D3F0}" type="presOf" srcId="{8D2744B6-8287-4C05-9297-7EFBB6E3A937}" destId="{DAE3A98E-5BC9-4648-AE52-0E840D8CB15E}" srcOrd="0" destOrd="0" presId="urn:microsoft.com/office/officeart/2005/8/layout/hChevron3"/>
    <dgm:cxn modelId="{19B3D9EF-22E0-4461-A5AB-57C29650FBB6}" srcId="{7D60DA73-B90C-4199-B639-D51127CA6A00}" destId="{524B48D8-69C0-4A3C-8314-A9F254AB566A}" srcOrd="0" destOrd="0" parTransId="{8B1FC3FC-84B0-4B57-B365-243C17B801C1}" sibTransId="{F389614A-94D0-4641-A935-500D13B007AC}"/>
    <dgm:cxn modelId="{52AD6CFE-D24B-4BBF-BBDE-8C48F268F944}" type="presOf" srcId="{830FCAD9-6BCD-4414-A114-947C7FEF8A11}" destId="{8213350C-763D-41BA-8581-BD3794E086E7}" srcOrd="0" destOrd="0" presId="urn:microsoft.com/office/officeart/2005/8/layout/hChevron3"/>
    <dgm:cxn modelId="{D2DB816D-D249-414A-AD24-E4A27BDC052F}" type="presParOf" srcId="{9AFE455A-CB26-4437-B95C-AAB3FEE0D85A}" destId="{A4982375-74B2-48B5-BD80-ADA2A9E56595}" srcOrd="0" destOrd="0" presId="urn:microsoft.com/office/officeart/2005/8/layout/hChevron3"/>
    <dgm:cxn modelId="{C173E2D6-30B9-4A49-9684-844FA0646378}" type="presParOf" srcId="{9AFE455A-CB26-4437-B95C-AAB3FEE0D85A}" destId="{5902A67A-8684-437D-9B99-A9AAD2D62F41}" srcOrd="1" destOrd="0" presId="urn:microsoft.com/office/officeart/2005/8/layout/hChevron3"/>
    <dgm:cxn modelId="{821E2D5A-271B-4B0C-9969-6F4188C67373}" type="presParOf" srcId="{9AFE455A-CB26-4437-B95C-AAB3FEE0D85A}" destId="{9E4C451D-8D00-4E99-A10A-90DD43FE74A8}" srcOrd="2" destOrd="0" presId="urn:microsoft.com/office/officeart/2005/8/layout/hChevron3"/>
    <dgm:cxn modelId="{DAC2585D-105E-4F4E-A777-14F1F96A80AD}" type="presParOf" srcId="{9AFE455A-CB26-4437-B95C-AAB3FEE0D85A}" destId="{A5197239-C559-4B43-8516-64AED9CD7217}" srcOrd="3" destOrd="0" presId="urn:microsoft.com/office/officeart/2005/8/layout/hChevron3"/>
    <dgm:cxn modelId="{93225A1B-0747-4EAC-BE12-A49375C3A3BE}" type="presParOf" srcId="{9AFE455A-CB26-4437-B95C-AAB3FEE0D85A}" destId="{665B90B7-521F-4F37-AB82-4B125A05A296}" srcOrd="4" destOrd="0" presId="urn:microsoft.com/office/officeart/2005/8/layout/hChevron3"/>
    <dgm:cxn modelId="{2592C5EF-9549-481E-B280-532A0E0C2F3E}" type="presParOf" srcId="{9AFE455A-CB26-4437-B95C-AAB3FEE0D85A}" destId="{73A151DA-4F54-41F6-B1AE-7BD0CE7A1D2F}" srcOrd="5" destOrd="0" presId="urn:microsoft.com/office/officeart/2005/8/layout/hChevron3"/>
    <dgm:cxn modelId="{E0F008F1-757F-4F77-AB9A-2A5832AB5F70}" type="presParOf" srcId="{9AFE455A-CB26-4437-B95C-AAB3FEE0D85A}" destId="{8213350C-763D-41BA-8581-BD3794E086E7}" srcOrd="6" destOrd="0" presId="urn:microsoft.com/office/officeart/2005/8/layout/hChevron3"/>
    <dgm:cxn modelId="{3E38289C-5E15-4042-87BD-629E29914BE7}" type="presParOf" srcId="{9AFE455A-CB26-4437-B95C-AAB3FEE0D85A}" destId="{CC08F99F-EBA2-4A46-B9A0-EAB8E636F21A}" srcOrd="7" destOrd="0" presId="urn:microsoft.com/office/officeart/2005/8/layout/hChevron3"/>
    <dgm:cxn modelId="{E1391179-9235-4A47-B14C-817A70B0D893}" type="presParOf" srcId="{9AFE455A-CB26-4437-B95C-AAB3FEE0D85A}" destId="{DAE3A98E-5BC9-4648-AE52-0E840D8CB15E}" srcOrd="8" destOrd="0" presId="urn:microsoft.com/office/officeart/2005/8/layout/hChevron3"/>
    <dgm:cxn modelId="{D9463A25-3E62-40F7-ACDA-F0742B38DB4C}" type="presParOf" srcId="{9AFE455A-CB26-4437-B95C-AAB3FEE0D85A}" destId="{1FC896E1-A523-4152-A094-B3564B3238DC}" srcOrd="9" destOrd="0" presId="urn:microsoft.com/office/officeart/2005/8/layout/hChevron3"/>
    <dgm:cxn modelId="{2E2EC4DB-B17D-497B-914A-9D72545F7113}" type="presParOf" srcId="{9AFE455A-CB26-4437-B95C-AAB3FEE0D85A}" destId="{95F1E873-B045-4DBC-BA57-D41A5665A59C}"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60DA73-B90C-4199-B639-D51127CA6A00}"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fr-FR"/>
        </a:p>
      </dgm:t>
    </dgm:pt>
    <dgm:pt modelId="{524B48D8-69C0-4A3C-8314-A9F254AB566A}">
      <dgm:prSet phldrT="[Texte]" custT="1"/>
      <dgm:spPr>
        <a:solidFill>
          <a:schemeClr val="tx1">
            <a:lumMod val="50000"/>
            <a:lumOff val="50000"/>
            <a:alpha val="85000"/>
          </a:schemeClr>
        </a:solidFill>
      </dgm:spPr>
      <dgm:t>
        <a:bodyPr/>
        <a:lstStyle/>
        <a:p>
          <a:r>
            <a:rPr lang="fr-FR" sz="1600" dirty="0"/>
            <a:t>Sprint</a:t>
          </a:r>
        </a:p>
        <a:p>
          <a:r>
            <a:rPr lang="fr-FR" sz="1600" dirty="0"/>
            <a:t>Planning</a:t>
          </a:r>
        </a:p>
      </dgm:t>
    </dgm:pt>
    <dgm:pt modelId="{8B1FC3FC-84B0-4B57-B365-243C17B801C1}" type="parTrans" cxnId="{19B3D9EF-22E0-4461-A5AB-57C29650FBB6}">
      <dgm:prSet/>
      <dgm:spPr/>
      <dgm:t>
        <a:bodyPr/>
        <a:lstStyle/>
        <a:p>
          <a:endParaRPr lang="fr-FR"/>
        </a:p>
      </dgm:t>
    </dgm:pt>
    <dgm:pt modelId="{F389614A-94D0-4641-A935-500D13B007AC}" type="sibTrans" cxnId="{19B3D9EF-22E0-4461-A5AB-57C29650FBB6}">
      <dgm:prSet/>
      <dgm:spPr/>
      <dgm:t>
        <a:bodyPr/>
        <a:lstStyle/>
        <a:p>
          <a:endParaRPr lang="fr-FR"/>
        </a:p>
      </dgm:t>
    </dgm:pt>
    <dgm:pt modelId="{516CA0D5-CACA-409F-BF17-5D40BD5E82BB}">
      <dgm:prSet phldrT="[Texte]" custT="1"/>
      <dgm:spPr>
        <a:solidFill>
          <a:schemeClr val="tx1">
            <a:lumMod val="50000"/>
            <a:lumOff val="50000"/>
            <a:alpha val="85000"/>
          </a:schemeClr>
        </a:solidFill>
      </dgm:spPr>
      <dgm:t>
        <a:bodyPr/>
        <a:lstStyle/>
        <a:p>
          <a:r>
            <a:rPr lang="fr-FR" sz="1600" dirty="0"/>
            <a:t>Daily</a:t>
          </a:r>
        </a:p>
        <a:p>
          <a:r>
            <a:rPr lang="fr-FR" sz="1600" dirty="0"/>
            <a:t>Scrum</a:t>
          </a:r>
        </a:p>
      </dgm:t>
    </dgm:pt>
    <dgm:pt modelId="{6A1683CD-3C30-48D1-862E-761BBCEB92E5}" type="parTrans" cxnId="{69E5A744-970D-4E71-BE11-2B17FB66282A}">
      <dgm:prSet/>
      <dgm:spPr/>
      <dgm:t>
        <a:bodyPr/>
        <a:lstStyle/>
        <a:p>
          <a:endParaRPr lang="fr-FR"/>
        </a:p>
      </dgm:t>
    </dgm:pt>
    <dgm:pt modelId="{2F0F5B50-5DA4-4CF5-8545-AA11360202B3}" type="sibTrans" cxnId="{69E5A744-970D-4E71-BE11-2B17FB66282A}">
      <dgm:prSet/>
      <dgm:spPr/>
      <dgm:t>
        <a:bodyPr/>
        <a:lstStyle/>
        <a:p>
          <a:endParaRPr lang="fr-FR"/>
        </a:p>
      </dgm:t>
    </dgm:pt>
    <dgm:pt modelId="{8D2744B6-8287-4C05-9297-7EFBB6E3A937}">
      <dgm:prSet phldrT="[Texte]" custT="1"/>
      <dgm:spPr>
        <a:solidFill>
          <a:srgbClr val="C00000">
            <a:alpha val="85000"/>
          </a:srgbClr>
        </a:solidFill>
      </dgm:spPr>
      <dgm:t>
        <a:bodyPr/>
        <a:lstStyle/>
        <a:p>
          <a:r>
            <a:rPr lang="fr-FR" sz="1600" dirty="0"/>
            <a:t>Sprint</a:t>
          </a:r>
        </a:p>
        <a:p>
          <a:r>
            <a:rPr lang="fr-FR" sz="1600" dirty="0"/>
            <a:t>Review</a:t>
          </a:r>
        </a:p>
      </dgm:t>
    </dgm:pt>
    <dgm:pt modelId="{6722C0B9-1EC4-4692-987B-C7CDD4CCFE24}" type="parTrans" cxnId="{85E4A7AE-901D-4404-B1FB-AB459B7536F8}">
      <dgm:prSet/>
      <dgm:spPr/>
      <dgm:t>
        <a:bodyPr/>
        <a:lstStyle/>
        <a:p>
          <a:endParaRPr lang="fr-FR"/>
        </a:p>
      </dgm:t>
    </dgm:pt>
    <dgm:pt modelId="{EE97C067-A598-42CF-BA8E-B65129C16B71}" type="sibTrans" cxnId="{85E4A7AE-901D-4404-B1FB-AB459B7536F8}">
      <dgm:prSet/>
      <dgm:spPr/>
      <dgm:t>
        <a:bodyPr/>
        <a:lstStyle/>
        <a:p>
          <a:endParaRPr lang="fr-FR"/>
        </a:p>
      </dgm:t>
    </dgm:pt>
    <dgm:pt modelId="{E09E9E27-77F3-47FE-8CB8-03D3FCD10213}">
      <dgm:prSet custT="1"/>
      <dgm:spPr>
        <a:solidFill>
          <a:srgbClr val="3D64A9">
            <a:alpha val="85000"/>
          </a:srgbClr>
        </a:solidFill>
      </dgm:spPr>
      <dgm:t>
        <a:bodyPr/>
        <a:lstStyle/>
        <a:p>
          <a:r>
            <a:rPr lang="fr-FR" sz="1600" dirty="0"/>
            <a:t>Sprint</a:t>
          </a:r>
        </a:p>
        <a:p>
          <a:r>
            <a:rPr lang="fr-FR" sz="1600" dirty="0"/>
            <a:t>Retrospective</a:t>
          </a:r>
        </a:p>
      </dgm:t>
    </dgm:pt>
    <dgm:pt modelId="{D6D64C00-5B97-4F6A-8C87-8802E53DCA5A}" type="parTrans" cxnId="{B1533D15-D453-4BEC-96E3-9DA0A8E03BC6}">
      <dgm:prSet/>
      <dgm:spPr/>
      <dgm:t>
        <a:bodyPr/>
        <a:lstStyle/>
        <a:p>
          <a:endParaRPr lang="fr-FR"/>
        </a:p>
      </dgm:t>
    </dgm:pt>
    <dgm:pt modelId="{47BEE776-B253-4A8F-9FCF-75B85E630DD6}" type="sibTrans" cxnId="{B1533D15-D453-4BEC-96E3-9DA0A8E03BC6}">
      <dgm:prSet/>
      <dgm:spPr/>
      <dgm:t>
        <a:bodyPr/>
        <a:lstStyle/>
        <a:p>
          <a:endParaRPr lang="fr-FR"/>
        </a:p>
      </dgm:t>
    </dgm:pt>
    <dgm:pt modelId="{830FCAD9-6BCD-4414-A114-947C7FEF8A11}">
      <dgm:prSet/>
      <dgm:spPr>
        <a:pattFill prst="ltDnDiag">
          <a:fgClr>
            <a:schemeClr val="accent1">
              <a:hueOff val="0"/>
              <a:satOff val="0"/>
              <a:lumOff val="0"/>
            </a:schemeClr>
          </a:fgClr>
          <a:bgClr>
            <a:schemeClr val="bg1"/>
          </a:bgClr>
        </a:pattFill>
      </dgm:spPr>
      <dgm:t>
        <a:bodyPr/>
        <a:lstStyle/>
        <a:p>
          <a:endParaRPr lang="fr-FR"/>
        </a:p>
      </dgm:t>
    </dgm:pt>
    <dgm:pt modelId="{75E49376-ED30-4C8C-96F6-1D3D45B2C145}" type="parTrans" cxnId="{FF44E1A4-BDEB-4BA7-8C48-7F79314D5526}">
      <dgm:prSet/>
      <dgm:spPr/>
      <dgm:t>
        <a:bodyPr/>
        <a:lstStyle/>
        <a:p>
          <a:endParaRPr lang="fr-FR"/>
        </a:p>
      </dgm:t>
    </dgm:pt>
    <dgm:pt modelId="{DB6445F3-F436-42EE-9314-D72B65EB3831}" type="sibTrans" cxnId="{FF44E1A4-BDEB-4BA7-8C48-7F79314D5526}">
      <dgm:prSet/>
      <dgm:spPr/>
      <dgm:t>
        <a:bodyPr/>
        <a:lstStyle/>
        <a:p>
          <a:endParaRPr lang="fr-FR"/>
        </a:p>
      </dgm:t>
    </dgm:pt>
    <dgm:pt modelId="{4CD8E64E-7467-4935-ADA8-8DC24F36224A}">
      <dgm:prSet/>
      <dgm:spPr>
        <a:pattFill prst="ltDnDiag">
          <a:fgClr>
            <a:schemeClr val="accent1">
              <a:hueOff val="0"/>
              <a:satOff val="0"/>
              <a:lumOff val="0"/>
            </a:schemeClr>
          </a:fgClr>
          <a:bgClr>
            <a:schemeClr val="bg1"/>
          </a:bgClr>
        </a:pattFill>
      </dgm:spPr>
      <dgm:t>
        <a:bodyPr/>
        <a:lstStyle/>
        <a:p>
          <a:endParaRPr lang="fr-FR"/>
        </a:p>
      </dgm:t>
    </dgm:pt>
    <dgm:pt modelId="{45C95130-DB64-47D9-9B3B-99F109EE42EB}" type="parTrans" cxnId="{59200A14-3AC7-41F3-8466-D708CCA1CF14}">
      <dgm:prSet/>
      <dgm:spPr/>
      <dgm:t>
        <a:bodyPr/>
        <a:lstStyle/>
        <a:p>
          <a:endParaRPr lang="fr-FR"/>
        </a:p>
      </dgm:t>
    </dgm:pt>
    <dgm:pt modelId="{33C81E9B-F3E7-48B3-9055-175159379B29}" type="sibTrans" cxnId="{59200A14-3AC7-41F3-8466-D708CCA1CF14}">
      <dgm:prSet/>
      <dgm:spPr/>
      <dgm:t>
        <a:bodyPr/>
        <a:lstStyle/>
        <a:p>
          <a:endParaRPr lang="fr-FR"/>
        </a:p>
      </dgm:t>
    </dgm:pt>
    <dgm:pt modelId="{9AFE455A-CB26-4437-B95C-AAB3FEE0D85A}" type="pres">
      <dgm:prSet presAssocID="{7D60DA73-B90C-4199-B639-D51127CA6A00}" presName="Name0" presStyleCnt="0">
        <dgm:presLayoutVars>
          <dgm:dir/>
          <dgm:resizeHandles val="exact"/>
        </dgm:presLayoutVars>
      </dgm:prSet>
      <dgm:spPr/>
    </dgm:pt>
    <dgm:pt modelId="{A4982375-74B2-48B5-BD80-ADA2A9E56595}" type="pres">
      <dgm:prSet presAssocID="{524B48D8-69C0-4A3C-8314-A9F254AB566A}" presName="parTxOnly" presStyleLbl="node1" presStyleIdx="0" presStyleCnt="6" custScaleX="108925">
        <dgm:presLayoutVars>
          <dgm:bulletEnabled val="1"/>
        </dgm:presLayoutVars>
      </dgm:prSet>
      <dgm:spPr/>
    </dgm:pt>
    <dgm:pt modelId="{5902A67A-8684-437D-9B99-A9AAD2D62F41}" type="pres">
      <dgm:prSet presAssocID="{F389614A-94D0-4641-A935-500D13B007AC}" presName="parSpace" presStyleCnt="0"/>
      <dgm:spPr/>
    </dgm:pt>
    <dgm:pt modelId="{9E4C451D-8D00-4E99-A10A-90DD43FE74A8}" type="pres">
      <dgm:prSet presAssocID="{4CD8E64E-7467-4935-ADA8-8DC24F36224A}" presName="parTxOnly" presStyleLbl="node1" presStyleIdx="1" presStyleCnt="6" custScaleX="38754">
        <dgm:presLayoutVars>
          <dgm:bulletEnabled val="1"/>
        </dgm:presLayoutVars>
      </dgm:prSet>
      <dgm:spPr/>
    </dgm:pt>
    <dgm:pt modelId="{A5197239-C559-4B43-8516-64AED9CD7217}" type="pres">
      <dgm:prSet presAssocID="{33C81E9B-F3E7-48B3-9055-175159379B29}" presName="parSpace" presStyleCnt="0"/>
      <dgm:spPr/>
    </dgm:pt>
    <dgm:pt modelId="{665B90B7-521F-4F37-AB82-4B125A05A296}" type="pres">
      <dgm:prSet presAssocID="{516CA0D5-CACA-409F-BF17-5D40BD5E82BB}" presName="parTxOnly" presStyleLbl="node1" presStyleIdx="2" presStyleCnt="6" custScaleX="111650" custLinFactNeighborX="3314" custLinFactNeighborY="505">
        <dgm:presLayoutVars>
          <dgm:bulletEnabled val="1"/>
        </dgm:presLayoutVars>
      </dgm:prSet>
      <dgm:spPr/>
    </dgm:pt>
    <dgm:pt modelId="{73A151DA-4F54-41F6-B1AE-7BD0CE7A1D2F}" type="pres">
      <dgm:prSet presAssocID="{2F0F5B50-5DA4-4CF5-8545-AA11360202B3}" presName="parSpace" presStyleCnt="0"/>
      <dgm:spPr/>
    </dgm:pt>
    <dgm:pt modelId="{8213350C-763D-41BA-8581-BD3794E086E7}" type="pres">
      <dgm:prSet presAssocID="{830FCAD9-6BCD-4414-A114-947C7FEF8A11}" presName="parTxOnly" presStyleLbl="node1" presStyleIdx="3" presStyleCnt="6" custScaleX="38397">
        <dgm:presLayoutVars>
          <dgm:bulletEnabled val="1"/>
        </dgm:presLayoutVars>
      </dgm:prSet>
      <dgm:spPr/>
    </dgm:pt>
    <dgm:pt modelId="{CC08F99F-EBA2-4A46-B9A0-EAB8E636F21A}" type="pres">
      <dgm:prSet presAssocID="{DB6445F3-F436-42EE-9314-D72B65EB3831}" presName="parSpace" presStyleCnt="0"/>
      <dgm:spPr/>
    </dgm:pt>
    <dgm:pt modelId="{DAE3A98E-5BC9-4648-AE52-0E840D8CB15E}" type="pres">
      <dgm:prSet presAssocID="{8D2744B6-8287-4C05-9297-7EFBB6E3A937}" presName="parTxOnly" presStyleLbl="node1" presStyleIdx="4" presStyleCnt="6" custScaleX="115008" custLinFactNeighborX="-8150" custLinFactNeighborY="-40">
        <dgm:presLayoutVars>
          <dgm:bulletEnabled val="1"/>
        </dgm:presLayoutVars>
      </dgm:prSet>
      <dgm:spPr/>
    </dgm:pt>
    <dgm:pt modelId="{1FC896E1-A523-4152-A094-B3564B3238DC}" type="pres">
      <dgm:prSet presAssocID="{EE97C067-A598-42CF-BA8E-B65129C16B71}" presName="parSpace" presStyleCnt="0"/>
      <dgm:spPr/>
    </dgm:pt>
    <dgm:pt modelId="{95F1E873-B045-4DBC-BA57-D41A5665A59C}" type="pres">
      <dgm:prSet presAssocID="{E09E9E27-77F3-47FE-8CB8-03D3FCD10213}" presName="parTxOnly" presStyleLbl="node1" presStyleIdx="5" presStyleCnt="6" custScaleX="127208">
        <dgm:presLayoutVars>
          <dgm:bulletEnabled val="1"/>
        </dgm:presLayoutVars>
      </dgm:prSet>
      <dgm:spPr/>
    </dgm:pt>
  </dgm:ptLst>
  <dgm:cxnLst>
    <dgm:cxn modelId="{A58DE210-995C-43D9-A05D-C8C535F55430}" type="presOf" srcId="{4CD8E64E-7467-4935-ADA8-8DC24F36224A}" destId="{9E4C451D-8D00-4E99-A10A-90DD43FE74A8}" srcOrd="0" destOrd="0" presId="urn:microsoft.com/office/officeart/2005/8/layout/hChevron3"/>
    <dgm:cxn modelId="{59200A14-3AC7-41F3-8466-D708CCA1CF14}" srcId="{7D60DA73-B90C-4199-B639-D51127CA6A00}" destId="{4CD8E64E-7467-4935-ADA8-8DC24F36224A}" srcOrd="1" destOrd="0" parTransId="{45C95130-DB64-47D9-9B3B-99F109EE42EB}" sibTransId="{33C81E9B-F3E7-48B3-9055-175159379B29}"/>
    <dgm:cxn modelId="{B1533D15-D453-4BEC-96E3-9DA0A8E03BC6}" srcId="{7D60DA73-B90C-4199-B639-D51127CA6A00}" destId="{E09E9E27-77F3-47FE-8CB8-03D3FCD10213}" srcOrd="5" destOrd="0" parTransId="{D6D64C00-5B97-4F6A-8C87-8802E53DCA5A}" sibTransId="{47BEE776-B253-4A8F-9FCF-75B85E630DD6}"/>
    <dgm:cxn modelId="{69E5A744-970D-4E71-BE11-2B17FB66282A}" srcId="{7D60DA73-B90C-4199-B639-D51127CA6A00}" destId="{516CA0D5-CACA-409F-BF17-5D40BD5E82BB}" srcOrd="2" destOrd="0" parTransId="{6A1683CD-3C30-48D1-862E-761BBCEB92E5}" sibTransId="{2F0F5B50-5DA4-4CF5-8545-AA11360202B3}"/>
    <dgm:cxn modelId="{FF44E1A4-BDEB-4BA7-8C48-7F79314D5526}" srcId="{7D60DA73-B90C-4199-B639-D51127CA6A00}" destId="{830FCAD9-6BCD-4414-A114-947C7FEF8A11}" srcOrd="3" destOrd="0" parTransId="{75E49376-ED30-4C8C-96F6-1D3D45B2C145}" sibTransId="{DB6445F3-F436-42EE-9314-D72B65EB3831}"/>
    <dgm:cxn modelId="{85E4A7AE-901D-4404-B1FB-AB459B7536F8}" srcId="{7D60DA73-B90C-4199-B639-D51127CA6A00}" destId="{8D2744B6-8287-4C05-9297-7EFBB6E3A937}" srcOrd="4" destOrd="0" parTransId="{6722C0B9-1EC4-4692-987B-C7CDD4CCFE24}" sibTransId="{EE97C067-A598-42CF-BA8E-B65129C16B71}"/>
    <dgm:cxn modelId="{FC5D8AC2-9FE8-4727-AD76-A5E420A2F5FF}" type="presOf" srcId="{7D60DA73-B90C-4199-B639-D51127CA6A00}" destId="{9AFE455A-CB26-4437-B95C-AAB3FEE0D85A}" srcOrd="0" destOrd="0" presId="urn:microsoft.com/office/officeart/2005/8/layout/hChevron3"/>
    <dgm:cxn modelId="{CDF65FCA-0A0E-4ABC-A164-0C3BD4F4B55C}" type="presOf" srcId="{830FCAD9-6BCD-4414-A114-947C7FEF8A11}" destId="{8213350C-763D-41BA-8581-BD3794E086E7}" srcOrd="0" destOrd="0" presId="urn:microsoft.com/office/officeart/2005/8/layout/hChevron3"/>
    <dgm:cxn modelId="{184203D8-3D5D-4950-A5B8-37B41C247652}" type="presOf" srcId="{8D2744B6-8287-4C05-9297-7EFBB6E3A937}" destId="{DAE3A98E-5BC9-4648-AE52-0E840D8CB15E}" srcOrd="0" destOrd="0" presId="urn:microsoft.com/office/officeart/2005/8/layout/hChevron3"/>
    <dgm:cxn modelId="{3E48DEDC-C744-4B57-8973-ACF14F181ABF}" type="presOf" srcId="{516CA0D5-CACA-409F-BF17-5D40BD5E82BB}" destId="{665B90B7-521F-4F37-AB82-4B125A05A296}" srcOrd="0" destOrd="0" presId="urn:microsoft.com/office/officeart/2005/8/layout/hChevron3"/>
    <dgm:cxn modelId="{BC4622DE-4BAD-46E6-86E7-F88718D04EC4}" type="presOf" srcId="{E09E9E27-77F3-47FE-8CB8-03D3FCD10213}" destId="{95F1E873-B045-4DBC-BA57-D41A5665A59C}" srcOrd="0" destOrd="0" presId="urn:microsoft.com/office/officeart/2005/8/layout/hChevron3"/>
    <dgm:cxn modelId="{F3514CEC-9090-4B03-865B-DE7CBBBDE7F9}" type="presOf" srcId="{524B48D8-69C0-4A3C-8314-A9F254AB566A}" destId="{A4982375-74B2-48B5-BD80-ADA2A9E56595}" srcOrd="0" destOrd="0" presId="urn:microsoft.com/office/officeart/2005/8/layout/hChevron3"/>
    <dgm:cxn modelId="{19B3D9EF-22E0-4461-A5AB-57C29650FBB6}" srcId="{7D60DA73-B90C-4199-B639-D51127CA6A00}" destId="{524B48D8-69C0-4A3C-8314-A9F254AB566A}" srcOrd="0" destOrd="0" parTransId="{8B1FC3FC-84B0-4B57-B365-243C17B801C1}" sibTransId="{F389614A-94D0-4641-A935-500D13B007AC}"/>
    <dgm:cxn modelId="{D5FA8242-4377-423A-B65D-736739411A99}" type="presParOf" srcId="{9AFE455A-CB26-4437-B95C-AAB3FEE0D85A}" destId="{A4982375-74B2-48B5-BD80-ADA2A9E56595}" srcOrd="0" destOrd="0" presId="urn:microsoft.com/office/officeart/2005/8/layout/hChevron3"/>
    <dgm:cxn modelId="{7C8FEB4D-8543-4CB1-A0A1-B368A99FA420}" type="presParOf" srcId="{9AFE455A-CB26-4437-B95C-AAB3FEE0D85A}" destId="{5902A67A-8684-437D-9B99-A9AAD2D62F41}" srcOrd="1" destOrd="0" presId="urn:microsoft.com/office/officeart/2005/8/layout/hChevron3"/>
    <dgm:cxn modelId="{21CA8469-7564-4BB4-9F32-6A92DFB693AA}" type="presParOf" srcId="{9AFE455A-CB26-4437-B95C-AAB3FEE0D85A}" destId="{9E4C451D-8D00-4E99-A10A-90DD43FE74A8}" srcOrd="2" destOrd="0" presId="urn:microsoft.com/office/officeart/2005/8/layout/hChevron3"/>
    <dgm:cxn modelId="{698766A4-EC97-47F1-A8C4-7F78E470D764}" type="presParOf" srcId="{9AFE455A-CB26-4437-B95C-AAB3FEE0D85A}" destId="{A5197239-C559-4B43-8516-64AED9CD7217}" srcOrd="3" destOrd="0" presId="urn:microsoft.com/office/officeart/2005/8/layout/hChevron3"/>
    <dgm:cxn modelId="{021B39B3-D614-480C-AC46-B962E48308D6}" type="presParOf" srcId="{9AFE455A-CB26-4437-B95C-AAB3FEE0D85A}" destId="{665B90B7-521F-4F37-AB82-4B125A05A296}" srcOrd="4" destOrd="0" presId="urn:microsoft.com/office/officeart/2005/8/layout/hChevron3"/>
    <dgm:cxn modelId="{4A989C97-F180-4EA0-B32B-AF6EC4F36471}" type="presParOf" srcId="{9AFE455A-CB26-4437-B95C-AAB3FEE0D85A}" destId="{73A151DA-4F54-41F6-B1AE-7BD0CE7A1D2F}" srcOrd="5" destOrd="0" presId="urn:microsoft.com/office/officeart/2005/8/layout/hChevron3"/>
    <dgm:cxn modelId="{8FFBB2A8-E418-435A-B610-446CE54897E9}" type="presParOf" srcId="{9AFE455A-CB26-4437-B95C-AAB3FEE0D85A}" destId="{8213350C-763D-41BA-8581-BD3794E086E7}" srcOrd="6" destOrd="0" presId="urn:microsoft.com/office/officeart/2005/8/layout/hChevron3"/>
    <dgm:cxn modelId="{8E499264-D232-4107-9A9D-450AA602CA00}" type="presParOf" srcId="{9AFE455A-CB26-4437-B95C-AAB3FEE0D85A}" destId="{CC08F99F-EBA2-4A46-B9A0-EAB8E636F21A}" srcOrd="7" destOrd="0" presId="urn:microsoft.com/office/officeart/2005/8/layout/hChevron3"/>
    <dgm:cxn modelId="{72801084-2E99-40DF-B975-21DB1F077C2E}" type="presParOf" srcId="{9AFE455A-CB26-4437-B95C-AAB3FEE0D85A}" destId="{DAE3A98E-5BC9-4648-AE52-0E840D8CB15E}" srcOrd="8" destOrd="0" presId="urn:microsoft.com/office/officeart/2005/8/layout/hChevron3"/>
    <dgm:cxn modelId="{901FAF6F-DD41-4332-A776-55F2D0795A33}" type="presParOf" srcId="{9AFE455A-CB26-4437-B95C-AAB3FEE0D85A}" destId="{1FC896E1-A523-4152-A094-B3564B3238DC}" srcOrd="9" destOrd="0" presId="urn:microsoft.com/office/officeart/2005/8/layout/hChevron3"/>
    <dgm:cxn modelId="{2BE4F207-89AC-46E0-9959-B4BDD0E73D91}" type="presParOf" srcId="{9AFE455A-CB26-4437-B95C-AAB3FEE0D85A}" destId="{95F1E873-B045-4DBC-BA57-D41A5665A59C}"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D60DA73-B90C-4199-B639-D51127CA6A00}"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fr-FR"/>
        </a:p>
      </dgm:t>
    </dgm:pt>
    <dgm:pt modelId="{524B48D8-69C0-4A3C-8314-A9F254AB566A}">
      <dgm:prSet phldrT="[Texte]" custT="1"/>
      <dgm:spPr>
        <a:solidFill>
          <a:schemeClr val="tx1">
            <a:lumMod val="50000"/>
            <a:lumOff val="50000"/>
            <a:alpha val="85000"/>
          </a:schemeClr>
        </a:solidFill>
      </dgm:spPr>
      <dgm:t>
        <a:bodyPr/>
        <a:lstStyle/>
        <a:p>
          <a:r>
            <a:rPr lang="fr-FR" sz="1600" dirty="0"/>
            <a:t>Sprint</a:t>
          </a:r>
        </a:p>
        <a:p>
          <a:r>
            <a:rPr lang="fr-FR" sz="1600" dirty="0"/>
            <a:t>Planning</a:t>
          </a:r>
        </a:p>
      </dgm:t>
    </dgm:pt>
    <dgm:pt modelId="{8B1FC3FC-84B0-4B57-B365-243C17B801C1}" type="parTrans" cxnId="{19B3D9EF-22E0-4461-A5AB-57C29650FBB6}">
      <dgm:prSet/>
      <dgm:spPr/>
      <dgm:t>
        <a:bodyPr/>
        <a:lstStyle/>
        <a:p>
          <a:endParaRPr lang="fr-FR"/>
        </a:p>
      </dgm:t>
    </dgm:pt>
    <dgm:pt modelId="{F389614A-94D0-4641-A935-500D13B007AC}" type="sibTrans" cxnId="{19B3D9EF-22E0-4461-A5AB-57C29650FBB6}">
      <dgm:prSet/>
      <dgm:spPr/>
      <dgm:t>
        <a:bodyPr/>
        <a:lstStyle/>
        <a:p>
          <a:endParaRPr lang="fr-FR"/>
        </a:p>
      </dgm:t>
    </dgm:pt>
    <dgm:pt modelId="{516CA0D5-CACA-409F-BF17-5D40BD5E82BB}">
      <dgm:prSet phldrT="[Texte]" custT="1"/>
      <dgm:spPr>
        <a:solidFill>
          <a:schemeClr val="tx1">
            <a:lumMod val="50000"/>
            <a:lumOff val="50000"/>
            <a:alpha val="85000"/>
          </a:schemeClr>
        </a:solidFill>
      </dgm:spPr>
      <dgm:t>
        <a:bodyPr/>
        <a:lstStyle/>
        <a:p>
          <a:r>
            <a:rPr lang="fr-FR" sz="1600" dirty="0"/>
            <a:t>Daily</a:t>
          </a:r>
        </a:p>
        <a:p>
          <a:r>
            <a:rPr lang="fr-FR" sz="1600" dirty="0"/>
            <a:t>Scrum</a:t>
          </a:r>
        </a:p>
      </dgm:t>
    </dgm:pt>
    <dgm:pt modelId="{6A1683CD-3C30-48D1-862E-761BBCEB92E5}" type="parTrans" cxnId="{69E5A744-970D-4E71-BE11-2B17FB66282A}">
      <dgm:prSet/>
      <dgm:spPr/>
      <dgm:t>
        <a:bodyPr/>
        <a:lstStyle/>
        <a:p>
          <a:endParaRPr lang="fr-FR"/>
        </a:p>
      </dgm:t>
    </dgm:pt>
    <dgm:pt modelId="{2F0F5B50-5DA4-4CF5-8545-AA11360202B3}" type="sibTrans" cxnId="{69E5A744-970D-4E71-BE11-2B17FB66282A}">
      <dgm:prSet/>
      <dgm:spPr/>
      <dgm:t>
        <a:bodyPr/>
        <a:lstStyle/>
        <a:p>
          <a:endParaRPr lang="fr-FR"/>
        </a:p>
      </dgm:t>
    </dgm:pt>
    <dgm:pt modelId="{8D2744B6-8287-4C05-9297-7EFBB6E3A937}">
      <dgm:prSet phldrT="[Texte]" custT="1"/>
      <dgm:spPr>
        <a:solidFill>
          <a:schemeClr val="bg2">
            <a:alpha val="85000"/>
          </a:schemeClr>
        </a:solidFill>
      </dgm:spPr>
      <dgm:t>
        <a:bodyPr/>
        <a:lstStyle/>
        <a:p>
          <a:r>
            <a:rPr lang="fr-FR" sz="1600" dirty="0"/>
            <a:t>Sprint</a:t>
          </a:r>
        </a:p>
        <a:p>
          <a:r>
            <a:rPr lang="fr-FR" sz="1600" dirty="0"/>
            <a:t>Review</a:t>
          </a:r>
        </a:p>
      </dgm:t>
    </dgm:pt>
    <dgm:pt modelId="{6722C0B9-1EC4-4692-987B-C7CDD4CCFE24}" type="parTrans" cxnId="{85E4A7AE-901D-4404-B1FB-AB459B7536F8}">
      <dgm:prSet/>
      <dgm:spPr/>
      <dgm:t>
        <a:bodyPr/>
        <a:lstStyle/>
        <a:p>
          <a:endParaRPr lang="fr-FR"/>
        </a:p>
      </dgm:t>
    </dgm:pt>
    <dgm:pt modelId="{EE97C067-A598-42CF-BA8E-B65129C16B71}" type="sibTrans" cxnId="{85E4A7AE-901D-4404-B1FB-AB459B7536F8}">
      <dgm:prSet/>
      <dgm:spPr/>
      <dgm:t>
        <a:bodyPr/>
        <a:lstStyle/>
        <a:p>
          <a:endParaRPr lang="fr-FR"/>
        </a:p>
      </dgm:t>
    </dgm:pt>
    <dgm:pt modelId="{E09E9E27-77F3-47FE-8CB8-03D3FCD10213}">
      <dgm:prSet custT="1"/>
      <dgm:spPr>
        <a:solidFill>
          <a:srgbClr val="C00000">
            <a:alpha val="85000"/>
          </a:srgbClr>
        </a:solidFill>
      </dgm:spPr>
      <dgm:t>
        <a:bodyPr/>
        <a:lstStyle/>
        <a:p>
          <a:r>
            <a:rPr lang="fr-FR" sz="1600" dirty="0"/>
            <a:t>Sprint</a:t>
          </a:r>
        </a:p>
        <a:p>
          <a:r>
            <a:rPr lang="fr-FR" sz="1600" dirty="0"/>
            <a:t>Retrospective</a:t>
          </a:r>
        </a:p>
      </dgm:t>
    </dgm:pt>
    <dgm:pt modelId="{D6D64C00-5B97-4F6A-8C87-8802E53DCA5A}" type="parTrans" cxnId="{B1533D15-D453-4BEC-96E3-9DA0A8E03BC6}">
      <dgm:prSet/>
      <dgm:spPr/>
      <dgm:t>
        <a:bodyPr/>
        <a:lstStyle/>
        <a:p>
          <a:endParaRPr lang="fr-FR"/>
        </a:p>
      </dgm:t>
    </dgm:pt>
    <dgm:pt modelId="{47BEE776-B253-4A8F-9FCF-75B85E630DD6}" type="sibTrans" cxnId="{B1533D15-D453-4BEC-96E3-9DA0A8E03BC6}">
      <dgm:prSet/>
      <dgm:spPr/>
      <dgm:t>
        <a:bodyPr/>
        <a:lstStyle/>
        <a:p>
          <a:endParaRPr lang="fr-FR"/>
        </a:p>
      </dgm:t>
    </dgm:pt>
    <dgm:pt modelId="{830FCAD9-6BCD-4414-A114-947C7FEF8A11}">
      <dgm:prSet/>
      <dgm:spPr>
        <a:pattFill prst="ltDnDiag">
          <a:fgClr>
            <a:schemeClr val="accent1">
              <a:hueOff val="0"/>
              <a:satOff val="0"/>
              <a:lumOff val="0"/>
            </a:schemeClr>
          </a:fgClr>
          <a:bgClr>
            <a:schemeClr val="bg1"/>
          </a:bgClr>
        </a:pattFill>
      </dgm:spPr>
      <dgm:t>
        <a:bodyPr/>
        <a:lstStyle/>
        <a:p>
          <a:endParaRPr lang="fr-FR"/>
        </a:p>
      </dgm:t>
    </dgm:pt>
    <dgm:pt modelId="{75E49376-ED30-4C8C-96F6-1D3D45B2C145}" type="parTrans" cxnId="{FF44E1A4-BDEB-4BA7-8C48-7F79314D5526}">
      <dgm:prSet/>
      <dgm:spPr/>
      <dgm:t>
        <a:bodyPr/>
        <a:lstStyle/>
        <a:p>
          <a:endParaRPr lang="fr-FR"/>
        </a:p>
      </dgm:t>
    </dgm:pt>
    <dgm:pt modelId="{DB6445F3-F436-42EE-9314-D72B65EB3831}" type="sibTrans" cxnId="{FF44E1A4-BDEB-4BA7-8C48-7F79314D5526}">
      <dgm:prSet/>
      <dgm:spPr/>
      <dgm:t>
        <a:bodyPr/>
        <a:lstStyle/>
        <a:p>
          <a:endParaRPr lang="fr-FR"/>
        </a:p>
      </dgm:t>
    </dgm:pt>
    <dgm:pt modelId="{4CD8E64E-7467-4935-ADA8-8DC24F36224A}">
      <dgm:prSet/>
      <dgm:spPr>
        <a:pattFill prst="ltDnDiag">
          <a:fgClr>
            <a:schemeClr val="accent1">
              <a:hueOff val="0"/>
              <a:satOff val="0"/>
              <a:lumOff val="0"/>
            </a:schemeClr>
          </a:fgClr>
          <a:bgClr>
            <a:schemeClr val="bg1"/>
          </a:bgClr>
        </a:pattFill>
      </dgm:spPr>
      <dgm:t>
        <a:bodyPr/>
        <a:lstStyle/>
        <a:p>
          <a:endParaRPr lang="fr-FR"/>
        </a:p>
      </dgm:t>
    </dgm:pt>
    <dgm:pt modelId="{45C95130-DB64-47D9-9B3B-99F109EE42EB}" type="parTrans" cxnId="{59200A14-3AC7-41F3-8466-D708CCA1CF14}">
      <dgm:prSet/>
      <dgm:spPr/>
      <dgm:t>
        <a:bodyPr/>
        <a:lstStyle/>
        <a:p>
          <a:endParaRPr lang="fr-FR"/>
        </a:p>
      </dgm:t>
    </dgm:pt>
    <dgm:pt modelId="{33C81E9B-F3E7-48B3-9055-175159379B29}" type="sibTrans" cxnId="{59200A14-3AC7-41F3-8466-D708CCA1CF14}">
      <dgm:prSet/>
      <dgm:spPr/>
      <dgm:t>
        <a:bodyPr/>
        <a:lstStyle/>
        <a:p>
          <a:endParaRPr lang="fr-FR"/>
        </a:p>
      </dgm:t>
    </dgm:pt>
    <dgm:pt modelId="{9AFE455A-CB26-4437-B95C-AAB3FEE0D85A}" type="pres">
      <dgm:prSet presAssocID="{7D60DA73-B90C-4199-B639-D51127CA6A00}" presName="Name0" presStyleCnt="0">
        <dgm:presLayoutVars>
          <dgm:dir/>
          <dgm:resizeHandles val="exact"/>
        </dgm:presLayoutVars>
      </dgm:prSet>
      <dgm:spPr/>
    </dgm:pt>
    <dgm:pt modelId="{A4982375-74B2-48B5-BD80-ADA2A9E56595}" type="pres">
      <dgm:prSet presAssocID="{524B48D8-69C0-4A3C-8314-A9F254AB566A}" presName="parTxOnly" presStyleLbl="node1" presStyleIdx="0" presStyleCnt="6" custScaleX="108925">
        <dgm:presLayoutVars>
          <dgm:bulletEnabled val="1"/>
        </dgm:presLayoutVars>
      </dgm:prSet>
      <dgm:spPr/>
    </dgm:pt>
    <dgm:pt modelId="{5902A67A-8684-437D-9B99-A9AAD2D62F41}" type="pres">
      <dgm:prSet presAssocID="{F389614A-94D0-4641-A935-500D13B007AC}" presName="parSpace" presStyleCnt="0"/>
      <dgm:spPr/>
    </dgm:pt>
    <dgm:pt modelId="{9E4C451D-8D00-4E99-A10A-90DD43FE74A8}" type="pres">
      <dgm:prSet presAssocID="{4CD8E64E-7467-4935-ADA8-8DC24F36224A}" presName="parTxOnly" presStyleLbl="node1" presStyleIdx="1" presStyleCnt="6" custScaleX="38754">
        <dgm:presLayoutVars>
          <dgm:bulletEnabled val="1"/>
        </dgm:presLayoutVars>
      </dgm:prSet>
      <dgm:spPr/>
    </dgm:pt>
    <dgm:pt modelId="{A5197239-C559-4B43-8516-64AED9CD7217}" type="pres">
      <dgm:prSet presAssocID="{33C81E9B-F3E7-48B3-9055-175159379B29}" presName="parSpace" presStyleCnt="0"/>
      <dgm:spPr/>
    </dgm:pt>
    <dgm:pt modelId="{665B90B7-521F-4F37-AB82-4B125A05A296}" type="pres">
      <dgm:prSet presAssocID="{516CA0D5-CACA-409F-BF17-5D40BD5E82BB}" presName="parTxOnly" presStyleLbl="node1" presStyleIdx="2" presStyleCnt="6" custScaleX="111650">
        <dgm:presLayoutVars>
          <dgm:bulletEnabled val="1"/>
        </dgm:presLayoutVars>
      </dgm:prSet>
      <dgm:spPr/>
    </dgm:pt>
    <dgm:pt modelId="{73A151DA-4F54-41F6-B1AE-7BD0CE7A1D2F}" type="pres">
      <dgm:prSet presAssocID="{2F0F5B50-5DA4-4CF5-8545-AA11360202B3}" presName="parSpace" presStyleCnt="0"/>
      <dgm:spPr/>
    </dgm:pt>
    <dgm:pt modelId="{8213350C-763D-41BA-8581-BD3794E086E7}" type="pres">
      <dgm:prSet presAssocID="{830FCAD9-6BCD-4414-A114-947C7FEF8A11}" presName="parTxOnly" presStyleLbl="node1" presStyleIdx="3" presStyleCnt="6" custScaleX="38397">
        <dgm:presLayoutVars>
          <dgm:bulletEnabled val="1"/>
        </dgm:presLayoutVars>
      </dgm:prSet>
      <dgm:spPr/>
    </dgm:pt>
    <dgm:pt modelId="{CC08F99F-EBA2-4A46-B9A0-EAB8E636F21A}" type="pres">
      <dgm:prSet presAssocID="{DB6445F3-F436-42EE-9314-D72B65EB3831}" presName="parSpace" presStyleCnt="0"/>
      <dgm:spPr/>
    </dgm:pt>
    <dgm:pt modelId="{DAE3A98E-5BC9-4648-AE52-0E840D8CB15E}" type="pres">
      <dgm:prSet presAssocID="{8D2744B6-8287-4C05-9297-7EFBB6E3A937}" presName="parTxOnly" presStyleLbl="node1" presStyleIdx="4" presStyleCnt="6" custScaleX="115008" custLinFactNeighborX="-8150" custLinFactNeighborY="-40">
        <dgm:presLayoutVars>
          <dgm:bulletEnabled val="1"/>
        </dgm:presLayoutVars>
      </dgm:prSet>
      <dgm:spPr/>
    </dgm:pt>
    <dgm:pt modelId="{1FC896E1-A523-4152-A094-B3564B3238DC}" type="pres">
      <dgm:prSet presAssocID="{EE97C067-A598-42CF-BA8E-B65129C16B71}" presName="parSpace" presStyleCnt="0"/>
      <dgm:spPr/>
    </dgm:pt>
    <dgm:pt modelId="{95F1E873-B045-4DBC-BA57-D41A5665A59C}" type="pres">
      <dgm:prSet presAssocID="{E09E9E27-77F3-47FE-8CB8-03D3FCD10213}" presName="parTxOnly" presStyleLbl="node1" presStyleIdx="5" presStyleCnt="6" custScaleX="127208">
        <dgm:presLayoutVars>
          <dgm:bulletEnabled val="1"/>
        </dgm:presLayoutVars>
      </dgm:prSet>
      <dgm:spPr/>
    </dgm:pt>
  </dgm:ptLst>
  <dgm:cxnLst>
    <dgm:cxn modelId="{219A3904-82A7-4CA7-8EC0-B11C8B6D24D3}" type="presOf" srcId="{8D2744B6-8287-4C05-9297-7EFBB6E3A937}" destId="{DAE3A98E-5BC9-4648-AE52-0E840D8CB15E}" srcOrd="0" destOrd="0" presId="urn:microsoft.com/office/officeart/2005/8/layout/hChevron3"/>
    <dgm:cxn modelId="{59200A14-3AC7-41F3-8466-D708CCA1CF14}" srcId="{7D60DA73-B90C-4199-B639-D51127CA6A00}" destId="{4CD8E64E-7467-4935-ADA8-8DC24F36224A}" srcOrd="1" destOrd="0" parTransId="{45C95130-DB64-47D9-9B3B-99F109EE42EB}" sibTransId="{33C81E9B-F3E7-48B3-9055-175159379B29}"/>
    <dgm:cxn modelId="{B1533D15-D453-4BEC-96E3-9DA0A8E03BC6}" srcId="{7D60DA73-B90C-4199-B639-D51127CA6A00}" destId="{E09E9E27-77F3-47FE-8CB8-03D3FCD10213}" srcOrd="5" destOrd="0" parTransId="{D6D64C00-5B97-4F6A-8C87-8802E53DCA5A}" sibTransId="{47BEE776-B253-4A8F-9FCF-75B85E630DD6}"/>
    <dgm:cxn modelId="{77C74223-7365-4EF0-8BE7-34735839C943}" type="presOf" srcId="{4CD8E64E-7467-4935-ADA8-8DC24F36224A}" destId="{9E4C451D-8D00-4E99-A10A-90DD43FE74A8}" srcOrd="0" destOrd="0" presId="urn:microsoft.com/office/officeart/2005/8/layout/hChevron3"/>
    <dgm:cxn modelId="{335F3E3F-AB7F-4085-B882-42ED373CE3EC}" type="presOf" srcId="{7D60DA73-B90C-4199-B639-D51127CA6A00}" destId="{9AFE455A-CB26-4437-B95C-AAB3FEE0D85A}" srcOrd="0" destOrd="0" presId="urn:microsoft.com/office/officeart/2005/8/layout/hChevron3"/>
    <dgm:cxn modelId="{69E5A744-970D-4E71-BE11-2B17FB66282A}" srcId="{7D60DA73-B90C-4199-B639-D51127CA6A00}" destId="{516CA0D5-CACA-409F-BF17-5D40BD5E82BB}" srcOrd="2" destOrd="0" parTransId="{6A1683CD-3C30-48D1-862E-761BBCEB92E5}" sibTransId="{2F0F5B50-5DA4-4CF5-8545-AA11360202B3}"/>
    <dgm:cxn modelId="{B99B0D4B-D1A2-4D35-B179-EA2CD11A6559}" type="presOf" srcId="{516CA0D5-CACA-409F-BF17-5D40BD5E82BB}" destId="{665B90B7-521F-4F37-AB82-4B125A05A296}" srcOrd="0" destOrd="0" presId="urn:microsoft.com/office/officeart/2005/8/layout/hChevron3"/>
    <dgm:cxn modelId="{8CDCF954-572B-40BA-AAAF-FB040D69DEA3}" type="presOf" srcId="{E09E9E27-77F3-47FE-8CB8-03D3FCD10213}" destId="{95F1E873-B045-4DBC-BA57-D41A5665A59C}" srcOrd="0" destOrd="0" presId="urn:microsoft.com/office/officeart/2005/8/layout/hChevron3"/>
    <dgm:cxn modelId="{4DF94075-24DE-43B0-9CFF-A1E6226F42A9}" type="presOf" srcId="{830FCAD9-6BCD-4414-A114-947C7FEF8A11}" destId="{8213350C-763D-41BA-8581-BD3794E086E7}" srcOrd="0" destOrd="0" presId="urn:microsoft.com/office/officeart/2005/8/layout/hChevron3"/>
    <dgm:cxn modelId="{FF44E1A4-BDEB-4BA7-8C48-7F79314D5526}" srcId="{7D60DA73-B90C-4199-B639-D51127CA6A00}" destId="{830FCAD9-6BCD-4414-A114-947C7FEF8A11}" srcOrd="3" destOrd="0" parTransId="{75E49376-ED30-4C8C-96F6-1D3D45B2C145}" sibTransId="{DB6445F3-F436-42EE-9314-D72B65EB3831}"/>
    <dgm:cxn modelId="{85E4A7AE-901D-4404-B1FB-AB459B7536F8}" srcId="{7D60DA73-B90C-4199-B639-D51127CA6A00}" destId="{8D2744B6-8287-4C05-9297-7EFBB6E3A937}" srcOrd="4" destOrd="0" parTransId="{6722C0B9-1EC4-4692-987B-C7CDD4CCFE24}" sibTransId="{EE97C067-A598-42CF-BA8E-B65129C16B71}"/>
    <dgm:cxn modelId="{C26B49DC-F3B7-48A6-8C7D-B315CA6B90CC}" type="presOf" srcId="{524B48D8-69C0-4A3C-8314-A9F254AB566A}" destId="{A4982375-74B2-48B5-BD80-ADA2A9E56595}" srcOrd="0" destOrd="0" presId="urn:microsoft.com/office/officeart/2005/8/layout/hChevron3"/>
    <dgm:cxn modelId="{19B3D9EF-22E0-4461-A5AB-57C29650FBB6}" srcId="{7D60DA73-B90C-4199-B639-D51127CA6A00}" destId="{524B48D8-69C0-4A3C-8314-A9F254AB566A}" srcOrd="0" destOrd="0" parTransId="{8B1FC3FC-84B0-4B57-B365-243C17B801C1}" sibTransId="{F389614A-94D0-4641-A935-500D13B007AC}"/>
    <dgm:cxn modelId="{D4FBC56A-10E6-47CF-917C-AABE3021DD49}" type="presParOf" srcId="{9AFE455A-CB26-4437-B95C-AAB3FEE0D85A}" destId="{A4982375-74B2-48B5-BD80-ADA2A9E56595}" srcOrd="0" destOrd="0" presId="urn:microsoft.com/office/officeart/2005/8/layout/hChevron3"/>
    <dgm:cxn modelId="{F95F36A1-A706-4AF2-ABE2-96D191CC2543}" type="presParOf" srcId="{9AFE455A-CB26-4437-B95C-AAB3FEE0D85A}" destId="{5902A67A-8684-437D-9B99-A9AAD2D62F41}" srcOrd="1" destOrd="0" presId="urn:microsoft.com/office/officeart/2005/8/layout/hChevron3"/>
    <dgm:cxn modelId="{19FACD3B-AB57-45F2-A49F-4B1BBD6BB862}" type="presParOf" srcId="{9AFE455A-CB26-4437-B95C-AAB3FEE0D85A}" destId="{9E4C451D-8D00-4E99-A10A-90DD43FE74A8}" srcOrd="2" destOrd="0" presId="urn:microsoft.com/office/officeart/2005/8/layout/hChevron3"/>
    <dgm:cxn modelId="{E50285BF-B8CF-4387-825C-4CF050F0CCE9}" type="presParOf" srcId="{9AFE455A-CB26-4437-B95C-AAB3FEE0D85A}" destId="{A5197239-C559-4B43-8516-64AED9CD7217}" srcOrd="3" destOrd="0" presId="urn:microsoft.com/office/officeart/2005/8/layout/hChevron3"/>
    <dgm:cxn modelId="{6C7B7E48-19D8-44F3-9051-077E134E135F}" type="presParOf" srcId="{9AFE455A-CB26-4437-B95C-AAB3FEE0D85A}" destId="{665B90B7-521F-4F37-AB82-4B125A05A296}" srcOrd="4" destOrd="0" presId="urn:microsoft.com/office/officeart/2005/8/layout/hChevron3"/>
    <dgm:cxn modelId="{216C7AB2-E0A3-4C2A-9BB7-B46E41FFAE21}" type="presParOf" srcId="{9AFE455A-CB26-4437-B95C-AAB3FEE0D85A}" destId="{73A151DA-4F54-41F6-B1AE-7BD0CE7A1D2F}" srcOrd="5" destOrd="0" presId="urn:microsoft.com/office/officeart/2005/8/layout/hChevron3"/>
    <dgm:cxn modelId="{27E90297-B8BF-4E76-874D-543DF469E69E}" type="presParOf" srcId="{9AFE455A-CB26-4437-B95C-AAB3FEE0D85A}" destId="{8213350C-763D-41BA-8581-BD3794E086E7}" srcOrd="6" destOrd="0" presId="urn:microsoft.com/office/officeart/2005/8/layout/hChevron3"/>
    <dgm:cxn modelId="{CAF4C990-5C09-46D3-959B-E3C639C78B30}" type="presParOf" srcId="{9AFE455A-CB26-4437-B95C-AAB3FEE0D85A}" destId="{CC08F99F-EBA2-4A46-B9A0-EAB8E636F21A}" srcOrd="7" destOrd="0" presId="urn:microsoft.com/office/officeart/2005/8/layout/hChevron3"/>
    <dgm:cxn modelId="{8BA5E0CD-B840-4610-AA66-0064C8F7782B}" type="presParOf" srcId="{9AFE455A-CB26-4437-B95C-AAB3FEE0D85A}" destId="{DAE3A98E-5BC9-4648-AE52-0E840D8CB15E}" srcOrd="8" destOrd="0" presId="urn:microsoft.com/office/officeart/2005/8/layout/hChevron3"/>
    <dgm:cxn modelId="{32034CD7-2281-40E2-9BC7-63018C321ED8}" type="presParOf" srcId="{9AFE455A-CB26-4437-B95C-AAB3FEE0D85A}" destId="{1FC896E1-A523-4152-A094-B3564B3238DC}" srcOrd="9" destOrd="0" presId="urn:microsoft.com/office/officeart/2005/8/layout/hChevron3"/>
    <dgm:cxn modelId="{57D80A03-D450-4542-BA1B-D03862C242CE}" type="presParOf" srcId="{9AFE455A-CB26-4437-B95C-AAB3FEE0D85A}" destId="{95F1E873-B045-4DBC-BA57-D41A5665A59C}"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143E4A-BFDB-4C33-A46F-5896BDC3737C}">
      <dsp:nvSpPr>
        <dsp:cNvPr id="0" name=""/>
        <dsp:cNvSpPr/>
      </dsp:nvSpPr>
      <dsp:spPr>
        <a:xfrm>
          <a:off x="132916" y="0"/>
          <a:ext cx="1456504" cy="728252"/>
        </a:xfrm>
        <a:prstGeom prst="roundRect">
          <a:avLst>
            <a:gd name="adj" fmla="val 10000"/>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dirty="0" err="1"/>
            <a:t>Process</a:t>
          </a:r>
          <a:endParaRPr lang="fr-FR" sz="2000" kern="1200" dirty="0"/>
        </a:p>
      </dsp:txBody>
      <dsp:txXfrm>
        <a:off x="154246" y="21330"/>
        <a:ext cx="1413844" cy="685592"/>
      </dsp:txXfrm>
    </dsp:sp>
    <dsp:sp modelId="{BFABA44F-496E-4800-9D24-A0E8B69100B2}">
      <dsp:nvSpPr>
        <dsp:cNvPr id="0" name=""/>
        <dsp:cNvSpPr/>
      </dsp:nvSpPr>
      <dsp:spPr>
        <a:xfrm>
          <a:off x="1955410" y="0"/>
          <a:ext cx="1456504" cy="728252"/>
        </a:xfrm>
        <a:prstGeom prst="roundRect">
          <a:avLst>
            <a:gd name="adj" fmla="val 10000"/>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dirty="0" err="1"/>
            <a:t>Roles</a:t>
          </a:r>
          <a:endParaRPr lang="fr-FR" sz="2000" kern="1200" dirty="0"/>
        </a:p>
      </dsp:txBody>
      <dsp:txXfrm>
        <a:off x="1976740" y="21330"/>
        <a:ext cx="1413844" cy="685592"/>
      </dsp:txXfrm>
    </dsp:sp>
    <dsp:sp modelId="{89BFD184-C127-4436-BBA9-9E3518D20E96}">
      <dsp:nvSpPr>
        <dsp:cNvPr id="0" name=""/>
        <dsp:cNvSpPr/>
      </dsp:nvSpPr>
      <dsp:spPr>
        <a:xfrm>
          <a:off x="2101061" y="728252"/>
          <a:ext cx="145650" cy="525015"/>
        </a:xfrm>
        <a:custGeom>
          <a:avLst/>
          <a:gdLst/>
          <a:ahLst/>
          <a:cxnLst/>
          <a:rect l="0" t="0" r="0" b="0"/>
          <a:pathLst>
            <a:path>
              <a:moveTo>
                <a:pt x="0" y="0"/>
              </a:moveTo>
              <a:lnTo>
                <a:pt x="0" y="525015"/>
              </a:lnTo>
              <a:lnTo>
                <a:pt x="145650" y="525015"/>
              </a:lnTo>
            </a:path>
          </a:pathLst>
        </a:custGeom>
        <a:noFill/>
        <a:ln w="25400" cap="flat" cmpd="sng" algn="ctr">
          <a:solidFill>
            <a:srgbClr val="3D64A9">
              <a:alpha val="20000"/>
            </a:srgbClr>
          </a:solidFill>
          <a:prstDash val="solid"/>
        </a:ln>
        <a:effectLst/>
      </dsp:spPr>
      <dsp:style>
        <a:lnRef idx="2">
          <a:scrgbClr r="0" g="0" b="0"/>
        </a:lnRef>
        <a:fillRef idx="0">
          <a:scrgbClr r="0" g="0" b="0"/>
        </a:fillRef>
        <a:effectRef idx="0">
          <a:scrgbClr r="0" g="0" b="0"/>
        </a:effectRef>
        <a:fontRef idx="minor"/>
      </dsp:style>
    </dsp:sp>
    <dsp:sp modelId="{7BB9FCDC-CC15-46B8-A721-EAD825060E04}">
      <dsp:nvSpPr>
        <dsp:cNvPr id="0" name=""/>
        <dsp:cNvSpPr/>
      </dsp:nvSpPr>
      <dsp:spPr>
        <a:xfrm>
          <a:off x="2246711" y="911266"/>
          <a:ext cx="1708572" cy="684003"/>
        </a:xfrm>
        <a:prstGeom prst="roundRect">
          <a:avLst>
            <a:gd name="adj" fmla="val 10000"/>
          </a:avLst>
        </a:prstGeom>
        <a:solidFill>
          <a:schemeClr val="lt1">
            <a:alpha val="90000"/>
            <a:hueOff val="0"/>
            <a:satOff val="0"/>
            <a:lumOff val="0"/>
            <a:alphaOff val="0"/>
          </a:schemeClr>
        </a:solidFill>
        <a:ln w="25400" cap="flat" cmpd="sng" algn="ctr">
          <a:solidFill>
            <a:srgbClr val="3D64A9">
              <a:alpha val="2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Product</a:t>
          </a:r>
        </a:p>
        <a:p>
          <a:pPr marL="0" lvl="0" indent="0" algn="ctr" defTabSz="800100">
            <a:lnSpc>
              <a:spcPct val="90000"/>
            </a:lnSpc>
            <a:spcBef>
              <a:spcPct val="0"/>
            </a:spcBef>
            <a:spcAft>
              <a:spcPct val="35000"/>
            </a:spcAft>
            <a:buNone/>
          </a:pPr>
          <a:r>
            <a:rPr lang="fr-FR" sz="1800" kern="1200" dirty="0">
              <a:solidFill>
                <a:srgbClr val="3D64A9"/>
              </a:solidFill>
            </a:rPr>
            <a:t>Owner</a:t>
          </a:r>
        </a:p>
      </dsp:txBody>
      <dsp:txXfrm>
        <a:off x="2266745" y="931300"/>
        <a:ext cx="1668504" cy="643935"/>
      </dsp:txXfrm>
    </dsp:sp>
    <dsp:sp modelId="{F8D81225-97A8-4DEA-8F1A-6482ECF2FC61}">
      <dsp:nvSpPr>
        <dsp:cNvPr id="0" name=""/>
        <dsp:cNvSpPr/>
      </dsp:nvSpPr>
      <dsp:spPr>
        <a:xfrm>
          <a:off x="2101061" y="728252"/>
          <a:ext cx="147642" cy="1443531"/>
        </a:xfrm>
        <a:custGeom>
          <a:avLst/>
          <a:gdLst/>
          <a:ahLst/>
          <a:cxnLst/>
          <a:rect l="0" t="0" r="0" b="0"/>
          <a:pathLst>
            <a:path>
              <a:moveTo>
                <a:pt x="0" y="0"/>
              </a:moveTo>
              <a:lnTo>
                <a:pt x="0" y="1443531"/>
              </a:lnTo>
              <a:lnTo>
                <a:pt x="147642" y="1443531"/>
              </a:lnTo>
            </a:path>
          </a:pathLst>
        </a:custGeom>
        <a:noFill/>
        <a:ln w="25400" cap="flat" cmpd="sng" algn="ctr">
          <a:solidFill>
            <a:srgbClr val="3D64A9">
              <a:alpha val="20000"/>
            </a:srgbClr>
          </a:solidFill>
          <a:prstDash val="solid"/>
        </a:ln>
        <a:effectLst/>
      </dsp:spPr>
      <dsp:style>
        <a:lnRef idx="2">
          <a:scrgbClr r="0" g="0" b="0"/>
        </a:lnRef>
        <a:fillRef idx="0">
          <a:scrgbClr r="0" g="0" b="0"/>
        </a:fillRef>
        <a:effectRef idx="0">
          <a:scrgbClr r="0" g="0" b="0"/>
        </a:effectRef>
        <a:fontRef idx="minor"/>
      </dsp:style>
    </dsp:sp>
    <dsp:sp modelId="{FCEA41AB-2D89-4BF4-86D7-EF21C8AE5E7D}">
      <dsp:nvSpPr>
        <dsp:cNvPr id="0" name=""/>
        <dsp:cNvSpPr/>
      </dsp:nvSpPr>
      <dsp:spPr>
        <a:xfrm>
          <a:off x="2248704" y="1831572"/>
          <a:ext cx="1715365" cy="680420"/>
        </a:xfrm>
        <a:prstGeom prst="roundRect">
          <a:avLst>
            <a:gd name="adj" fmla="val 10000"/>
          </a:avLst>
        </a:prstGeom>
        <a:solidFill>
          <a:schemeClr val="lt1">
            <a:alpha val="90000"/>
            <a:hueOff val="0"/>
            <a:satOff val="0"/>
            <a:lumOff val="0"/>
            <a:alphaOff val="0"/>
          </a:schemeClr>
        </a:solidFill>
        <a:ln w="25400" cap="flat" cmpd="sng" algn="ctr">
          <a:solidFill>
            <a:srgbClr val="3D64A9">
              <a:alpha val="2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Team</a:t>
          </a:r>
        </a:p>
      </dsp:txBody>
      <dsp:txXfrm>
        <a:off x="2268633" y="1851501"/>
        <a:ext cx="1675507" cy="640562"/>
      </dsp:txXfrm>
    </dsp:sp>
    <dsp:sp modelId="{B511D004-A139-46AA-A2FB-96B1BDFA2CD5}">
      <dsp:nvSpPr>
        <dsp:cNvPr id="0" name=""/>
        <dsp:cNvSpPr/>
      </dsp:nvSpPr>
      <dsp:spPr>
        <a:xfrm>
          <a:off x="2101061" y="728252"/>
          <a:ext cx="145650" cy="2252218"/>
        </a:xfrm>
        <a:custGeom>
          <a:avLst/>
          <a:gdLst/>
          <a:ahLst/>
          <a:cxnLst/>
          <a:rect l="0" t="0" r="0" b="0"/>
          <a:pathLst>
            <a:path>
              <a:moveTo>
                <a:pt x="0" y="0"/>
              </a:moveTo>
              <a:lnTo>
                <a:pt x="0" y="2252218"/>
              </a:lnTo>
              <a:lnTo>
                <a:pt x="145650" y="2252218"/>
              </a:lnTo>
            </a:path>
          </a:pathLst>
        </a:custGeom>
        <a:noFill/>
        <a:ln w="25400" cap="flat" cmpd="sng" algn="ctr">
          <a:solidFill>
            <a:srgbClr val="3D64A9">
              <a:alpha val="20000"/>
            </a:srgbClr>
          </a:solidFill>
          <a:prstDash val="solid"/>
        </a:ln>
        <a:effectLst/>
      </dsp:spPr>
      <dsp:style>
        <a:lnRef idx="2">
          <a:scrgbClr r="0" g="0" b="0"/>
        </a:lnRef>
        <a:fillRef idx="0">
          <a:scrgbClr r="0" g="0" b="0"/>
        </a:fillRef>
        <a:effectRef idx="0">
          <a:scrgbClr r="0" g="0" b="0"/>
        </a:effectRef>
        <a:fontRef idx="minor"/>
      </dsp:style>
    </dsp:sp>
    <dsp:sp modelId="{A77333F7-7466-45E0-AEE2-3E36BED68E0A}">
      <dsp:nvSpPr>
        <dsp:cNvPr id="0" name=""/>
        <dsp:cNvSpPr/>
      </dsp:nvSpPr>
      <dsp:spPr>
        <a:xfrm>
          <a:off x="2246711" y="2639816"/>
          <a:ext cx="1708572" cy="681308"/>
        </a:xfrm>
        <a:prstGeom prst="roundRect">
          <a:avLst>
            <a:gd name="adj" fmla="val 10000"/>
          </a:avLst>
        </a:prstGeom>
        <a:solidFill>
          <a:schemeClr val="lt1">
            <a:alpha val="90000"/>
            <a:hueOff val="0"/>
            <a:satOff val="0"/>
            <a:lumOff val="0"/>
            <a:alphaOff val="0"/>
          </a:schemeClr>
        </a:solidFill>
        <a:ln w="25400" cap="flat" cmpd="sng" algn="ctr">
          <a:solidFill>
            <a:srgbClr val="3D64A9">
              <a:alpha val="2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Scrum</a:t>
          </a:r>
        </a:p>
        <a:p>
          <a:pPr marL="0" lvl="0" indent="0" algn="ctr" defTabSz="800100">
            <a:lnSpc>
              <a:spcPct val="90000"/>
            </a:lnSpc>
            <a:spcBef>
              <a:spcPct val="0"/>
            </a:spcBef>
            <a:spcAft>
              <a:spcPct val="35000"/>
            </a:spcAft>
            <a:buNone/>
          </a:pPr>
          <a:r>
            <a:rPr lang="fr-FR" sz="1800" kern="1200" dirty="0">
              <a:solidFill>
                <a:srgbClr val="3D64A9"/>
              </a:solidFill>
            </a:rPr>
            <a:t>Master</a:t>
          </a:r>
        </a:p>
      </dsp:txBody>
      <dsp:txXfrm>
        <a:off x="2266666" y="2659771"/>
        <a:ext cx="1668662" cy="641398"/>
      </dsp:txXfrm>
    </dsp:sp>
    <dsp:sp modelId="{7CC5708D-42EC-4622-9CF8-F3A84C6CA157}">
      <dsp:nvSpPr>
        <dsp:cNvPr id="0" name=""/>
        <dsp:cNvSpPr/>
      </dsp:nvSpPr>
      <dsp:spPr>
        <a:xfrm>
          <a:off x="4034902" y="0"/>
          <a:ext cx="1456504" cy="728252"/>
        </a:xfrm>
        <a:prstGeom prst="roundRect">
          <a:avLst>
            <a:gd name="adj" fmla="val 10000"/>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dirty="0" err="1"/>
            <a:t>Artifacts</a:t>
          </a:r>
          <a:endParaRPr lang="fr-FR" sz="2000" kern="1200" dirty="0"/>
        </a:p>
      </dsp:txBody>
      <dsp:txXfrm>
        <a:off x="4056232" y="21330"/>
        <a:ext cx="1413844" cy="685592"/>
      </dsp:txXfrm>
    </dsp:sp>
    <dsp:sp modelId="{9D5E06B9-3679-4E14-A51D-7FA983A0A353}">
      <dsp:nvSpPr>
        <dsp:cNvPr id="0" name=""/>
        <dsp:cNvSpPr/>
      </dsp:nvSpPr>
      <dsp:spPr>
        <a:xfrm>
          <a:off x="4180553" y="728252"/>
          <a:ext cx="145650" cy="513316"/>
        </a:xfrm>
        <a:custGeom>
          <a:avLst/>
          <a:gdLst/>
          <a:ahLst/>
          <a:cxnLst/>
          <a:rect l="0" t="0" r="0" b="0"/>
          <a:pathLst>
            <a:path>
              <a:moveTo>
                <a:pt x="0" y="0"/>
              </a:moveTo>
              <a:lnTo>
                <a:pt x="0" y="513316"/>
              </a:lnTo>
              <a:lnTo>
                <a:pt x="145650" y="5133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E59A86-E455-4AA1-A8B4-570F8E0D635A}">
      <dsp:nvSpPr>
        <dsp:cNvPr id="0" name=""/>
        <dsp:cNvSpPr/>
      </dsp:nvSpPr>
      <dsp:spPr>
        <a:xfrm>
          <a:off x="4326203" y="911266"/>
          <a:ext cx="1668885" cy="66060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Vision</a:t>
          </a:r>
        </a:p>
      </dsp:txBody>
      <dsp:txXfrm>
        <a:off x="4345551" y="930614"/>
        <a:ext cx="1630189" cy="621908"/>
      </dsp:txXfrm>
    </dsp:sp>
    <dsp:sp modelId="{D7E371EC-8E56-4B2F-8676-6D9E2200A40B}">
      <dsp:nvSpPr>
        <dsp:cNvPr id="0" name=""/>
        <dsp:cNvSpPr/>
      </dsp:nvSpPr>
      <dsp:spPr>
        <a:xfrm>
          <a:off x="4180553" y="728252"/>
          <a:ext cx="145650" cy="1355947"/>
        </a:xfrm>
        <a:custGeom>
          <a:avLst/>
          <a:gdLst/>
          <a:ahLst/>
          <a:cxnLst/>
          <a:rect l="0" t="0" r="0" b="0"/>
          <a:pathLst>
            <a:path>
              <a:moveTo>
                <a:pt x="0" y="0"/>
              </a:moveTo>
              <a:lnTo>
                <a:pt x="0" y="1355947"/>
              </a:lnTo>
              <a:lnTo>
                <a:pt x="145650" y="1355947"/>
              </a:lnTo>
            </a:path>
          </a:pathLst>
        </a:custGeom>
        <a:noFill/>
        <a:ln w="25400" cap="flat" cmpd="sng" algn="ctr">
          <a:solidFill>
            <a:srgbClr val="3D64A9">
              <a:alpha val="20000"/>
            </a:srgbClr>
          </a:solidFill>
          <a:prstDash val="solid"/>
        </a:ln>
        <a:effectLst/>
      </dsp:spPr>
      <dsp:style>
        <a:lnRef idx="2">
          <a:scrgbClr r="0" g="0" b="0"/>
        </a:lnRef>
        <a:fillRef idx="0">
          <a:scrgbClr r="0" g="0" b="0"/>
        </a:fillRef>
        <a:effectRef idx="0">
          <a:scrgbClr r="0" g="0" b="0"/>
        </a:effectRef>
        <a:fontRef idx="minor"/>
      </dsp:style>
    </dsp:sp>
    <dsp:sp modelId="{E20A1485-D9C6-478E-A8EA-063B24724480}">
      <dsp:nvSpPr>
        <dsp:cNvPr id="0" name=""/>
        <dsp:cNvSpPr/>
      </dsp:nvSpPr>
      <dsp:spPr>
        <a:xfrm>
          <a:off x="4326203" y="1753933"/>
          <a:ext cx="1697363" cy="660531"/>
        </a:xfrm>
        <a:prstGeom prst="roundRect">
          <a:avLst>
            <a:gd name="adj" fmla="val 10000"/>
          </a:avLst>
        </a:prstGeom>
        <a:solidFill>
          <a:schemeClr val="lt1">
            <a:alpha val="90000"/>
            <a:hueOff val="0"/>
            <a:satOff val="0"/>
            <a:lumOff val="0"/>
            <a:alphaOff val="0"/>
          </a:schemeClr>
        </a:solidFill>
        <a:ln w="25400" cap="flat" cmpd="sng" algn="ctr">
          <a:solidFill>
            <a:srgbClr val="3D64A9">
              <a:alpha val="2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Product</a:t>
          </a:r>
        </a:p>
        <a:p>
          <a:pPr marL="0" lvl="0" indent="0" algn="ctr" defTabSz="800100">
            <a:lnSpc>
              <a:spcPct val="90000"/>
            </a:lnSpc>
            <a:spcBef>
              <a:spcPct val="0"/>
            </a:spcBef>
            <a:spcAft>
              <a:spcPct val="35000"/>
            </a:spcAft>
            <a:buNone/>
          </a:pPr>
          <a:r>
            <a:rPr lang="fr-FR" sz="1800" kern="1200" dirty="0">
              <a:solidFill>
                <a:srgbClr val="3D64A9"/>
              </a:solidFill>
            </a:rPr>
            <a:t>Backlog</a:t>
          </a:r>
        </a:p>
      </dsp:txBody>
      <dsp:txXfrm>
        <a:off x="4345549" y="1773279"/>
        <a:ext cx="1658671" cy="621839"/>
      </dsp:txXfrm>
    </dsp:sp>
    <dsp:sp modelId="{6D6EB423-AD3B-437B-B696-1BC7BE491F85}">
      <dsp:nvSpPr>
        <dsp:cNvPr id="0" name=""/>
        <dsp:cNvSpPr/>
      </dsp:nvSpPr>
      <dsp:spPr>
        <a:xfrm>
          <a:off x="4180553" y="728252"/>
          <a:ext cx="145650" cy="2198123"/>
        </a:xfrm>
        <a:custGeom>
          <a:avLst/>
          <a:gdLst/>
          <a:ahLst/>
          <a:cxnLst/>
          <a:rect l="0" t="0" r="0" b="0"/>
          <a:pathLst>
            <a:path>
              <a:moveTo>
                <a:pt x="0" y="0"/>
              </a:moveTo>
              <a:lnTo>
                <a:pt x="0" y="2198123"/>
              </a:lnTo>
              <a:lnTo>
                <a:pt x="145650" y="2198123"/>
              </a:lnTo>
            </a:path>
          </a:pathLst>
        </a:custGeom>
        <a:noFill/>
        <a:ln w="25400" cap="flat" cmpd="sng" algn="ctr">
          <a:solidFill>
            <a:srgbClr val="3D64A9">
              <a:alpha val="20000"/>
            </a:srgbClr>
          </a:solidFill>
          <a:prstDash val="solid"/>
        </a:ln>
        <a:effectLst/>
      </dsp:spPr>
      <dsp:style>
        <a:lnRef idx="2">
          <a:scrgbClr r="0" g="0" b="0"/>
        </a:lnRef>
        <a:fillRef idx="0">
          <a:scrgbClr r="0" g="0" b="0"/>
        </a:fillRef>
        <a:effectRef idx="0">
          <a:scrgbClr r="0" g="0" b="0"/>
        </a:effectRef>
        <a:fontRef idx="minor"/>
      </dsp:style>
    </dsp:sp>
    <dsp:sp modelId="{E3F23BBB-DC1D-48E1-A304-75C0C12B73A2}">
      <dsp:nvSpPr>
        <dsp:cNvPr id="0" name=""/>
        <dsp:cNvSpPr/>
      </dsp:nvSpPr>
      <dsp:spPr>
        <a:xfrm>
          <a:off x="4326203" y="2596528"/>
          <a:ext cx="1704063" cy="659694"/>
        </a:xfrm>
        <a:prstGeom prst="roundRect">
          <a:avLst>
            <a:gd name="adj" fmla="val 10000"/>
          </a:avLst>
        </a:prstGeom>
        <a:solidFill>
          <a:schemeClr val="lt1">
            <a:alpha val="90000"/>
            <a:hueOff val="0"/>
            <a:satOff val="0"/>
            <a:lumOff val="0"/>
            <a:alphaOff val="0"/>
          </a:schemeClr>
        </a:solidFill>
        <a:ln w="25400" cap="flat" cmpd="sng" algn="ctr">
          <a:solidFill>
            <a:srgbClr val="3D64A9">
              <a:alpha val="2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Sprint</a:t>
          </a:r>
        </a:p>
        <a:p>
          <a:pPr marL="0" lvl="0" indent="0" algn="ctr" defTabSz="800100">
            <a:lnSpc>
              <a:spcPct val="90000"/>
            </a:lnSpc>
            <a:spcBef>
              <a:spcPct val="0"/>
            </a:spcBef>
            <a:spcAft>
              <a:spcPct val="35000"/>
            </a:spcAft>
            <a:buNone/>
          </a:pPr>
          <a:r>
            <a:rPr lang="fr-FR" sz="1800" kern="1200" dirty="0">
              <a:solidFill>
                <a:srgbClr val="3D64A9"/>
              </a:solidFill>
            </a:rPr>
            <a:t>Backlog</a:t>
          </a:r>
        </a:p>
      </dsp:txBody>
      <dsp:txXfrm>
        <a:off x="4345525" y="2615850"/>
        <a:ext cx="1665419" cy="621050"/>
      </dsp:txXfrm>
    </dsp:sp>
    <dsp:sp modelId="{25419AE4-C220-428E-B648-E2393CB86E3D}">
      <dsp:nvSpPr>
        <dsp:cNvPr id="0" name=""/>
        <dsp:cNvSpPr/>
      </dsp:nvSpPr>
      <dsp:spPr>
        <a:xfrm>
          <a:off x="4180553" y="728252"/>
          <a:ext cx="145650" cy="3022949"/>
        </a:xfrm>
        <a:custGeom>
          <a:avLst/>
          <a:gdLst/>
          <a:ahLst/>
          <a:cxnLst/>
          <a:rect l="0" t="0" r="0" b="0"/>
          <a:pathLst>
            <a:path>
              <a:moveTo>
                <a:pt x="0" y="0"/>
              </a:moveTo>
              <a:lnTo>
                <a:pt x="0" y="3022949"/>
              </a:lnTo>
              <a:lnTo>
                <a:pt x="145650" y="302294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CDCB2A-CF3A-45E6-968C-9EE003526937}">
      <dsp:nvSpPr>
        <dsp:cNvPr id="0" name=""/>
        <dsp:cNvSpPr/>
      </dsp:nvSpPr>
      <dsp:spPr>
        <a:xfrm>
          <a:off x="4326203" y="3438286"/>
          <a:ext cx="1703655" cy="62583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err="1">
              <a:solidFill>
                <a:srgbClr val="3D64A9"/>
              </a:solidFill>
            </a:rPr>
            <a:t>Increment</a:t>
          </a:r>
          <a:endParaRPr lang="fr-FR" sz="1800" kern="1200" dirty="0">
            <a:solidFill>
              <a:srgbClr val="3D64A9"/>
            </a:solidFill>
          </a:endParaRPr>
        </a:p>
      </dsp:txBody>
      <dsp:txXfrm>
        <a:off x="4344533" y="3456616"/>
        <a:ext cx="1666995" cy="589170"/>
      </dsp:txXfrm>
    </dsp:sp>
    <dsp:sp modelId="{5344838D-ACAF-4329-8BD2-E8DC82039B3C}">
      <dsp:nvSpPr>
        <dsp:cNvPr id="0" name=""/>
        <dsp:cNvSpPr/>
      </dsp:nvSpPr>
      <dsp:spPr>
        <a:xfrm>
          <a:off x="6003158" y="0"/>
          <a:ext cx="1956172" cy="728252"/>
        </a:xfrm>
        <a:prstGeom prst="roundRect">
          <a:avLst>
            <a:gd name="adj" fmla="val 10000"/>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dirty="0"/>
            <a:t>Events</a:t>
          </a:r>
        </a:p>
      </dsp:txBody>
      <dsp:txXfrm>
        <a:off x="6024488" y="21330"/>
        <a:ext cx="1913512" cy="685592"/>
      </dsp:txXfrm>
    </dsp:sp>
    <dsp:sp modelId="{B46D388C-C438-41B6-90CE-812E1F157899}">
      <dsp:nvSpPr>
        <dsp:cNvPr id="0" name=""/>
        <dsp:cNvSpPr/>
      </dsp:nvSpPr>
      <dsp:spPr>
        <a:xfrm>
          <a:off x="6198775" y="728252"/>
          <a:ext cx="195617" cy="485872"/>
        </a:xfrm>
        <a:custGeom>
          <a:avLst/>
          <a:gdLst/>
          <a:ahLst/>
          <a:cxnLst/>
          <a:rect l="0" t="0" r="0" b="0"/>
          <a:pathLst>
            <a:path>
              <a:moveTo>
                <a:pt x="0" y="0"/>
              </a:moveTo>
              <a:lnTo>
                <a:pt x="0" y="485872"/>
              </a:lnTo>
              <a:lnTo>
                <a:pt x="195617" y="48587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66893D-8BB0-42F7-BDF1-C022A34432F8}">
      <dsp:nvSpPr>
        <dsp:cNvPr id="0" name=""/>
        <dsp:cNvSpPr/>
      </dsp:nvSpPr>
      <dsp:spPr>
        <a:xfrm>
          <a:off x="6394392" y="911266"/>
          <a:ext cx="1702781" cy="60571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Sprint</a:t>
          </a:r>
        </a:p>
      </dsp:txBody>
      <dsp:txXfrm>
        <a:off x="6412133" y="929007"/>
        <a:ext cx="1667299" cy="570234"/>
      </dsp:txXfrm>
    </dsp:sp>
    <dsp:sp modelId="{D0643DD1-7CEF-4D07-B56B-D9D47D6D3E2D}">
      <dsp:nvSpPr>
        <dsp:cNvPr id="0" name=""/>
        <dsp:cNvSpPr/>
      </dsp:nvSpPr>
      <dsp:spPr>
        <a:xfrm>
          <a:off x="6198775" y="728252"/>
          <a:ext cx="195617" cy="1292080"/>
        </a:xfrm>
        <a:custGeom>
          <a:avLst/>
          <a:gdLst/>
          <a:ahLst/>
          <a:cxnLst/>
          <a:rect l="0" t="0" r="0" b="0"/>
          <a:pathLst>
            <a:path>
              <a:moveTo>
                <a:pt x="0" y="0"/>
              </a:moveTo>
              <a:lnTo>
                <a:pt x="0" y="1292080"/>
              </a:lnTo>
              <a:lnTo>
                <a:pt x="195617" y="1292080"/>
              </a:lnTo>
            </a:path>
          </a:pathLst>
        </a:custGeom>
        <a:noFill/>
        <a:ln w="25400" cap="flat" cmpd="sng" algn="ctr">
          <a:solidFill>
            <a:srgbClr val="3D64A9">
              <a:alpha val="20000"/>
            </a:srgbClr>
          </a:solidFill>
          <a:prstDash val="solid"/>
        </a:ln>
        <a:effectLst/>
      </dsp:spPr>
      <dsp:style>
        <a:lnRef idx="2">
          <a:scrgbClr r="0" g="0" b="0"/>
        </a:lnRef>
        <a:fillRef idx="0">
          <a:scrgbClr r="0" g="0" b="0"/>
        </a:fillRef>
        <a:effectRef idx="0">
          <a:scrgbClr r="0" g="0" b="0"/>
        </a:effectRef>
        <a:fontRef idx="minor"/>
      </dsp:style>
    </dsp:sp>
    <dsp:sp modelId="{55BFDFBB-2AA0-44C1-A20E-CEF70380E66D}">
      <dsp:nvSpPr>
        <dsp:cNvPr id="0" name=""/>
        <dsp:cNvSpPr/>
      </dsp:nvSpPr>
      <dsp:spPr>
        <a:xfrm>
          <a:off x="6394392" y="1699045"/>
          <a:ext cx="1724512" cy="642573"/>
        </a:xfrm>
        <a:prstGeom prst="roundRect">
          <a:avLst>
            <a:gd name="adj" fmla="val 10000"/>
          </a:avLst>
        </a:prstGeom>
        <a:solidFill>
          <a:schemeClr val="lt1">
            <a:alpha val="90000"/>
            <a:hueOff val="0"/>
            <a:satOff val="0"/>
            <a:lumOff val="0"/>
            <a:alphaOff val="0"/>
          </a:schemeClr>
        </a:solidFill>
        <a:ln w="25400" cap="flat" cmpd="sng" algn="ctr">
          <a:solidFill>
            <a:srgbClr val="3D64A9">
              <a:alpha val="2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Sprint</a:t>
          </a:r>
        </a:p>
        <a:p>
          <a:pPr marL="0" lvl="0" indent="0" algn="ctr" defTabSz="800100">
            <a:lnSpc>
              <a:spcPct val="90000"/>
            </a:lnSpc>
            <a:spcBef>
              <a:spcPct val="0"/>
            </a:spcBef>
            <a:spcAft>
              <a:spcPct val="35000"/>
            </a:spcAft>
            <a:buNone/>
          </a:pPr>
          <a:r>
            <a:rPr lang="fr-FR" sz="1800" kern="1200" dirty="0">
              <a:solidFill>
                <a:srgbClr val="3D64A9"/>
              </a:solidFill>
            </a:rPr>
            <a:t>planning</a:t>
          </a:r>
        </a:p>
      </dsp:txBody>
      <dsp:txXfrm>
        <a:off x="6413212" y="1717865"/>
        <a:ext cx="1686872" cy="604933"/>
      </dsp:txXfrm>
    </dsp:sp>
    <dsp:sp modelId="{8F4898AA-B35A-44BF-A272-659A81DDB9BE}">
      <dsp:nvSpPr>
        <dsp:cNvPr id="0" name=""/>
        <dsp:cNvSpPr/>
      </dsp:nvSpPr>
      <dsp:spPr>
        <a:xfrm>
          <a:off x="6198775" y="728252"/>
          <a:ext cx="195617" cy="2116716"/>
        </a:xfrm>
        <a:custGeom>
          <a:avLst/>
          <a:gdLst/>
          <a:ahLst/>
          <a:cxnLst/>
          <a:rect l="0" t="0" r="0" b="0"/>
          <a:pathLst>
            <a:path>
              <a:moveTo>
                <a:pt x="0" y="0"/>
              </a:moveTo>
              <a:lnTo>
                <a:pt x="0" y="2116716"/>
              </a:lnTo>
              <a:lnTo>
                <a:pt x="195617" y="2116716"/>
              </a:lnTo>
            </a:path>
          </a:pathLst>
        </a:custGeom>
        <a:noFill/>
        <a:ln w="25400" cap="flat" cmpd="sng" algn="ctr">
          <a:solidFill>
            <a:srgbClr val="3D64A9">
              <a:alpha val="20000"/>
            </a:srgbClr>
          </a:solidFill>
          <a:prstDash val="solid"/>
        </a:ln>
        <a:effectLst/>
      </dsp:spPr>
      <dsp:style>
        <a:lnRef idx="2">
          <a:scrgbClr r="0" g="0" b="0"/>
        </a:lnRef>
        <a:fillRef idx="0">
          <a:scrgbClr r="0" g="0" b="0"/>
        </a:fillRef>
        <a:effectRef idx="0">
          <a:scrgbClr r="0" g="0" b="0"/>
        </a:effectRef>
        <a:fontRef idx="minor"/>
      </dsp:style>
    </dsp:sp>
    <dsp:sp modelId="{DFA70571-E103-43F3-93BB-AA6E7AEA3025}">
      <dsp:nvSpPr>
        <dsp:cNvPr id="0" name=""/>
        <dsp:cNvSpPr/>
      </dsp:nvSpPr>
      <dsp:spPr>
        <a:xfrm>
          <a:off x="6394392" y="2523681"/>
          <a:ext cx="1731445" cy="642573"/>
        </a:xfrm>
        <a:prstGeom prst="roundRect">
          <a:avLst>
            <a:gd name="adj" fmla="val 10000"/>
          </a:avLst>
        </a:prstGeom>
        <a:solidFill>
          <a:schemeClr val="lt1">
            <a:alpha val="90000"/>
            <a:hueOff val="0"/>
            <a:satOff val="0"/>
            <a:lumOff val="0"/>
            <a:alphaOff val="0"/>
          </a:schemeClr>
        </a:solidFill>
        <a:ln w="25400" cap="flat" cmpd="sng" algn="ctr">
          <a:solidFill>
            <a:srgbClr val="3D64A9">
              <a:alpha val="2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Daily</a:t>
          </a:r>
        </a:p>
        <a:p>
          <a:pPr marL="0" lvl="0" indent="0" algn="ctr" defTabSz="800100">
            <a:lnSpc>
              <a:spcPct val="90000"/>
            </a:lnSpc>
            <a:spcBef>
              <a:spcPct val="0"/>
            </a:spcBef>
            <a:spcAft>
              <a:spcPct val="35000"/>
            </a:spcAft>
            <a:buNone/>
          </a:pPr>
          <a:r>
            <a:rPr lang="fr-FR" sz="1800" kern="1200" dirty="0" err="1">
              <a:solidFill>
                <a:srgbClr val="3D64A9"/>
              </a:solidFill>
            </a:rPr>
            <a:t>scrum</a:t>
          </a:r>
          <a:endParaRPr lang="fr-FR" sz="1800" kern="1200" dirty="0">
            <a:solidFill>
              <a:srgbClr val="3D64A9"/>
            </a:solidFill>
          </a:endParaRPr>
        </a:p>
      </dsp:txBody>
      <dsp:txXfrm>
        <a:off x="6413212" y="2542501"/>
        <a:ext cx="1693805" cy="604933"/>
      </dsp:txXfrm>
    </dsp:sp>
    <dsp:sp modelId="{90C540E5-08D1-4D76-928D-27609A3B7D14}">
      <dsp:nvSpPr>
        <dsp:cNvPr id="0" name=""/>
        <dsp:cNvSpPr/>
      </dsp:nvSpPr>
      <dsp:spPr>
        <a:xfrm>
          <a:off x="6198775" y="728252"/>
          <a:ext cx="195617" cy="2918809"/>
        </a:xfrm>
        <a:custGeom>
          <a:avLst/>
          <a:gdLst/>
          <a:ahLst/>
          <a:cxnLst/>
          <a:rect l="0" t="0" r="0" b="0"/>
          <a:pathLst>
            <a:path>
              <a:moveTo>
                <a:pt x="0" y="0"/>
              </a:moveTo>
              <a:lnTo>
                <a:pt x="0" y="2918809"/>
              </a:lnTo>
              <a:lnTo>
                <a:pt x="195617" y="2918809"/>
              </a:lnTo>
            </a:path>
          </a:pathLst>
        </a:custGeom>
        <a:noFill/>
        <a:ln w="25400" cap="flat" cmpd="sng" algn="ctr">
          <a:solidFill>
            <a:srgbClr val="3D64A9">
              <a:alpha val="20000"/>
            </a:srgbClr>
          </a:solidFill>
          <a:prstDash val="solid"/>
        </a:ln>
        <a:effectLst/>
      </dsp:spPr>
      <dsp:style>
        <a:lnRef idx="2">
          <a:scrgbClr r="0" g="0" b="0"/>
        </a:lnRef>
        <a:fillRef idx="0">
          <a:scrgbClr r="0" g="0" b="0"/>
        </a:fillRef>
        <a:effectRef idx="0">
          <a:scrgbClr r="0" g="0" b="0"/>
        </a:effectRef>
        <a:fontRef idx="minor"/>
      </dsp:style>
    </dsp:sp>
    <dsp:sp modelId="{F0A99C6E-BA79-4295-B84F-CB067C16294B}">
      <dsp:nvSpPr>
        <dsp:cNvPr id="0" name=""/>
        <dsp:cNvSpPr/>
      </dsp:nvSpPr>
      <dsp:spPr>
        <a:xfrm>
          <a:off x="6394392" y="3348318"/>
          <a:ext cx="1733764" cy="597487"/>
        </a:xfrm>
        <a:prstGeom prst="roundRect">
          <a:avLst>
            <a:gd name="adj" fmla="val 10000"/>
          </a:avLst>
        </a:prstGeom>
        <a:solidFill>
          <a:schemeClr val="lt1">
            <a:alpha val="90000"/>
            <a:hueOff val="0"/>
            <a:satOff val="0"/>
            <a:lumOff val="0"/>
            <a:alphaOff val="0"/>
          </a:schemeClr>
        </a:solidFill>
        <a:ln w="25400" cap="flat" cmpd="sng" algn="ctr">
          <a:solidFill>
            <a:srgbClr val="3D64A9">
              <a:alpha val="2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Sprint</a:t>
          </a:r>
        </a:p>
        <a:p>
          <a:pPr marL="0" lvl="0" indent="0" algn="ctr" defTabSz="800100">
            <a:lnSpc>
              <a:spcPct val="90000"/>
            </a:lnSpc>
            <a:spcBef>
              <a:spcPct val="0"/>
            </a:spcBef>
            <a:spcAft>
              <a:spcPct val="35000"/>
            </a:spcAft>
            <a:buNone/>
          </a:pPr>
          <a:r>
            <a:rPr lang="fr-FR" sz="1800" kern="1200" dirty="0" err="1">
              <a:solidFill>
                <a:srgbClr val="3D64A9"/>
              </a:solidFill>
            </a:rPr>
            <a:t>review</a:t>
          </a:r>
          <a:endParaRPr lang="fr-FR" sz="1800" kern="1200" dirty="0">
            <a:solidFill>
              <a:srgbClr val="3D64A9"/>
            </a:solidFill>
          </a:endParaRPr>
        </a:p>
      </dsp:txBody>
      <dsp:txXfrm>
        <a:off x="6411892" y="3365818"/>
        <a:ext cx="1698764" cy="562487"/>
      </dsp:txXfrm>
    </dsp:sp>
    <dsp:sp modelId="{D205C6AE-C06B-45FF-BD84-391C35162F44}">
      <dsp:nvSpPr>
        <dsp:cNvPr id="0" name=""/>
        <dsp:cNvSpPr/>
      </dsp:nvSpPr>
      <dsp:spPr>
        <a:xfrm>
          <a:off x="6198775" y="728252"/>
          <a:ext cx="195617" cy="3711694"/>
        </a:xfrm>
        <a:custGeom>
          <a:avLst/>
          <a:gdLst/>
          <a:ahLst/>
          <a:cxnLst/>
          <a:rect l="0" t="0" r="0" b="0"/>
          <a:pathLst>
            <a:path>
              <a:moveTo>
                <a:pt x="0" y="0"/>
              </a:moveTo>
              <a:lnTo>
                <a:pt x="0" y="3711694"/>
              </a:lnTo>
              <a:lnTo>
                <a:pt x="195617" y="3711694"/>
              </a:lnTo>
            </a:path>
          </a:pathLst>
        </a:custGeom>
        <a:noFill/>
        <a:ln w="25400" cap="flat" cmpd="sng" algn="ctr">
          <a:solidFill>
            <a:srgbClr val="3D64A9">
              <a:alpha val="20000"/>
            </a:srgbClr>
          </a:solidFill>
          <a:prstDash val="solid"/>
        </a:ln>
        <a:effectLst/>
      </dsp:spPr>
      <dsp:style>
        <a:lnRef idx="2">
          <a:scrgbClr r="0" g="0" b="0"/>
        </a:lnRef>
        <a:fillRef idx="0">
          <a:scrgbClr r="0" g="0" b="0"/>
        </a:fillRef>
        <a:effectRef idx="0">
          <a:scrgbClr r="0" g="0" b="0"/>
        </a:effectRef>
        <a:fontRef idx="minor"/>
      </dsp:style>
    </dsp:sp>
    <dsp:sp modelId="{64C6E4E6-B6FE-477B-BD75-2AA93CED11A7}">
      <dsp:nvSpPr>
        <dsp:cNvPr id="0" name=""/>
        <dsp:cNvSpPr/>
      </dsp:nvSpPr>
      <dsp:spPr>
        <a:xfrm>
          <a:off x="6394392" y="4127868"/>
          <a:ext cx="1733764" cy="624155"/>
        </a:xfrm>
        <a:prstGeom prst="roundRect">
          <a:avLst>
            <a:gd name="adj" fmla="val 10000"/>
          </a:avLst>
        </a:prstGeom>
        <a:solidFill>
          <a:schemeClr val="lt1">
            <a:alpha val="90000"/>
            <a:hueOff val="0"/>
            <a:satOff val="0"/>
            <a:lumOff val="0"/>
            <a:alphaOff val="0"/>
          </a:schemeClr>
        </a:solidFill>
        <a:ln w="25400" cap="flat" cmpd="sng" algn="ctr">
          <a:solidFill>
            <a:srgbClr val="3D64A9">
              <a:alpha val="2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3D64A9"/>
              </a:solidFill>
            </a:rPr>
            <a:t>Sprint</a:t>
          </a:r>
        </a:p>
        <a:p>
          <a:pPr marL="0" lvl="0" indent="0" algn="ctr" defTabSz="800100">
            <a:lnSpc>
              <a:spcPct val="90000"/>
            </a:lnSpc>
            <a:spcBef>
              <a:spcPct val="0"/>
            </a:spcBef>
            <a:spcAft>
              <a:spcPct val="35000"/>
            </a:spcAft>
            <a:buNone/>
          </a:pPr>
          <a:r>
            <a:rPr lang="fr-FR" sz="1800" kern="1200" dirty="0" err="1">
              <a:solidFill>
                <a:srgbClr val="3D64A9"/>
              </a:solidFill>
            </a:rPr>
            <a:t>retrospective</a:t>
          </a:r>
          <a:endParaRPr lang="fr-FR" sz="1800" kern="1200" dirty="0">
            <a:solidFill>
              <a:srgbClr val="3D64A9"/>
            </a:solidFill>
          </a:endParaRPr>
        </a:p>
      </dsp:txBody>
      <dsp:txXfrm>
        <a:off x="6412673" y="4146149"/>
        <a:ext cx="1697202" cy="5875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82375-74B2-48B5-BD80-ADA2A9E56595}">
      <dsp:nvSpPr>
        <dsp:cNvPr id="0" name=""/>
        <dsp:cNvSpPr/>
      </dsp:nvSpPr>
      <dsp:spPr>
        <a:xfrm>
          <a:off x="468" y="0"/>
          <a:ext cx="2254274" cy="835630"/>
        </a:xfrm>
        <a:prstGeom prst="homePlate">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Planning</a:t>
          </a:r>
        </a:p>
      </dsp:txBody>
      <dsp:txXfrm>
        <a:off x="468" y="0"/>
        <a:ext cx="2045367" cy="835630"/>
      </dsp:txXfrm>
    </dsp:sp>
    <dsp:sp modelId="{9E4C451D-8D00-4E99-A10A-90DD43FE74A8}">
      <dsp:nvSpPr>
        <dsp:cNvPr id="0" name=""/>
        <dsp:cNvSpPr/>
      </dsp:nvSpPr>
      <dsp:spPr>
        <a:xfrm>
          <a:off x="1606413" y="0"/>
          <a:ext cx="942444" cy="835630"/>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2022" tIns="114681" rIns="57341" bIns="114681" numCol="1" spcCol="1270" anchor="ctr" anchorCtr="0">
          <a:noAutofit/>
        </a:bodyPr>
        <a:lstStyle/>
        <a:p>
          <a:pPr marL="0" lvl="0" indent="0" algn="ctr" defTabSz="1911350">
            <a:lnSpc>
              <a:spcPct val="90000"/>
            </a:lnSpc>
            <a:spcBef>
              <a:spcPct val="0"/>
            </a:spcBef>
            <a:spcAft>
              <a:spcPct val="35000"/>
            </a:spcAft>
            <a:buNone/>
          </a:pPr>
          <a:endParaRPr lang="fr-FR" sz="4300" kern="1200"/>
        </a:p>
      </dsp:txBody>
      <dsp:txXfrm>
        <a:off x="2024228" y="0"/>
        <a:ext cx="106814" cy="835630"/>
      </dsp:txXfrm>
    </dsp:sp>
    <dsp:sp modelId="{665B90B7-521F-4F37-AB82-4B125A05A296}">
      <dsp:nvSpPr>
        <dsp:cNvPr id="0" name=""/>
        <dsp:cNvSpPr/>
      </dsp:nvSpPr>
      <dsp:spPr>
        <a:xfrm>
          <a:off x="1900527" y="0"/>
          <a:ext cx="2213235" cy="835630"/>
        </a:xfrm>
        <a:prstGeom prst="chevron">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Daily</a:t>
          </a:r>
        </a:p>
        <a:p>
          <a:pPr marL="0" lvl="0" indent="0" algn="ctr" defTabSz="711200">
            <a:lnSpc>
              <a:spcPct val="90000"/>
            </a:lnSpc>
            <a:spcBef>
              <a:spcPct val="0"/>
            </a:spcBef>
            <a:spcAft>
              <a:spcPct val="35000"/>
            </a:spcAft>
            <a:buNone/>
          </a:pPr>
          <a:r>
            <a:rPr lang="fr-FR" sz="1600" kern="1200" dirty="0"/>
            <a:t>Scrum</a:t>
          </a:r>
        </a:p>
      </dsp:txBody>
      <dsp:txXfrm>
        <a:off x="2318342" y="0"/>
        <a:ext cx="1377605" cy="835630"/>
      </dsp:txXfrm>
    </dsp:sp>
    <dsp:sp modelId="{8213350C-763D-41BA-8581-BD3794E086E7}">
      <dsp:nvSpPr>
        <dsp:cNvPr id="0" name=""/>
        <dsp:cNvSpPr/>
      </dsp:nvSpPr>
      <dsp:spPr>
        <a:xfrm>
          <a:off x="3465433" y="0"/>
          <a:ext cx="1013177" cy="835630"/>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2022" tIns="114681" rIns="57341" bIns="114681" numCol="1" spcCol="1270" anchor="ctr" anchorCtr="0">
          <a:noAutofit/>
        </a:bodyPr>
        <a:lstStyle/>
        <a:p>
          <a:pPr marL="0" lvl="0" indent="0" algn="ctr" defTabSz="1911350">
            <a:lnSpc>
              <a:spcPct val="90000"/>
            </a:lnSpc>
            <a:spcBef>
              <a:spcPct val="0"/>
            </a:spcBef>
            <a:spcAft>
              <a:spcPct val="35000"/>
            </a:spcAft>
            <a:buNone/>
          </a:pPr>
          <a:endParaRPr lang="fr-FR" sz="4300" kern="1200"/>
        </a:p>
      </dsp:txBody>
      <dsp:txXfrm>
        <a:off x="3883248" y="0"/>
        <a:ext cx="177547" cy="835630"/>
      </dsp:txXfrm>
    </dsp:sp>
    <dsp:sp modelId="{DAE3A98E-5BC9-4648-AE52-0E840D8CB15E}">
      <dsp:nvSpPr>
        <dsp:cNvPr id="0" name=""/>
        <dsp:cNvSpPr/>
      </dsp:nvSpPr>
      <dsp:spPr>
        <a:xfrm>
          <a:off x="3777442" y="0"/>
          <a:ext cx="2517269" cy="835630"/>
        </a:xfrm>
        <a:prstGeom prst="chevron">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Review</a:t>
          </a:r>
        </a:p>
      </dsp:txBody>
      <dsp:txXfrm>
        <a:off x="4195257" y="0"/>
        <a:ext cx="1681639" cy="835630"/>
      </dsp:txXfrm>
    </dsp:sp>
    <dsp:sp modelId="{95F1E873-B045-4DBC-BA57-D41A5665A59C}">
      <dsp:nvSpPr>
        <dsp:cNvPr id="0" name=""/>
        <dsp:cNvSpPr/>
      </dsp:nvSpPr>
      <dsp:spPr>
        <a:xfrm>
          <a:off x="5699221" y="0"/>
          <a:ext cx="2386663" cy="835630"/>
        </a:xfrm>
        <a:prstGeom prst="chevron">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a:t>Retro</a:t>
          </a:r>
          <a:endParaRPr lang="fr-FR" sz="1600" kern="1200" dirty="0"/>
        </a:p>
      </dsp:txBody>
      <dsp:txXfrm>
        <a:off x="6117036" y="0"/>
        <a:ext cx="1551033" cy="8356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82375-74B2-48B5-BD80-ADA2A9E56595}">
      <dsp:nvSpPr>
        <dsp:cNvPr id="0" name=""/>
        <dsp:cNvSpPr/>
      </dsp:nvSpPr>
      <dsp:spPr>
        <a:xfrm>
          <a:off x="141" y="216935"/>
          <a:ext cx="2045746" cy="751249"/>
        </a:xfrm>
        <a:prstGeom prst="homePlate">
          <a:avLst/>
        </a:prstGeom>
        <a:solidFill>
          <a:srgbClr val="BE1218">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Planning</a:t>
          </a:r>
        </a:p>
      </dsp:txBody>
      <dsp:txXfrm>
        <a:off x="141" y="216935"/>
        <a:ext cx="1857934" cy="751249"/>
      </dsp:txXfrm>
    </dsp:sp>
    <dsp:sp modelId="{9E4C451D-8D00-4E99-A10A-90DD43FE74A8}">
      <dsp:nvSpPr>
        <dsp:cNvPr id="0" name=""/>
        <dsp:cNvSpPr/>
      </dsp:nvSpPr>
      <dsp:spPr>
        <a:xfrm>
          <a:off x="1670262" y="216935"/>
          <a:ext cx="727848" cy="751249"/>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104013" rIns="52007" bIns="104013" numCol="1" spcCol="1270" anchor="ctr" anchorCtr="0">
          <a:noAutofit/>
        </a:bodyPr>
        <a:lstStyle/>
        <a:p>
          <a:pPr marL="0" lvl="0" indent="0" algn="ctr" defTabSz="1733550">
            <a:lnSpc>
              <a:spcPct val="90000"/>
            </a:lnSpc>
            <a:spcBef>
              <a:spcPct val="0"/>
            </a:spcBef>
            <a:spcAft>
              <a:spcPct val="35000"/>
            </a:spcAft>
            <a:buNone/>
          </a:pPr>
          <a:endParaRPr lang="fr-FR" sz="3900" kern="1200"/>
        </a:p>
      </dsp:txBody>
      <dsp:txXfrm>
        <a:off x="1670262" y="216935"/>
        <a:ext cx="727848" cy="751249"/>
      </dsp:txXfrm>
    </dsp:sp>
    <dsp:sp modelId="{665B90B7-521F-4F37-AB82-4B125A05A296}">
      <dsp:nvSpPr>
        <dsp:cNvPr id="0" name=""/>
        <dsp:cNvSpPr/>
      </dsp:nvSpPr>
      <dsp:spPr>
        <a:xfrm>
          <a:off x="2022486" y="216935"/>
          <a:ext cx="2096925" cy="751249"/>
        </a:xfrm>
        <a:prstGeom prst="chevron">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Daily</a:t>
          </a:r>
        </a:p>
        <a:p>
          <a:pPr marL="0" lvl="0" indent="0" algn="ctr" defTabSz="711200">
            <a:lnSpc>
              <a:spcPct val="90000"/>
            </a:lnSpc>
            <a:spcBef>
              <a:spcPct val="0"/>
            </a:spcBef>
            <a:spcAft>
              <a:spcPct val="35000"/>
            </a:spcAft>
            <a:buNone/>
          </a:pPr>
          <a:r>
            <a:rPr lang="fr-FR" sz="1600" kern="1200" dirty="0"/>
            <a:t>Scrum</a:t>
          </a:r>
        </a:p>
      </dsp:txBody>
      <dsp:txXfrm>
        <a:off x="2398111" y="216935"/>
        <a:ext cx="1345676" cy="751249"/>
      </dsp:txXfrm>
    </dsp:sp>
    <dsp:sp modelId="{8213350C-763D-41BA-8581-BD3794E086E7}">
      <dsp:nvSpPr>
        <dsp:cNvPr id="0" name=""/>
        <dsp:cNvSpPr/>
      </dsp:nvSpPr>
      <dsp:spPr>
        <a:xfrm>
          <a:off x="3743786" y="216935"/>
          <a:ext cx="721143" cy="751249"/>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104013" rIns="52007" bIns="104013" numCol="1" spcCol="1270" anchor="ctr" anchorCtr="0">
          <a:noAutofit/>
        </a:bodyPr>
        <a:lstStyle/>
        <a:p>
          <a:pPr marL="0" lvl="0" indent="0" algn="ctr" defTabSz="1733550">
            <a:lnSpc>
              <a:spcPct val="90000"/>
            </a:lnSpc>
            <a:spcBef>
              <a:spcPct val="0"/>
            </a:spcBef>
            <a:spcAft>
              <a:spcPct val="35000"/>
            </a:spcAft>
            <a:buNone/>
          </a:pPr>
          <a:endParaRPr lang="fr-FR" sz="3900" kern="1200"/>
        </a:p>
      </dsp:txBody>
      <dsp:txXfrm>
        <a:off x="3743786" y="216935"/>
        <a:ext cx="721143" cy="751249"/>
      </dsp:txXfrm>
    </dsp:sp>
    <dsp:sp modelId="{DAE3A98E-5BC9-4648-AE52-0E840D8CB15E}">
      <dsp:nvSpPr>
        <dsp:cNvPr id="0" name=""/>
        <dsp:cNvSpPr/>
      </dsp:nvSpPr>
      <dsp:spPr>
        <a:xfrm>
          <a:off x="4058691" y="216635"/>
          <a:ext cx="2159992" cy="751249"/>
        </a:xfrm>
        <a:prstGeom prst="chevron">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Review</a:t>
          </a:r>
        </a:p>
      </dsp:txBody>
      <dsp:txXfrm>
        <a:off x="4434316" y="216635"/>
        <a:ext cx="1408743" cy="751249"/>
      </dsp:txXfrm>
    </dsp:sp>
    <dsp:sp modelId="{95F1E873-B045-4DBC-BA57-D41A5665A59C}">
      <dsp:nvSpPr>
        <dsp:cNvPr id="0" name=""/>
        <dsp:cNvSpPr/>
      </dsp:nvSpPr>
      <dsp:spPr>
        <a:xfrm>
          <a:off x="5873673" y="216935"/>
          <a:ext cx="2389123" cy="751249"/>
        </a:xfrm>
        <a:prstGeom prst="chevron">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Retrospective</a:t>
          </a:r>
        </a:p>
      </dsp:txBody>
      <dsp:txXfrm>
        <a:off x="6249298" y="216935"/>
        <a:ext cx="1637874" cy="7512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82375-74B2-48B5-BD80-ADA2A9E56595}">
      <dsp:nvSpPr>
        <dsp:cNvPr id="0" name=""/>
        <dsp:cNvSpPr/>
      </dsp:nvSpPr>
      <dsp:spPr>
        <a:xfrm>
          <a:off x="141" y="216935"/>
          <a:ext cx="2045746" cy="751249"/>
        </a:xfrm>
        <a:prstGeom prst="homePlate">
          <a:avLst/>
        </a:prstGeom>
        <a:solidFill>
          <a:schemeClr val="tx1">
            <a:lumMod val="50000"/>
            <a:lumOff val="50000"/>
            <a:alpha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Planning</a:t>
          </a:r>
        </a:p>
      </dsp:txBody>
      <dsp:txXfrm>
        <a:off x="141" y="216935"/>
        <a:ext cx="1857934" cy="751249"/>
      </dsp:txXfrm>
    </dsp:sp>
    <dsp:sp modelId="{9E4C451D-8D00-4E99-A10A-90DD43FE74A8}">
      <dsp:nvSpPr>
        <dsp:cNvPr id="0" name=""/>
        <dsp:cNvSpPr/>
      </dsp:nvSpPr>
      <dsp:spPr>
        <a:xfrm>
          <a:off x="1670262" y="216935"/>
          <a:ext cx="727848" cy="751249"/>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104013" rIns="52007" bIns="104013" numCol="1" spcCol="1270" anchor="ctr" anchorCtr="0">
          <a:noAutofit/>
        </a:bodyPr>
        <a:lstStyle/>
        <a:p>
          <a:pPr marL="0" lvl="0" indent="0" algn="ctr" defTabSz="1733550">
            <a:lnSpc>
              <a:spcPct val="90000"/>
            </a:lnSpc>
            <a:spcBef>
              <a:spcPct val="0"/>
            </a:spcBef>
            <a:spcAft>
              <a:spcPct val="35000"/>
            </a:spcAft>
            <a:buNone/>
          </a:pPr>
          <a:endParaRPr lang="fr-FR" sz="3900" kern="1200"/>
        </a:p>
      </dsp:txBody>
      <dsp:txXfrm>
        <a:off x="1670262" y="216935"/>
        <a:ext cx="727848" cy="751249"/>
      </dsp:txXfrm>
    </dsp:sp>
    <dsp:sp modelId="{665B90B7-521F-4F37-AB82-4B125A05A296}">
      <dsp:nvSpPr>
        <dsp:cNvPr id="0" name=""/>
        <dsp:cNvSpPr/>
      </dsp:nvSpPr>
      <dsp:spPr>
        <a:xfrm>
          <a:off x="2022486" y="216935"/>
          <a:ext cx="2096925" cy="751249"/>
        </a:xfrm>
        <a:prstGeom prst="chevron">
          <a:avLst/>
        </a:prstGeom>
        <a:solidFill>
          <a:srgbClr val="C00000">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Daily</a:t>
          </a:r>
        </a:p>
        <a:p>
          <a:pPr marL="0" lvl="0" indent="0" algn="ctr" defTabSz="711200">
            <a:lnSpc>
              <a:spcPct val="90000"/>
            </a:lnSpc>
            <a:spcBef>
              <a:spcPct val="0"/>
            </a:spcBef>
            <a:spcAft>
              <a:spcPct val="35000"/>
            </a:spcAft>
            <a:buNone/>
          </a:pPr>
          <a:r>
            <a:rPr lang="fr-FR" sz="1600" kern="1200" dirty="0"/>
            <a:t>Scrum</a:t>
          </a:r>
        </a:p>
      </dsp:txBody>
      <dsp:txXfrm>
        <a:off x="2398111" y="216935"/>
        <a:ext cx="1345676" cy="751249"/>
      </dsp:txXfrm>
    </dsp:sp>
    <dsp:sp modelId="{8213350C-763D-41BA-8581-BD3794E086E7}">
      <dsp:nvSpPr>
        <dsp:cNvPr id="0" name=""/>
        <dsp:cNvSpPr/>
      </dsp:nvSpPr>
      <dsp:spPr>
        <a:xfrm>
          <a:off x="3743786" y="216935"/>
          <a:ext cx="721143" cy="751249"/>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104013" rIns="52007" bIns="104013" numCol="1" spcCol="1270" anchor="ctr" anchorCtr="0">
          <a:noAutofit/>
        </a:bodyPr>
        <a:lstStyle/>
        <a:p>
          <a:pPr marL="0" lvl="0" indent="0" algn="ctr" defTabSz="1733550">
            <a:lnSpc>
              <a:spcPct val="90000"/>
            </a:lnSpc>
            <a:spcBef>
              <a:spcPct val="0"/>
            </a:spcBef>
            <a:spcAft>
              <a:spcPct val="35000"/>
            </a:spcAft>
            <a:buNone/>
          </a:pPr>
          <a:endParaRPr lang="fr-FR" sz="3900" kern="1200"/>
        </a:p>
      </dsp:txBody>
      <dsp:txXfrm>
        <a:off x="3743786" y="216935"/>
        <a:ext cx="721143" cy="751249"/>
      </dsp:txXfrm>
    </dsp:sp>
    <dsp:sp modelId="{DAE3A98E-5BC9-4648-AE52-0E840D8CB15E}">
      <dsp:nvSpPr>
        <dsp:cNvPr id="0" name=""/>
        <dsp:cNvSpPr/>
      </dsp:nvSpPr>
      <dsp:spPr>
        <a:xfrm>
          <a:off x="4058691" y="216635"/>
          <a:ext cx="2159992" cy="751249"/>
        </a:xfrm>
        <a:prstGeom prst="chevron">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Review</a:t>
          </a:r>
        </a:p>
      </dsp:txBody>
      <dsp:txXfrm>
        <a:off x="4434316" y="216635"/>
        <a:ext cx="1408743" cy="751249"/>
      </dsp:txXfrm>
    </dsp:sp>
    <dsp:sp modelId="{95F1E873-B045-4DBC-BA57-D41A5665A59C}">
      <dsp:nvSpPr>
        <dsp:cNvPr id="0" name=""/>
        <dsp:cNvSpPr/>
      </dsp:nvSpPr>
      <dsp:spPr>
        <a:xfrm>
          <a:off x="5873673" y="216935"/>
          <a:ext cx="2389123" cy="751249"/>
        </a:xfrm>
        <a:prstGeom prst="chevron">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Retrospective</a:t>
          </a:r>
        </a:p>
      </dsp:txBody>
      <dsp:txXfrm>
        <a:off x="6249298" y="216935"/>
        <a:ext cx="1637874" cy="7512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82375-74B2-48B5-BD80-ADA2A9E56595}">
      <dsp:nvSpPr>
        <dsp:cNvPr id="0" name=""/>
        <dsp:cNvSpPr/>
      </dsp:nvSpPr>
      <dsp:spPr>
        <a:xfrm>
          <a:off x="141" y="216935"/>
          <a:ext cx="2045746" cy="751249"/>
        </a:xfrm>
        <a:prstGeom prst="homePlate">
          <a:avLst/>
        </a:prstGeom>
        <a:solidFill>
          <a:schemeClr val="tx1">
            <a:lumMod val="50000"/>
            <a:lumOff val="50000"/>
            <a:alpha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Planning</a:t>
          </a:r>
        </a:p>
      </dsp:txBody>
      <dsp:txXfrm>
        <a:off x="141" y="216935"/>
        <a:ext cx="1857934" cy="751249"/>
      </dsp:txXfrm>
    </dsp:sp>
    <dsp:sp modelId="{9E4C451D-8D00-4E99-A10A-90DD43FE74A8}">
      <dsp:nvSpPr>
        <dsp:cNvPr id="0" name=""/>
        <dsp:cNvSpPr/>
      </dsp:nvSpPr>
      <dsp:spPr>
        <a:xfrm>
          <a:off x="1670262" y="216935"/>
          <a:ext cx="727848" cy="751249"/>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104013" rIns="52007" bIns="104013" numCol="1" spcCol="1270" anchor="ctr" anchorCtr="0">
          <a:noAutofit/>
        </a:bodyPr>
        <a:lstStyle/>
        <a:p>
          <a:pPr marL="0" lvl="0" indent="0" algn="ctr" defTabSz="1733550">
            <a:lnSpc>
              <a:spcPct val="90000"/>
            </a:lnSpc>
            <a:spcBef>
              <a:spcPct val="0"/>
            </a:spcBef>
            <a:spcAft>
              <a:spcPct val="35000"/>
            </a:spcAft>
            <a:buNone/>
          </a:pPr>
          <a:endParaRPr lang="fr-FR" sz="3900" kern="1200"/>
        </a:p>
      </dsp:txBody>
      <dsp:txXfrm>
        <a:off x="1670262" y="216935"/>
        <a:ext cx="727848" cy="751249"/>
      </dsp:txXfrm>
    </dsp:sp>
    <dsp:sp modelId="{665B90B7-521F-4F37-AB82-4B125A05A296}">
      <dsp:nvSpPr>
        <dsp:cNvPr id="0" name=""/>
        <dsp:cNvSpPr/>
      </dsp:nvSpPr>
      <dsp:spPr>
        <a:xfrm>
          <a:off x="2034934" y="220729"/>
          <a:ext cx="2096925" cy="751249"/>
        </a:xfrm>
        <a:prstGeom prst="chevron">
          <a:avLst/>
        </a:prstGeom>
        <a:solidFill>
          <a:schemeClr val="tx1">
            <a:lumMod val="50000"/>
            <a:lumOff val="50000"/>
            <a:alpha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Daily</a:t>
          </a:r>
        </a:p>
        <a:p>
          <a:pPr marL="0" lvl="0" indent="0" algn="ctr" defTabSz="711200">
            <a:lnSpc>
              <a:spcPct val="90000"/>
            </a:lnSpc>
            <a:spcBef>
              <a:spcPct val="0"/>
            </a:spcBef>
            <a:spcAft>
              <a:spcPct val="35000"/>
            </a:spcAft>
            <a:buNone/>
          </a:pPr>
          <a:r>
            <a:rPr lang="fr-FR" sz="1600" kern="1200" dirty="0"/>
            <a:t>Scrum</a:t>
          </a:r>
        </a:p>
      </dsp:txBody>
      <dsp:txXfrm>
        <a:off x="2410559" y="220729"/>
        <a:ext cx="1345676" cy="751249"/>
      </dsp:txXfrm>
    </dsp:sp>
    <dsp:sp modelId="{8213350C-763D-41BA-8581-BD3794E086E7}">
      <dsp:nvSpPr>
        <dsp:cNvPr id="0" name=""/>
        <dsp:cNvSpPr/>
      </dsp:nvSpPr>
      <dsp:spPr>
        <a:xfrm>
          <a:off x="3743786" y="216935"/>
          <a:ext cx="721143" cy="751249"/>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104013" rIns="52007" bIns="104013" numCol="1" spcCol="1270" anchor="ctr" anchorCtr="0">
          <a:noAutofit/>
        </a:bodyPr>
        <a:lstStyle/>
        <a:p>
          <a:pPr marL="0" lvl="0" indent="0" algn="ctr" defTabSz="1733550">
            <a:lnSpc>
              <a:spcPct val="90000"/>
            </a:lnSpc>
            <a:spcBef>
              <a:spcPct val="0"/>
            </a:spcBef>
            <a:spcAft>
              <a:spcPct val="35000"/>
            </a:spcAft>
            <a:buNone/>
          </a:pPr>
          <a:endParaRPr lang="fr-FR" sz="3900" kern="1200"/>
        </a:p>
      </dsp:txBody>
      <dsp:txXfrm>
        <a:off x="3743786" y="216935"/>
        <a:ext cx="721143" cy="751249"/>
      </dsp:txXfrm>
    </dsp:sp>
    <dsp:sp modelId="{DAE3A98E-5BC9-4648-AE52-0E840D8CB15E}">
      <dsp:nvSpPr>
        <dsp:cNvPr id="0" name=""/>
        <dsp:cNvSpPr/>
      </dsp:nvSpPr>
      <dsp:spPr>
        <a:xfrm>
          <a:off x="4058691" y="216635"/>
          <a:ext cx="2159992" cy="751249"/>
        </a:xfrm>
        <a:prstGeom prst="chevron">
          <a:avLst/>
        </a:prstGeom>
        <a:solidFill>
          <a:srgbClr val="C00000">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Review</a:t>
          </a:r>
        </a:p>
      </dsp:txBody>
      <dsp:txXfrm>
        <a:off x="4434316" y="216635"/>
        <a:ext cx="1408743" cy="751249"/>
      </dsp:txXfrm>
    </dsp:sp>
    <dsp:sp modelId="{95F1E873-B045-4DBC-BA57-D41A5665A59C}">
      <dsp:nvSpPr>
        <dsp:cNvPr id="0" name=""/>
        <dsp:cNvSpPr/>
      </dsp:nvSpPr>
      <dsp:spPr>
        <a:xfrm>
          <a:off x="5873673" y="216935"/>
          <a:ext cx="2389123" cy="751249"/>
        </a:xfrm>
        <a:prstGeom prst="chevron">
          <a:avLst/>
        </a:prstGeom>
        <a:solidFill>
          <a:srgbClr val="3D64A9">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Retrospective</a:t>
          </a:r>
        </a:p>
      </dsp:txBody>
      <dsp:txXfrm>
        <a:off x="6249298" y="216935"/>
        <a:ext cx="1637874" cy="7512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82375-74B2-48B5-BD80-ADA2A9E56595}">
      <dsp:nvSpPr>
        <dsp:cNvPr id="0" name=""/>
        <dsp:cNvSpPr/>
      </dsp:nvSpPr>
      <dsp:spPr>
        <a:xfrm>
          <a:off x="141" y="216935"/>
          <a:ext cx="2045746" cy="751249"/>
        </a:xfrm>
        <a:prstGeom prst="homePlate">
          <a:avLst/>
        </a:prstGeom>
        <a:solidFill>
          <a:schemeClr val="tx1">
            <a:lumMod val="50000"/>
            <a:lumOff val="50000"/>
            <a:alpha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Planning</a:t>
          </a:r>
        </a:p>
      </dsp:txBody>
      <dsp:txXfrm>
        <a:off x="141" y="216935"/>
        <a:ext cx="1857934" cy="751249"/>
      </dsp:txXfrm>
    </dsp:sp>
    <dsp:sp modelId="{9E4C451D-8D00-4E99-A10A-90DD43FE74A8}">
      <dsp:nvSpPr>
        <dsp:cNvPr id="0" name=""/>
        <dsp:cNvSpPr/>
      </dsp:nvSpPr>
      <dsp:spPr>
        <a:xfrm>
          <a:off x="1670262" y="216935"/>
          <a:ext cx="727848" cy="751249"/>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104013" rIns="52007" bIns="104013" numCol="1" spcCol="1270" anchor="ctr" anchorCtr="0">
          <a:noAutofit/>
        </a:bodyPr>
        <a:lstStyle/>
        <a:p>
          <a:pPr marL="0" lvl="0" indent="0" algn="ctr" defTabSz="1733550">
            <a:lnSpc>
              <a:spcPct val="90000"/>
            </a:lnSpc>
            <a:spcBef>
              <a:spcPct val="0"/>
            </a:spcBef>
            <a:spcAft>
              <a:spcPct val="35000"/>
            </a:spcAft>
            <a:buNone/>
          </a:pPr>
          <a:endParaRPr lang="fr-FR" sz="3900" kern="1200"/>
        </a:p>
      </dsp:txBody>
      <dsp:txXfrm>
        <a:off x="1670262" y="216935"/>
        <a:ext cx="727848" cy="751249"/>
      </dsp:txXfrm>
    </dsp:sp>
    <dsp:sp modelId="{665B90B7-521F-4F37-AB82-4B125A05A296}">
      <dsp:nvSpPr>
        <dsp:cNvPr id="0" name=""/>
        <dsp:cNvSpPr/>
      </dsp:nvSpPr>
      <dsp:spPr>
        <a:xfrm>
          <a:off x="2022486" y="216935"/>
          <a:ext cx="2096925" cy="751249"/>
        </a:xfrm>
        <a:prstGeom prst="chevron">
          <a:avLst/>
        </a:prstGeom>
        <a:solidFill>
          <a:schemeClr val="tx1">
            <a:lumMod val="50000"/>
            <a:lumOff val="50000"/>
            <a:alpha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Daily</a:t>
          </a:r>
        </a:p>
        <a:p>
          <a:pPr marL="0" lvl="0" indent="0" algn="ctr" defTabSz="711200">
            <a:lnSpc>
              <a:spcPct val="90000"/>
            </a:lnSpc>
            <a:spcBef>
              <a:spcPct val="0"/>
            </a:spcBef>
            <a:spcAft>
              <a:spcPct val="35000"/>
            </a:spcAft>
            <a:buNone/>
          </a:pPr>
          <a:r>
            <a:rPr lang="fr-FR" sz="1600" kern="1200" dirty="0"/>
            <a:t>Scrum</a:t>
          </a:r>
        </a:p>
      </dsp:txBody>
      <dsp:txXfrm>
        <a:off x="2398111" y="216935"/>
        <a:ext cx="1345676" cy="751249"/>
      </dsp:txXfrm>
    </dsp:sp>
    <dsp:sp modelId="{8213350C-763D-41BA-8581-BD3794E086E7}">
      <dsp:nvSpPr>
        <dsp:cNvPr id="0" name=""/>
        <dsp:cNvSpPr/>
      </dsp:nvSpPr>
      <dsp:spPr>
        <a:xfrm>
          <a:off x="3743786" y="216935"/>
          <a:ext cx="721143" cy="751249"/>
        </a:xfrm>
        <a:prstGeom prst="chevron">
          <a:avLst/>
        </a:prstGeom>
        <a:pattFill prst="ltDnDiag">
          <a:fgClr>
            <a:schemeClr val="accent1">
              <a:hueOff val="0"/>
              <a:satOff val="0"/>
              <a:lumOff val="0"/>
            </a:schemeClr>
          </a:fgClr>
          <a:bgClr>
            <a:schemeClr val="bg1"/>
          </a:bgClr>
        </a:patt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020" tIns="104013" rIns="52007" bIns="104013" numCol="1" spcCol="1270" anchor="ctr" anchorCtr="0">
          <a:noAutofit/>
        </a:bodyPr>
        <a:lstStyle/>
        <a:p>
          <a:pPr marL="0" lvl="0" indent="0" algn="ctr" defTabSz="1733550">
            <a:lnSpc>
              <a:spcPct val="90000"/>
            </a:lnSpc>
            <a:spcBef>
              <a:spcPct val="0"/>
            </a:spcBef>
            <a:spcAft>
              <a:spcPct val="35000"/>
            </a:spcAft>
            <a:buNone/>
          </a:pPr>
          <a:endParaRPr lang="fr-FR" sz="3900" kern="1200"/>
        </a:p>
      </dsp:txBody>
      <dsp:txXfrm>
        <a:off x="3743786" y="216935"/>
        <a:ext cx="721143" cy="751249"/>
      </dsp:txXfrm>
    </dsp:sp>
    <dsp:sp modelId="{DAE3A98E-5BC9-4648-AE52-0E840D8CB15E}">
      <dsp:nvSpPr>
        <dsp:cNvPr id="0" name=""/>
        <dsp:cNvSpPr/>
      </dsp:nvSpPr>
      <dsp:spPr>
        <a:xfrm>
          <a:off x="4058691" y="216635"/>
          <a:ext cx="2159992" cy="751249"/>
        </a:xfrm>
        <a:prstGeom prst="chevron">
          <a:avLst/>
        </a:prstGeom>
        <a:solidFill>
          <a:schemeClr val="bg2">
            <a:alpha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Review</a:t>
          </a:r>
        </a:p>
      </dsp:txBody>
      <dsp:txXfrm>
        <a:off x="4434316" y="216635"/>
        <a:ext cx="1408743" cy="751249"/>
      </dsp:txXfrm>
    </dsp:sp>
    <dsp:sp modelId="{95F1E873-B045-4DBC-BA57-D41A5665A59C}">
      <dsp:nvSpPr>
        <dsp:cNvPr id="0" name=""/>
        <dsp:cNvSpPr/>
      </dsp:nvSpPr>
      <dsp:spPr>
        <a:xfrm>
          <a:off x="5873673" y="216935"/>
          <a:ext cx="2389123" cy="751249"/>
        </a:xfrm>
        <a:prstGeom prst="chevron">
          <a:avLst/>
        </a:prstGeom>
        <a:solidFill>
          <a:srgbClr val="C00000">
            <a:alpha val="85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fr-FR" sz="1600" kern="1200" dirty="0"/>
            <a:t>Sprint</a:t>
          </a:r>
        </a:p>
        <a:p>
          <a:pPr marL="0" lvl="0" indent="0" algn="ctr" defTabSz="711200">
            <a:lnSpc>
              <a:spcPct val="90000"/>
            </a:lnSpc>
            <a:spcBef>
              <a:spcPct val="0"/>
            </a:spcBef>
            <a:spcAft>
              <a:spcPct val="35000"/>
            </a:spcAft>
            <a:buNone/>
          </a:pPr>
          <a:r>
            <a:rPr lang="fr-FR" sz="1600" kern="1200" dirty="0"/>
            <a:t>Retrospective</a:t>
          </a:r>
        </a:p>
      </dsp:txBody>
      <dsp:txXfrm>
        <a:off x="6249298" y="216935"/>
        <a:ext cx="1637874" cy="75124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DFD4FC-86AD-44C3-B8DA-645FBA94EF85}" type="datetimeFigureOut">
              <a:rPr lang="fr-FR" smtClean="0"/>
              <a:t>03/04/2023</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EEE783-4729-4BE7-9972-D49AE64E54BA}" type="slidenum">
              <a:rPr lang="fr-FR" smtClean="0"/>
              <a:t>‹N°›</a:t>
            </a:fld>
            <a:endParaRPr lang="fr-FR"/>
          </a:p>
        </p:txBody>
      </p:sp>
    </p:spTree>
    <p:extLst>
      <p:ext uri="{BB962C8B-B14F-4D97-AF65-F5344CB8AC3E}">
        <p14:creationId xmlns:p14="http://schemas.microsoft.com/office/powerpoint/2010/main" val="800503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BD1A94-9EC8-4997-9FA5-04AD6FE313F6}" type="datetimeFigureOut">
              <a:rPr lang="fr-FR" smtClean="0"/>
              <a:t>03/04/2023</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A89532-5331-4E95-82CA-EB3AEDE3FF3C}" type="slidenum">
              <a:rPr lang="fr-FR" smtClean="0"/>
              <a:t>‹N°›</a:t>
            </a:fld>
            <a:endParaRPr lang="fr-FR"/>
          </a:p>
        </p:txBody>
      </p:sp>
    </p:spTree>
    <p:extLst>
      <p:ext uri="{BB962C8B-B14F-4D97-AF65-F5344CB8AC3E}">
        <p14:creationId xmlns:p14="http://schemas.microsoft.com/office/powerpoint/2010/main" val="3107901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1</a:t>
            </a:fld>
            <a:endParaRPr lang="fr-FR"/>
          </a:p>
        </p:txBody>
      </p:sp>
    </p:spTree>
    <p:extLst>
      <p:ext uri="{BB962C8B-B14F-4D97-AF65-F5344CB8AC3E}">
        <p14:creationId xmlns:p14="http://schemas.microsoft.com/office/powerpoint/2010/main" val="1024918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2</a:t>
            </a:fld>
            <a:endParaRPr lang="fr-FR"/>
          </a:p>
        </p:txBody>
      </p:sp>
    </p:spTree>
    <p:extLst>
      <p:ext uri="{BB962C8B-B14F-4D97-AF65-F5344CB8AC3E}">
        <p14:creationId xmlns:p14="http://schemas.microsoft.com/office/powerpoint/2010/main" val="107671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fr-FR" b="1" dirty="0">
                <a:latin typeface="Times New Roman" panose="02020603050405020304" pitchFamily="18" charset="0"/>
              </a:rPr>
              <a:t>Qu’est-ce que l’effet tunnel ? </a:t>
            </a:r>
          </a:p>
          <a:p>
            <a:r>
              <a:rPr lang="fr-FR" altLang="fr-FR" dirty="0">
                <a:latin typeface="Times New Roman" panose="02020603050405020304" pitchFamily="18" charset="0"/>
              </a:rPr>
              <a:t>Le métier construit ses spécifications puis les confie au réalisateur. </a:t>
            </a:r>
          </a:p>
          <a:p>
            <a:r>
              <a:rPr lang="fr-FR" altLang="fr-FR" dirty="0">
                <a:latin typeface="Times New Roman" panose="02020603050405020304" pitchFamily="18" charset="0"/>
              </a:rPr>
              <a:t>Ce dernier essaie de comprendre ce qu’il à faire, le réalise souvent du mieux qu’il peut, puis enfin livre le produit. Pendant cette période où laquelle le réalisateur travaille seul, le métier ne « voit » rien. Il découvre le produit à la livraison, très souvent pour constater une distorsion entre ce qu’il espérait et ce qu’il obtient. Cette période où le métier est « aveugle » est appelé « effet tunnel ».</a:t>
            </a:r>
          </a:p>
          <a:p>
            <a:r>
              <a:rPr lang="fr-FR" altLang="fr-FR" dirty="0">
                <a:latin typeface="Times New Roman" panose="02020603050405020304" pitchFamily="18" charset="0"/>
              </a:rPr>
              <a:t>C’est une catastrophe car le métier n’a aucun moyen d’interagir avec la réalisation, et la distorsion dont je viens de parler nuit en général de fortement à très fortement à l’utilité même du produit.</a:t>
            </a:r>
          </a:p>
          <a:p>
            <a:endParaRPr lang="fr-FR" altLang="fr-FR" dirty="0">
              <a:latin typeface="Times New Roman" panose="02020603050405020304" pitchFamily="18" charset="0"/>
            </a:endParaRPr>
          </a:p>
          <a:p>
            <a:r>
              <a:rPr lang="fr-FR" altLang="fr-FR" dirty="0">
                <a:latin typeface="Times New Roman" panose="02020603050405020304" pitchFamily="18" charset="0"/>
              </a:rPr>
              <a:t>L’idée que les spécifications peuvent être complètes avant le début du projet, lesquelles ne changeront pas pendant toute sa durée.</a:t>
            </a:r>
          </a:p>
          <a:p>
            <a:r>
              <a:rPr lang="fr-FR" altLang="fr-FR" dirty="0">
                <a:latin typeface="Times New Roman" panose="02020603050405020304" pitchFamily="18" charset="0"/>
              </a:rPr>
              <a:t>Ceci est une hérésie ! Les spécifications ne sont jamais complètes car il est impossible pour le métier de penser à toutes  les exceptions et les cas particuliers sur le scope fonctionnel complet de la version. On sait qu’en moyenne, 40 à 60 % de situations vont changer en cours de projet.</a:t>
            </a:r>
          </a:p>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3</a:t>
            </a:fld>
            <a:endParaRPr lang="fr-FR"/>
          </a:p>
        </p:txBody>
      </p:sp>
    </p:spTree>
    <p:extLst>
      <p:ext uri="{BB962C8B-B14F-4D97-AF65-F5344CB8AC3E}">
        <p14:creationId xmlns:p14="http://schemas.microsoft.com/office/powerpoint/2010/main" val="896805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Plus facile de construire un projet par étapes</a:t>
            </a: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4</a:t>
            </a:fld>
            <a:endParaRPr lang="fr-FR"/>
          </a:p>
        </p:txBody>
      </p:sp>
    </p:spTree>
    <p:extLst>
      <p:ext uri="{BB962C8B-B14F-4D97-AF65-F5344CB8AC3E}">
        <p14:creationId xmlns:p14="http://schemas.microsoft.com/office/powerpoint/2010/main" val="1717504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Mauvaise communication dans le projet : eux et nous</a:t>
            </a:r>
          </a:p>
          <a:p>
            <a:endParaRPr lang="fr-FR" dirty="0"/>
          </a:p>
          <a:p>
            <a:r>
              <a:rPr lang="fr-FR" dirty="0"/>
              <a:t>La communication est peu facilitée du fait du cloisonnement des rôles de chaque acteur :  ils ont chacun leur tour un rôle à jouer mais ils ne le jouent jamais tous ensemble et communiquent principalement au travers de documents. </a:t>
            </a:r>
          </a:p>
          <a:p>
            <a:endParaRPr lang="fr-FR" dirty="0"/>
          </a:p>
          <a:p>
            <a:endParaRPr lang="fr-FR" dirty="0"/>
          </a:p>
          <a:p>
            <a:r>
              <a:rPr lang="fr-FR" dirty="0"/>
              <a:t>Manque de feedback : si la documentation liée à la conception du produit est imparfaite, et c’est souvent le cas, le produit fini ne répondra pas entièrement aux besoins du client et la méthode ne prévoit pas d’opportunité de vérification intermédiaire.</a:t>
            </a:r>
          </a:p>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5</a:t>
            </a:fld>
            <a:endParaRPr lang="fr-FR"/>
          </a:p>
        </p:txBody>
      </p:sp>
    </p:spTree>
    <p:extLst>
      <p:ext uri="{BB962C8B-B14F-4D97-AF65-F5344CB8AC3E}">
        <p14:creationId xmlns:p14="http://schemas.microsoft.com/office/powerpoint/2010/main" val="3350931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http://oyomy.fr/2017/11/artistes-et-specifieurs-experimenter-les-principes-agile/</a:t>
            </a:r>
          </a:p>
          <a:p>
            <a:endParaRPr lang="fr-FR" dirty="0"/>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6</a:t>
            </a:fld>
            <a:endParaRPr lang="fr-FR"/>
          </a:p>
        </p:txBody>
      </p:sp>
    </p:spTree>
    <p:extLst>
      <p:ext uri="{BB962C8B-B14F-4D97-AF65-F5344CB8AC3E}">
        <p14:creationId xmlns:p14="http://schemas.microsoft.com/office/powerpoint/2010/main" val="27005433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7</a:t>
            </a:fld>
            <a:endParaRPr lang="fr-FR"/>
          </a:p>
        </p:txBody>
      </p:sp>
    </p:spTree>
    <p:extLst>
      <p:ext uri="{BB962C8B-B14F-4D97-AF65-F5344CB8AC3E}">
        <p14:creationId xmlns:p14="http://schemas.microsoft.com/office/powerpoint/2010/main" val="1256637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Délais fixe / budget fixe / périmètre(scope) varie </a:t>
            </a:r>
          </a:p>
          <a:p>
            <a:r>
              <a:rPr lang="fr-FR" dirty="0"/>
              <a:t>En agile le projet est « Value Driven » </a:t>
            </a:r>
            <a:r>
              <a:rPr lang="fr-FR" dirty="0">
                <a:sym typeface="Wingdings" panose="05000000000000000000" pitchFamily="2" charset="2"/>
              </a:rPr>
              <a:t> Dirigé par la valeur métier</a:t>
            </a:r>
            <a:r>
              <a:rPr lang="fr-FR" dirty="0"/>
              <a:t>.</a:t>
            </a:r>
          </a:p>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8</a:t>
            </a:fld>
            <a:endParaRPr lang="fr-FR"/>
          </a:p>
        </p:txBody>
      </p:sp>
    </p:spTree>
    <p:extLst>
      <p:ext uri="{BB962C8B-B14F-4D97-AF65-F5344CB8AC3E}">
        <p14:creationId xmlns:p14="http://schemas.microsoft.com/office/powerpoint/2010/main" val="2054507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4 valeurs dont les 4 piliers de l’agilité</a:t>
            </a:r>
          </a:p>
          <a:p>
            <a:r>
              <a:rPr lang="fr-FR" dirty="0"/>
              <a:t>Fausse idée : l’agilité ne permet pas d’aller plus vite</a:t>
            </a: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9</a:t>
            </a:fld>
            <a:endParaRPr lang="fr-FR"/>
          </a:p>
        </p:txBody>
      </p:sp>
    </p:spTree>
    <p:extLst>
      <p:ext uri="{BB962C8B-B14F-4D97-AF65-F5344CB8AC3E}">
        <p14:creationId xmlns:p14="http://schemas.microsoft.com/office/powerpoint/2010/main" val="2850955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10</a:t>
            </a:fld>
            <a:endParaRPr lang="fr-FR"/>
          </a:p>
        </p:txBody>
      </p:sp>
    </p:spTree>
    <p:extLst>
      <p:ext uri="{BB962C8B-B14F-4D97-AF65-F5344CB8AC3E}">
        <p14:creationId xmlns:p14="http://schemas.microsoft.com/office/powerpoint/2010/main" val="23295528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arrête d’anticiper des choses qui vont s’avérer fausses</a:t>
            </a:r>
          </a:p>
          <a:p>
            <a:r>
              <a:rPr lang="fr-FR" dirty="0"/>
              <a:t>Voir PDCA</a:t>
            </a:r>
          </a:p>
          <a:p>
            <a:endParaRPr lang="fr-FR" dirty="0"/>
          </a:p>
          <a:p>
            <a:r>
              <a:rPr lang="fr-FR" dirty="0"/>
              <a:t>Cycle de développement agile :</a:t>
            </a:r>
          </a:p>
          <a:p>
            <a:pPr marL="171450" indent="-171450">
              <a:buFontTx/>
              <a:buChar char="-"/>
            </a:pPr>
            <a:r>
              <a:rPr lang="fr-FR" dirty="0"/>
              <a:t>l’ensemble des phases du cycle de développement est répété plusieurs fois</a:t>
            </a:r>
          </a:p>
          <a:p>
            <a:pPr marL="171450" indent="-171450">
              <a:buFontTx/>
              <a:buChar char="-"/>
            </a:pPr>
            <a:r>
              <a:rPr lang="fr-FR" dirty="0"/>
              <a:t>Plus de visibilité</a:t>
            </a:r>
          </a:p>
          <a:p>
            <a:pPr marL="171450" indent="-171450">
              <a:buFontTx/>
              <a:buChar char="-"/>
            </a:pPr>
            <a:r>
              <a:rPr lang="fr-FR" dirty="0"/>
              <a:t>Gain de qualité : l’ensemble des tests est effectué à chaque sprint</a:t>
            </a:r>
          </a:p>
          <a:p>
            <a:pPr marL="171450" indent="-171450">
              <a:buFontTx/>
              <a:buChar char="-"/>
            </a:pPr>
            <a:r>
              <a:rPr lang="fr-FR" dirty="0"/>
              <a:t>Adaptation au changement rapide</a:t>
            </a:r>
          </a:p>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11</a:t>
            </a:fld>
            <a:endParaRPr lang="fr-FR"/>
          </a:p>
        </p:txBody>
      </p:sp>
    </p:spTree>
    <p:extLst>
      <p:ext uri="{BB962C8B-B14F-4D97-AF65-F5344CB8AC3E}">
        <p14:creationId xmlns:p14="http://schemas.microsoft.com/office/powerpoint/2010/main" val="4143436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12</a:t>
            </a:fld>
            <a:endParaRPr lang="fr-FR"/>
          </a:p>
        </p:txBody>
      </p:sp>
    </p:spTree>
    <p:extLst>
      <p:ext uri="{BB962C8B-B14F-4D97-AF65-F5344CB8AC3E}">
        <p14:creationId xmlns:p14="http://schemas.microsoft.com/office/powerpoint/2010/main" val="649700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1" dirty="0"/>
              <a:t>Vision </a:t>
            </a:r>
            <a:r>
              <a:rPr lang="fr-FR" b="1" dirty="0" err="1"/>
              <a:t>game</a:t>
            </a:r>
            <a:endParaRPr lang="fr-FR" b="1" dirty="0"/>
          </a:p>
          <a:p>
            <a:endParaRPr lang="fr-FR" b="1" dirty="0"/>
          </a:p>
          <a:p>
            <a:r>
              <a:rPr lang="fr-FR" b="1" dirty="0"/>
              <a:t>Round 1 :</a:t>
            </a:r>
          </a:p>
          <a:p>
            <a:pPr lvl="0"/>
            <a:endParaRPr lang="fr-FR" dirty="0"/>
          </a:p>
          <a:p>
            <a:pPr lvl="0"/>
            <a:r>
              <a:rPr lang="fr-FR" dirty="0"/>
              <a:t>Dessiner deux cercles</a:t>
            </a:r>
          </a:p>
          <a:p>
            <a:pPr lvl="0"/>
            <a:r>
              <a:rPr lang="fr-FR" dirty="0"/>
              <a:t>Relier les cercles par un trait</a:t>
            </a:r>
          </a:p>
          <a:p>
            <a:pPr lvl="0"/>
            <a:r>
              <a:rPr lang="fr-FR" dirty="0"/>
              <a:t>Au-dessus du premier cercle faire un rectangle horizontal qui dépasse à gauche du cercle</a:t>
            </a:r>
          </a:p>
          <a:p>
            <a:pPr lvl="0"/>
            <a:r>
              <a:rPr lang="fr-FR" dirty="0"/>
              <a:t>Au-dessus du deuxième cercle faire un rectangle horizontal qui dépasse à droit du cercle</a:t>
            </a:r>
          </a:p>
          <a:p>
            <a:pPr lvl="0"/>
            <a:r>
              <a:rPr lang="fr-FR" dirty="0"/>
              <a:t>Dessiner un dernier rectangle qui relie les  deux premiers et qui soit plus haut que les précédents</a:t>
            </a:r>
          </a:p>
          <a:p>
            <a:pPr lvl="0"/>
            <a:r>
              <a:rPr lang="fr-FR" dirty="0"/>
              <a:t>Dessiner deux carrés en haut du dernier rectangle.</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Round 2 : avant de commencer annoncer qu’il s’agit de dessiner une voiture</a:t>
            </a:r>
          </a:p>
          <a:p>
            <a:endParaRPr lang="fr-FR" dirty="0"/>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13</a:t>
            </a:fld>
            <a:endParaRPr lang="fr-FR"/>
          </a:p>
        </p:txBody>
      </p:sp>
    </p:spTree>
    <p:extLst>
      <p:ext uri="{BB962C8B-B14F-4D97-AF65-F5344CB8AC3E}">
        <p14:creationId xmlns:p14="http://schemas.microsoft.com/office/powerpoint/2010/main" val="2757365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14</a:t>
            </a:fld>
            <a:endParaRPr lang="fr-FR"/>
          </a:p>
        </p:txBody>
      </p:sp>
    </p:spTree>
    <p:extLst>
      <p:ext uri="{BB962C8B-B14F-4D97-AF65-F5344CB8AC3E}">
        <p14:creationId xmlns:p14="http://schemas.microsoft.com/office/powerpoint/2010/main" val="109044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15</a:t>
            </a:fld>
            <a:endParaRPr lang="fr-FR"/>
          </a:p>
        </p:txBody>
      </p:sp>
    </p:spTree>
    <p:extLst>
      <p:ext uri="{BB962C8B-B14F-4D97-AF65-F5344CB8AC3E}">
        <p14:creationId xmlns:p14="http://schemas.microsoft.com/office/powerpoint/2010/main" val="3502884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 : responsable du contenu fonctionnel</a:t>
            </a:r>
          </a:p>
          <a:p>
            <a:r>
              <a:rPr lang="fr-FR" dirty="0"/>
              <a:t>SM : garant du </a:t>
            </a:r>
            <a:r>
              <a:rPr lang="fr-FR" dirty="0" err="1"/>
              <a:t>process</a:t>
            </a:r>
            <a:r>
              <a:rPr lang="fr-FR" dirty="0"/>
              <a:t> Scrum</a:t>
            </a:r>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16</a:t>
            </a:fld>
            <a:endParaRPr lang="fr-FR"/>
          </a:p>
        </p:txBody>
      </p:sp>
    </p:spTree>
    <p:extLst>
      <p:ext uri="{BB962C8B-B14F-4D97-AF65-F5344CB8AC3E}">
        <p14:creationId xmlns:p14="http://schemas.microsoft.com/office/powerpoint/2010/main" val="1481981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80000"/>
              </a:lnSpc>
            </a:pPr>
            <a:r>
              <a:rPr lang="fr-FR" altLang="fr-FR" sz="1200" dirty="0"/>
              <a:t>Après une phase de setup, les projets Scrum progressent par une série de sprints ( sprint = 1 à 4 semaines, durée fixe sur le projet)</a:t>
            </a:r>
          </a:p>
          <a:p>
            <a:pPr>
              <a:lnSpc>
                <a:spcPct val="80000"/>
              </a:lnSpc>
            </a:pPr>
            <a:endParaRPr lang="fr-FR" altLang="fr-FR" sz="1200" dirty="0"/>
          </a:p>
          <a:p>
            <a:pPr marL="171450" indent="-171450">
              <a:lnSpc>
                <a:spcPct val="80000"/>
              </a:lnSpc>
              <a:buFont typeface="Arial" panose="020B0604020202020204" pitchFamily="34" charset="0"/>
              <a:buChar char="•"/>
            </a:pPr>
            <a:r>
              <a:rPr lang="fr-FR" altLang="fr-FR" sz="1200" b="1" dirty="0"/>
              <a:t>Faire petit mais complet  </a:t>
            </a:r>
            <a:r>
              <a:rPr lang="fr-FR" altLang="fr-FR" sz="1200" dirty="0"/>
              <a:t>: itérations courtes avec des objectifs à court terme et atteignables</a:t>
            </a:r>
          </a:p>
          <a:p>
            <a:pPr marL="171450" indent="-171450">
              <a:lnSpc>
                <a:spcPct val="80000"/>
              </a:lnSpc>
              <a:buFont typeface="Arial" panose="020B0604020202020204" pitchFamily="34" charset="0"/>
              <a:buChar char="•"/>
            </a:pPr>
            <a:r>
              <a:rPr lang="fr-FR" altLang="fr-FR" sz="1200" dirty="0"/>
              <a:t>Accepter le changement en cours de projet</a:t>
            </a:r>
          </a:p>
          <a:p>
            <a:pPr marL="171450" indent="-171450">
              <a:lnSpc>
                <a:spcPct val="80000"/>
              </a:lnSpc>
              <a:buFont typeface="Arial" panose="020B0604020202020204" pitchFamily="34" charset="0"/>
              <a:buChar char="•"/>
            </a:pPr>
            <a:r>
              <a:rPr lang="fr-FR" altLang="fr-FR" sz="1200" dirty="0"/>
              <a:t>Feedback immédiat </a:t>
            </a:r>
          </a:p>
          <a:p>
            <a:pPr marL="171450" indent="-171450">
              <a:lnSpc>
                <a:spcPct val="80000"/>
              </a:lnSpc>
              <a:buFont typeface="Arial" panose="020B0604020202020204" pitchFamily="34" charset="0"/>
              <a:buChar char="•"/>
            </a:pPr>
            <a:r>
              <a:rPr lang="fr-FR" altLang="fr-FR" sz="1200" dirty="0"/>
              <a:t>Implication forte de la Maitrise d’Ouvrage</a:t>
            </a:r>
          </a:p>
          <a:p>
            <a:pPr marL="171450" indent="-171450">
              <a:lnSpc>
                <a:spcPct val="80000"/>
              </a:lnSpc>
              <a:buFont typeface="Arial" panose="020B0604020202020204" pitchFamily="34" charset="0"/>
              <a:buChar char="•"/>
            </a:pPr>
            <a:r>
              <a:rPr lang="fr-FR" altLang="fr-FR" sz="1200" dirty="0"/>
              <a:t>Conception au fil de l’eau</a:t>
            </a:r>
          </a:p>
          <a:p>
            <a:pPr marL="171450" indent="-171450">
              <a:lnSpc>
                <a:spcPct val="80000"/>
              </a:lnSpc>
              <a:buFont typeface="Arial" panose="020B0604020202020204" pitchFamily="34" charset="0"/>
              <a:buChar char="•"/>
            </a:pPr>
            <a:r>
              <a:rPr lang="fr-FR" altLang="fr-FR" sz="1200" dirty="0"/>
              <a:t>Qualification au fil de l’eau</a:t>
            </a:r>
          </a:p>
          <a:p>
            <a:pPr marL="171450" indent="-171450">
              <a:lnSpc>
                <a:spcPct val="80000"/>
              </a:lnSpc>
              <a:buFont typeface="Arial" panose="020B0604020202020204" pitchFamily="34" charset="0"/>
              <a:buChar char="•"/>
            </a:pPr>
            <a:r>
              <a:rPr lang="fr-FR" altLang="fr-FR" sz="1200" dirty="0"/>
              <a:t>Qualité permanente et traitement de la dette</a:t>
            </a:r>
          </a:p>
          <a:p>
            <a:pPr marL="171450" indent="-171450">
              <a:lnSpc>
                <a:spcPct val="80000"/>
              </a:lnSpc>
              <a:buFont typeface="Arial" panose="020B0604020202020204" pitchFamily="34" charset="0"/>
              <a:buChar char="•"/>
            </a:pPr>
            <a:r>
              <a:rPr lang="fr-FR" altLang="fr-FR" sz="1200" dirty="0"/>
              <a:t>Apprendre en marchant (amélioration continue) sans attendre le bilan de fin du projet</a:t>
            </a:r>
            <a:endParaRPr lang="fr-FR" sz="1200" dirty="0"/>
          </a:p>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17</a:t>
            </a:fld>
            <a:endParaRPr lang="fr-FR"/>
          </a:p>
        </p:txBody>
      </p:sp>
    </p:spTree>
    <p:extLst>
      <p:ext uri="{BB962C8B-B14F-4D97-AF65-F5344CB8AC3E}">
        <p14:creationId xmlns:p14="http://schemas.microsoft.com/office/powerpoint/2010/main" val="23302571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18</a:t>
            </a:fld>
            <a:endParaRPr lang="fr-FR"/>
          </a:p>
        </p:txBody>
      </p:sp>
    </p:spTree>
    <p:extLst>
      <p:ext uri="{BB962C8B-B14F-4D97-AF65-F5344CB8AC3E}">
        <p14:creationId xmlns:p14="http://schemas.microsoft.com/office/powerpoint/2010/main" val="141349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Une seule personne physique quelque soit la taille du projet. N’est pas forcément à 100%  sur le projet</a:t>
            </a:r>
          </a:p>
          <a:p>
            <a:r>
              <a:rPr lang="fr-FR"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PO a la </a:t>
            </a:r>
            <a:r>
              <a:rPr lang="fr-FR" dirty="0">
                <a:solidFill>
                  <a:schemeClr val="tx2"/>
                </a:solidFill>
                <a:latin typeface="Helvetica 65 Medium" pitchFamily="2" charset="0"/>
              </a:rPr>
              <a:t>connaissance</a:t>
            </a:r>
            <a:r>
              <a:rPr lang="fr-FR" dirty="0"/>
              <a:t> suffisante du métier et des utilisateurs pour récolter et comprendre leurs attentes.</a:t>
            </a:r>
          </a:p>
          <a:p>
            <a:endParaRPr lang="fr-FR" dirty="0"/>
          </a:p>
          <a:p>
            <a:r>
              <a:rPr lang="fr-FR" dirty="0"/>
              <a:t>Pilote le projet par le ROI (Return On Invest)</a:t>
            </a:r>
          </a:p>
          <a:p>
            <a:endParaRPr lang="fr-FR" dirty="0"/>
          </a:p>
          <a:p>
            <a:r>
              <a:rPr lang="fr-FR" dirty="0"/>
              <a:t>Il instaure un canal de communication bidirectionnel :</a:t>
            </a:r>
          </a:p>
          <a:p>
            <a:pPr lvl="1"/>
            <a:r>
              <a:rPr lang="fr-FR" dirty="0"/>
              <a:t>Il </a:t>
            </a:r>
            <a:r>
              <a:rPr lang="fr-FR" sz="2000" dirty="0">
                <a:solidFill>
                  <a:schemeClr val="tx2"/>
                </a:solidFill>
                <a:latin typeface="Helvetica 65 Medium" pitchFamily="2" charset="0"/>
              </a:rPr>
              <a:t>écoute et récolte</a:t>
            </a:r>
            <a:r>
              <a:rPr lang="fr-FR" dirty="0"/>
              <a:t> leurs besoins et mesure la valeur associée.</a:t>
            </a:r>
          </a:p>
          <a:p>
            <a:pPr lvl="2"/>
            <a:r>
              <a:rPr lang="fr-FR" dirty="0"/>
              <a:t>Ateliers animé par lui,</a:t>
            </a:r>
          </a:p>
          <a:p>
            <a:pPr lvl="2"/>
            <a:r>
              <a:rPr lang="fr-FR" dirty="0"/>
              <a:t>Apporte des propositions </a:t>
            </a:r>
          </a:p>
          <a:p>
            <a:pPr lvl="3"/>
            <a:r>
              <a:rPr lang="fr-FR" dirty="0"/>
              <a:t>position </a:t>
            </a:r>
            <a:r>
              <a:rPr lang="fr-FR" dirty="0" err="1"/>
              <a:t>pro-active</a:t>
            </a:r>
            <a:endParaRPr lang="fr-FR" dirty="0"/>
          </a:p>
          <a:p>
            <a:pPr lvl="1"/>
            <a:r>
              <a:rPr lang="fr-FR" dirty="0"/>
              <a:t>Il </a:t>
            </a:r>
            <a:r>
              <a:rPr lang="fr-FR" sz="2000" dirty="0">
                <a:solidFill>
                  <a:schemeClr val="tx2"/>
                </a:solidFill>
                <a:latin typeface="Helvetica 65 Medium" pitchFamily="2" charset="0"/>
              </a:rPr>
              <a:t>présente</a:t>
            </a:r>
            <a:r>
              <a:rPr lang="fr-FR" dirty="0"/>
              <a:t> les </a:t>
            </a:r>
            <a:r>
              <a:rPr lang="fr-FR" sz="2000" dirty="0">
                <a:solidFill>
                  <a:schemeClr val="tx2"/>
                </a:solidFill>
                <a:latin typeface="Helvetica 65 Medium" pitchFamily="2" charset="0"/>
              </a:rPr>
              <a:t>plannings</a:t>
            </a:r>
            <a:r>
              <a:rPr lang="fr-FR" dirty="0"/>
              <a:t> et le </a:t>
            </a:r>
            <a:r>
              <a:rPr lang="fr-FR" sz="2000" dirty="0">
                <a:solidFill>
                  <a:schemeClr val="tx2"/>
                </a:solidFill>
                <a:latin typeface="Helvetica 65 Medium" pitchFamily="2" charset="0"/>
              </a:rPr>
              <a:t>produit</a:t>
            </a:r>
            <a:r>
              <a:rPr lang="fr-FR" dirty="0"/>
              <a:t> réalisé </a:t>
            </a:r>
          </a:p>
          <a:p>
            <a:pPr lvl="2"/>
            <a:r>
              <a:rPr lang="fr-FR" dirty="0"/>
              <a:t>Invite le métier ou les utilisateurs aux démonstrations</a:t>
            </a:r>
          </a:p>
          <a:p>
            <a:pPr lvl="1"/>
            <a:r>
              <a:rPr lang="fr-FR" dirty="0"/>
              <a:t>Il </a:t>
            </a:r>
            <a:r>
              <a:rPr lang="fr-FR" sz="2000" dirty="0">
                <a:solidFill>
                  <a:schemeClr val="tx2"/>
                </a:solidFill>
                <a:latin typeface="Helvetica 65 Medium" pitchFamily="2" charset="0"/>
              </a:rPr>
              <a:t>explique</a:t>
            </a:r>
            <a:r>
              <a:rPr lang="fr-FR" dirty="0"/>
              <a:t> ce qui n’est pas possible, les choix et les priorités.</a:t>
            </a:r>
          </a:p>
          <a:p>
            <a:pPr lvl="1"/>
            <a:r>
              <a:rPr lang="fr-FR" dirty="0"/>
              <a:t>Il </a:t>
            </a:r>
            <a:r>
              <a:rPr lang="fr-FR" sz="2000" dirty="0">
                <a:solidFill>
                  <a:schemeClr val="tx2"/>
                </a:solidFill>
                <a:latin typeface="Helvetica 65 Medium" pitchFamily="2" charset="0"/>
              </a:rPr>
              <a:t>explique</a:t>
            </a:r>
            <a:r>
              <a:rPr lang="fr-FR" dirty="0"/>
              <a:t> les problèmes rencontrés</a:t>
            </a:r>
          </a:p>
          <a:p>
            <a:endParaRPr lang="fr-FR" dirty="0"/>
          </a:p>
          <a:p>
            <a:r>
              <a:rPr lang="fr-FR" dirty="0"/>
              <a:t>Vis-à-vis des </a:t>
            </a:r>
            <a:r>
              <a:rPr lang="fr-FR" dirty="0">
                <a:solidFill>
                  <a:schemeClr val="tx2"/>
                </a:solidFill>
                <a:latin typeface="Helvetica 65 Medium" pitchFamily="2" charset="0"/>
              </a:rPr>
              <a:t>managers</a:t>
            </a:r>
            <a:r>
              <a:rPr lang="fr-FR" dirty="0"/>
              <a:t> et de l’ensemble des </a:t>
            </a:r>
            <a:r>
              <a:rPr lang="fr-FR" dirty="0">
                <a:solidFill>
                  <a:schemeClr val="tx2"/>
                </a:solidFill>
                <a:latin typeface="Helvetica 65 Medium" pitchFamily="2" charset="0"/>
              </a:rPr>
              <a:t>parties prenantes</a:t>
            </a:r>
            <a:r>
              <a:rPr lang="fr-FR" dirty="0"/>
              <a:t>, le Product Owner doit :</a:t>
            </a:r>
          </a:p>
          <a:p>
            <a:pPr lvl="1"/>
            <a:r>
              <a:rPr lang="fr-FR" dirty="0"/>
              <a:t>Apporter en toute </a:t>
            </a:r>
            <a:r>
              <a:rPr lang="fr-FR" sz="2000" dirty="0">
                <a:solidFill>
                  <a:schemeClr val="tx2"/>
                </a:solidFill>
                <a:latin typeface="Helvetica 65 Medium" pitchFamily="2" charset="0"/>
              </a:rPr>
              <a:t>transparence</a:t>
            </a:r>
            <a:r>
              <a:rPr lang="fr-FR" dirty="0"/>
              <a:t> l’information nécessaire :</a:t>
            </a:r>
          </a:p>
          <a:p>
            <a:pPr lvl="2"/>
            <a:r>
              <a:rPr lang="fr-FR" dirty="0"/>
              <a:t>Planning,</a:t>
            </a:r>
          </a:p>
          <a:p>
            <a:pPr lvl="2"/>
            <a:r>
              <a:rPr lang="fr-FR" dirty="0"/>
              <a:t>Avancement,</a:t>
            </a:r>
          </a:p>
          <a:p>
            <a:pPr lvl="2"/>
            <a:r>
              <a:rPr lang="fr-FR" dirty="0"/>
              <a:t>Reste à faire,</a:t>
            </a:r>
          </a:p>
          <a:p>
            <a:pPr lvl="2"/>
            <a:r>
              <a:rPr lang="fr-FR" dirty="0"/>
              <a:t>Budget, …</a:t>
            </a:r>
          </a:p>
          <a:p>
            <a:pPr lvl="1"/>
            <a:r>
              <a:rPr lang="fr-FR" dirty="0"/>
              <a:t>Savoir </a:t>
            </a:r>
            <a:r>
              <a:rPr lang="fr-FR" dirty="0">
                <a:solidFill>
                  <a:schemeClr val="tx2"/>
                </a:solidFill>
                <a:latin typeface="Helvetica 65 Medium" pitchFamily="2" charset="0"/>
              </a:rPr>
              <a:t>valoriser</a:t>
            </a:r>
            <a:r>
              <a:rPr lang="fr-FR" sz="1600" dirty="0"/>
              <a:t> </a:t>
            </a:r>
            <a:r>
              <a:rPr lang="fr-FR" dirty="0"/>
              <a:t>le projet, le travail de l’équipe et le produit final !</a:t>
            </a:r>
          </a:p>
          <a:p>
            <a:pPr lvl="1"/>
            <a:r>
              <a:rPr lang="fr-FR" dirty="0">
                <a:solidFill>
                  <a:schemeClr val="tx2"/>
                </a:solidFill>
                <a:latin typeface="Helvetica 65 Medium" pitchFamily="2" charset="0"/>
              </a:rPr>
              <a:t>Défendre</a:t>
            </a:r>
            <a:r>
              <a:rPr lang="fr-FR" sz="1600" dirty="0"/>
              <a:t> </a:t>
            </a:r>
            <a:r>
              <a:rPr lang="fr-FR" dirty="0"/>
              <a:t>le projet,</a:t>
            </a:r>
          </a:p>
          <a:p>
            <a:pPr lvl="1"/>
            <a:r>
              <a:rPr lang="fr-FR" dirty="0">
                <a:solidFill>
                  <a:schemeClr val="tx2"/>
                </a:solidFill>
                <a:latin typeface="Helvetica 65 Medium" pitchFamily="2" charset="0"/>
              </a:rPr>
              <a:t>Expliquer</a:t>
            </a:r>
            <a:r>
              <a:rPr lang="fr-FR" sz="1600" dirty="0"/>
              <a:t> </a:t>
            </a:r>
            <a:r>
              <a:rPr lang="fr-FR" dirty="0"/>
              <a:t>les problèmes rencontrés,</a:t>
            </a:r>
          </a:p>
          <a:p>
            <a:pPr lvl="1"/>
            <a:r>
              <a:rPr lang="fr-FR" dirty="0">
                <a:solidFill>
                  <a:schemeClr val="tx2"/>
                </a:solidFill>
                <a:latin typeface="Helvetica 65 Medium" pitchFamily="2" charset="0"/>
              </a:rPr>
              <a:t>Remonter</a:t>
            </a:r>
            <a:r>
              <a:rPr lang="fr-FR" sz="1600" dirty="0"/>
              <a:t> </a:t>
            </a:r>
            <a:r>
              <a:rPr lang="fr-FR" dirty="0"/>
              <a:t>les réussites et les avis des utilisateurs ou du métier.</a:t>
            </a:r>
          </a:p>
          <a:p>
            <a:endParaRPr lang="fr-FR" dirty="0"/>
          </a:p>
          <a:p>
            <a:r>
              <a:rPr lang="fr-FR" dirty="0"/>
              <a:t>Avec le chef de projet</a:t>
            </a:r>
          </a:p>
          <a:p>
            <a:pPr>
              <a:defRPr/>
            </a:pPr>
            <a:endParaRPr lang="fr-FR" dirty="0"/>
          </a:p>
          <a:p>
            <a:pPr>
              <a:defRPr/>
            </a:pPr>
            <a:r>
              <a:rPr lang="fr-FR" dirty="0"/>
              <a:t>Pas de lien hiérarchique</a:t>
            </a:r>
          </a:p>
          <a:p>
            <a:pPr lvl="1">
              <a:defRPr/>
            </a:pPr>
            <a:r>
              <a:rPr lang="fr-FR" dirty="0"/>
              <a:t>La responsabilité du planning est portée par le Product Owner</a:t>
            </a:r>
          </a:p>
          <a:p>
            <a:pPr lvl="1">
              <a:defRPr/>
            </a:pPr>
            <a:r>
              <a:rPr lang="fr-FR" dirty="0"/>
              <a:t>La responsabilité des moyens est portée par le Chef de projet</a:t>
            </a:r>
          </a:p>
          <a:p>
            <a:pPr>
              <a:defRPr/>
            </a:pPr>
            <a:endParaRPr lang="fr-FR" dirty="0"/>
          </a:p>
          <a:p>
            <a:pPr>
              <a:defRPr/>
            </a:pPr>
            <a:r>
              <a:rPr lang="fr-FR" dirty="0"/>
              <a:t>Ils </a:t>
            </a:r>
            <a:r>
              <a:rPr lang="fr-FR" sz="1200" kern="1200" dirty="0">
                <a:solidFill>
                  <a:schemeClr val="tx2"/>
                </a:solidFill>
                <a:latin typeface="Helvetica 45 Light" pitchFamily="34" charset="0"/>
                <a:ea typeface="+mn-ea"/>
                <a:cs typeface="+mn-cs"/>
              </a:rPr>
              <a:t>travaillent ensemble </a:t>
            </a:r>
            <a:r>
              <a:rPr lang="fr-FR" dirty="0"/>
              <a:t>sur :</a:t>
            </a:r>
          </a:p>
          <a:p>
            <a:pPr lvl="1">
              <a:defRPr/>
            </a:pPr>
            <a:r>
              <a:rPr lang="fr-FR" dirty="0"/>
              <a:t>Les contraintes externes du projet :</a:t>
            </a:r>
          </a:p>
          <a:p>
            <a:pPr lvl="2">
              <a:defRPr/>
            </a:pPr>
            <a:r>
              <a:rPr lang="fr-FR" dirty="0"/>
              <a:t>Contrainte d’exploitation,</a:t>
            </a:r>
          </a:p>
          <a:p>
            <a:pPr lvl="2">
              <a:defRPr/>
            </a:pPr>
            <a:r>
              <a:rPr lang="fr-FR" dirty="0"/>
              <a:t>Contrainte de support, …</a:t>
            </a:r>
          </a:p>
          <a:p>
            <a:pPr lvl="2">
              <a:defRPr/>
            </a:pPr>
            <a:r>
              <a:rPr lang="fr-FR" dirty="0"/>
              <a:t>Qui peuvent avoir des impacts sur les fonctionnalités.</a:t>
            </a:r>
          </a:p>
          <a:p>
            <a:pPr lvl="1">
              <a:defRPr/>
            </a:pPr>
            <a:r>
              <a:rPr lang="fr-FR" dirty="0"/>
              <a:t>Sur la communication vers le monde extérieur</a:t>
            </a:r>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19</a:t>
            </a:fld>
            <a:endParaRPr lang="fr-FR"/>
          </a:p>
        </p:txBody>
      </p:sp>
    </p:spTree>
    <p:extLst>
      <p:ext uri="{BB962C8B-B14F-4D97-AF65-F5344CB8AC3E}">
        <p14:creationId xmlns:p14="http://schemas.microsoft.com/office/powerpoint/2010/main" val="3588433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 cœur : à choyer / à protéger</a:t>
            </a:r>
          </a:p>
          <a:p>
            <a:r>
              <a:rPr lang="fr-FR" dirty="0"/>
              <a:t>Équipe idéalement stable dans le temps :</a:t>
            </a:r>
          </a:p>
          <a:p>
            <a:pPr marL="271463" indent="-271463">
              <a:spcBef>
                <a:spcPts val="138"/>
              </a:spcBef>
              <a:buClr>
                <a:schemeClr val="tx2"/>
              </a:buClr>
              <a:buFont typeface="Wingdings" pitchFamily="2" charset="2"/>
              <a:buChar char="§"/>
            </a:pPr>
            <a:r>
              <a:rPr kumimoji="1" lang="fr-FR" altLang="fr-FR" sz="1200" dirty="0">
                <a:solidFill>
                  <a:srgbClr val="424A52"/>
                </a:solidFill>
              </a:rPr>
              <a:t>chaque développeur est concepteur, codeur, testeur, responsable</a:t>
            </a:r>
          </a:p>
          <a:p>
            <a:pPr marL="271463" indent="-271463">
              <a:spcBef>
                <a:spcPts val="138"/>
              </a:spcBef>
              <a:buClr>
                <a:schemeClr val="tx2"/>
              </a:buClr>
              <a:buFont typeface="Wingdings" pitchFamily="2" charset="2"/>
              <a:buChar char="§"/>
            </a:pPr>
            <a:r>
              <a:rPr kumimoji="1" lang="fr-FR" altLang="fr-FR" sz="1200" dirty="0">
                <a:solidFill>
                  <a:srgbClr val="424A52"/>
                </a:solidFill>
              </a:rPr>
              <a:t>chaque développeur peut réviser ses propres estimations</a:t>
            </a:r>
          </a:p>
          <a:p>
            <a:pPr marL="271463" indent="-271463">
              <a:spcBef>
                <a:spcPts val="138"/>
              </a:spcBef>
              <a:buClr>
                <a:schemeClr val="tx2"/>
              </a:buClr>
              <a:buFont typeface="Wingdings" pitchFamily="2" charset="2"/>
              <a:buChar char="§"/>
            </a:pPr>
            <a:r>
              <a:rPr kumimoji="1" lang="fr-FR" altLang="fr-FR" sz="1200" dirty="0">
                <a:solidFill>
                  <a:srgbClr val="424A52"/>
                </a:solidFill>
              </a:rPr>
              <a:t>chaque développeur peut demander et recevoir de l’aide (précision fonctionnelle, expertise technique, etc.)</a:t>
            </a:r>
          </a:p>
          <a:p>
            <a:pPr marL="271463" indent="-271463">
              <a:spcBef>
                <a:spcPts val="138"/>
              </a:spcBef>
              <a:buClr>
                <a:schemeClr val="tx2"/>
              </a:buClr>
              <a:buFont typeface="Wingdings" pitchFamily="2" charset="2"/>
              <a:buChar char="§"/>
            </a:pPr>
            <a:r>
              <a:rPr kumimoji="1" lang="fr-FR" altLang="fr-FR" sz="1200" dirty="0">
                <a:solidFill>
                  <a:srgbClr val="424A52"/>
                </a:solidFill>
              </a:rPr>
              <a:t>chaque développeur exprime son avis sur les User stories</a:t>
            </a:r>
          </a:p>
          <a:p>
            <a:pPr marL="271463" indent="-271463">
              <a:spcBef>
                <a:spcPts val="138"/>
              </a:spcBef>
              <a:buClr>
                <a:schemeClr val="tx2"/>
              </a:buClr>
              <a:buFont typeface="Wingdings" pitchFamily="2" charset="2"/>
              <a:buChar char="§"/>
            </a:pPr>
            <a:r>
              <a:rPr kumimoji="1" lang="fr-FR" altLang="fr-FR" sz="1200" dirty="0">
                <a:solidFill>
                  <a:srgbClr val="424A52"/>
                </a:solidFill>
              </a:rPr>
              <a:t>l’équipe est responsable de la qualité de l’application</a:t>
            </a:r>
          </a:p>
          <a:p>
            <a:pPr marL="271463" indent="-271463">
              <a:spcBef>
                <a:spcPts val="138"/>
              </a:spcBef>
              <a:buClr>
                <a:schemeClr val="tx2"/>
              </a:buClr>
              <a:buFont typeface="Wingdings" pitchFamily="2" charset="2"/>
              <a:buChar char="§"/>
            </a:pPr>
            <a:endParaRPr kumimoji="1" lang="fr-FR" altLang="fr-FR" sz="1200" dirty="0">
              <a:solidFill>
                <a:srgbClr val="424A52"/>
              </a:solidFill>
            </a:endParaRPr>
          </a:p>
          <a:p>
            <a:pPr marL="271463" indent="-271463">
              <a:spcBef>
                <a:spcPts val="138"/>
              </a:spcBef>
              <a:buClr>
                <a:schemeClr val="tx2"/>
              </a:buClr>
              <a:buFont typeface="Wingdings" pitchFamily="2" charset="2"/>
              <a:buChar char="§"/>
            </a:pPr>
            <a:endParaRPr kumimoji="1" lang="fr-FR" altLang="fr-FR" sz="1200" dirty="0">
              <a:solidFill>
                <a:srgbClr val="424A52"/>
              </a:solidFill>
            </a:endParaRPr>
          </a:p>
          <a:p>
            <a:pPr marL="185738" indent="-185738" eaLnBrk="1" hangingPunct="1">
              <a:lnSpc>
                <a:spcPct val="90000"/>
              </a:lnSpc>
            </a:pPr>
            <a:r>
              <a:rPr kumimoji="1" lang="fr-FR" altLang="fr-FR" sz="1800" dirty="0"/>
              <a:t>une </a:t>
            </a:r>
            <a:r>
              <a:rPr kumimoji="1" lang="fr-FR" altLang="fr-FR" sz="1800" dirty="0">
                <a:solidFill>
                  <a:schemeClr val="hlink"/>
                </a:solidFill>
              </a:rPr>
              <a:t>taille</a:t>
            </a:r>
            <a:r>
              <a:rPr kumimoji="1" lang="fr-FR" altLang="fr-FR" sz="1800" dirty="0"/>
              <a:t> de 6 (+/-3) : au-delà, l’équipe est scindée en plusieurs équipes (organisation Scrum de Scrum)</a:t>
            </a:r>
          </a:p>
          <a:p>
            <a:pPr marL="185738" indent="-185738" eaLnBrk="1" hangingPunct="1">
              <a:lnSpc>
                <a:spcPct val="90000"/>
              </a:lnSpc>
            </a:pPr>
            <a:r>
              <a:rPr kumimoji="1" lang="fr-FR" altLang="fr-FR" sz="1800" dirty="0"/>
              <a:t>des développeurs :</a:t>
            </a:r>
          </a:p>
          <a:p>
            <a:pPr marL="742950" lvl="1" eaLnBrk="1" hangingPunct="1">
              <a:lnSpc>
                <a:spcPct val="90000"/>
              </a:lnSpc>
            </a:pPr>
            <a:r>
              <a:rPr kumimoji="1" lang="fr-FR" altLang="fr-FR" sz="1600" dirty="0"/>
              <a:t>non spécialisés mais plutôt </a:t>
            </a:r>
            <a:r>
              <a:rPr kumimoji="1" lang="fr-FR" altLang="fr-FR" sz="1600" dirty="0">
                <a:solidFill>
                  <a:srgbClr val="FF6600"/>
                </a:solidFill>
              </a:rPr>
              <a:t>pluridisciplinaires</a:t>
            </a:r>
            <a:endParaRPr kumimoji="1" lang="fr-FR" altLang="fr-FR" sz="1600" dirty="0"/>
          </a:p>
          <a:p>
            <a:pPr marL="742950" lvl="1" eaLnBrk="1" hangingPunct="1">
              <a:lnSpc>
                <a:spcPct val="90000"/>
              </a:lnSpc>
            </a:pPr>
            <a:r>
              <a:rPr kumimoji="1" lang="fr-FR" altLang="fr-FR" sz="1600" dirty="0"/>
              <a:t>qui n’hésitent pas à travailler en </a:t>
            </a:r>
            <a:r>
              <a:rPr kumimoji="1" lang="fr-FR" altLang="fr-FR" sz="1600" dirty="0">
                <a:solidFill>
                  <a:srgbClr val="FF6600"/>
                </a:solidFill>
              </a:rPr>
              <a:t>binômes</a:t>
            </a:r>
            <a:r>
              <a:rPr kumimoji="1" lang="fr-FR" altLang="fr-FR" sz="1600" dirty="0"/>
              <a:t> pour :</a:t>
            </a:r>
            <a:endParaRPr kumimoji="1" lang="fr-FR" altLang="fr-FR" sz="1200" dirty="0"/>
          </a:p>
          <a:p>
            <a:pPr marL="1143000" lvl="2" eaLnBrk="1" hangingPunct="1">
              <a:lnSpc>
                <a:spcPct val="90000"/>
              </a:lnSpc>
            </a:pPr>
            <a:r>
              <a:rPr kumimoji="1" lang="fr-FR" altLang="fr-FR" sz="1400" dirty="0"/>
              <a:t>répartir les compétences techniques et fonctionnelles de manière homogène</a:t>
            </a:r>
          </a:p>
          <a:p>
            <a:pPr marL="1143000" lvl="2" eaLnBrk="1" hangingPunct="1">
              <a:lnSpc>
                <a:spcPct val="90000"/>
              </a:lnSpc>
            </a:pPr>
            <a:r>
              <a:rPr kumimoji="1" lang="fr-FR" altLang="fr-FR" sz="1400" dirty="0"/>
              <a:t>renforcer la qualité, le respect des normes, l’écriture des tests</a:t>
            </a:r>
          </a:p>
          <a:p>
            <a:pPr marL="1143000" lvl="2" eaLnBrk="1" hangingPunct="1">
              <a:lnSpc>
                <a:spcPct val="90000"/>
              </a:lnSpc>
            </a:pPr>
            <a:r>
              <a:rPr kumimoji="1" lang="fr-FR" altLang="fr-FR" sz="1400" dirty="0"/>
              <a:t>partager toutes les décisions de conception </a:t>
            </a:r>
          </a:p>
          <a:p>
            <a:pPr marL="1143000" lvl="2" eaLnBrk="1" hangingPunct="1">
              <a:lnSpc>
                <a:spcPct val="90000"/>
              </a:lnSpc>
            </a:pPr>
            <a:r>
              <a:rPr kumimoji="1" lang="fr-FR" altLang="fr-FR" sz="1600" dirty="0"/>
              <a:t>qui ont le droit de </a:t>
            </a:r>
            <a:r>
              <a:rPr kumimoji="1" lang="fr-FR" altLang="fr-FR" sz="1600" dirty="0">
                <a:solidFill>
                  <a:srgbClr val="FF6600"/>
                </a:solidFill>
              </a:rPr>
              <a:t>demander</a:t>
            </a:r>
            <a:r>
              <a:rPr kumimoji="1" lang="fr-FR" altLang="fr-FR" sz="1600" dirty="0"/>
              <a:t> et recevoir de l’aide</a:t>
            </a:r>
          </a:p>
          <a:p>
            <a:pPr marL="742950" lvl="1" eaLnBrk="1" hangingPunct="1">
              <a:lnSpc>
                <a:spcPct val="90000"/>
              </a:lnSpc>
            </a:pPr>
            <a:r>
              <a:rPr kumimoji="1" lang="fr-FR" altLang="fr-FR" sz="1600" dirty="0"/>
              <a:t>qui n’interprètent pas les spécifications,</a:t>
            </a:r>
          </a:p>
          <a:p>
            <a:pPr marL="185738" indent="-185738" eaLnBrk="1" hangingPunct="1">
              <a:lnSpc>
                <a:spcPct val="90000"/>
              </a:lnSpc>
              <a:buFont typeface="Wingdings" pitchFamily="2" charset="2"/>
              <a:buNone/>
            </a:pPr>
            <a:r>
              <a:rPr kumimoji="1" lang="fr-FR" altLang="fr-FR" sz="1600" dirty="0"/>
              <a:t>		</a:t>
            </a:r>
            <a:r>
              <a:rPr kumimoji="1" lang="fr-FR" altLang="fr-FR" sz="1600" dirty="0">
                <a:solidFill>
                  <a:schemeClr val="tx2"/>
                </a:solidFill>
              </a:rPr>
              <a:t>mais vont voir le PO à la moindre question fonctionnelle</a:t>
            </a:r>
          </a:p>
          <a:p>
            <a:pPr marL="185738" indent="-185738" eaLnBrk="1" hangingPunct="1">
              <a:lnSpc>
                <a:spcPct val="90000"/>
              </a:lnSpc>
            </a:pPr>
            <a:r>
              <a:rPr kumimoji="1" lang="fr-FR" altLang="fr-FR" sz="1800" dirty="0"/>
              <a:t>une équipe :</a:t>
            </a:r>
          </a:p>
          <a:p>
            <a:pPr marL="742950" lvl="1" eaLnBrk="1" hangingPunct="1">
              <a:lnSpc>
                <a:spcPct val="90000"/>
              </a:lnSpc>
            </a:pPr>
            <a:r>
              <a:rPr kumimoji="1" lang="fr-FR" altLang="fr-FR" sz="1600" dirty="0"/>
              <a:t>qui est </a:t>
            </a:r>
            <a:r>
              <a:rPr kumimoji="1" lang="fr-FR" altLang="fr-FR" sz="1600" dirty="0">
                <a:solidFill>
                  <a:schemeClr val="tx2"/>
                </a:solidFill>
              </a:rPr>
              <a:t>responsable de la réalisation</a:t>
            </a:r>
            <a:r>
              <a:rPr kumimoji="1" lang="fr-FR" altLang="fr-FR" sz="1600" dirty="0"/>
              <a:t> de l’application (elle choisit et développe la meilleure solution technique qui implémente les besoins fonctionnels exprimés)</a:t>
            </a:r>
          </a:p>
          <a:p>
            <a:pPr marL="742950" lvl="1" eaLnBrk="1" hangingPunct="1">
              <a:lnSpc>
                <a:spcPct val="90000"/>
              </a:lnSpc>
            </a:pPr>
            <a:r>
              <a:rPr kumimoji="1" lang="fr-FR" altLang="fr-FR" sz="1600" dirty="0"/>
              <a:t>qui est </a:t>
            </a:r>
            <a:r>
              <a:rPr kumimoji="1" lang="fr-FR" altLang="fr-FR" sz="1600" dirty="0">
                <a:solidFill>
                  <a:schemeClr val="tx2"/>
                </a:solidFill>
              </a:rPr>
              <a:t>garante de la qualité</a:t>
            </a:r>
            <a:r>
              <a:rPr kumimoji="1" lang="fr-FR" altLang="fr-FR" sz="1600" dirty="0"/>
              <a:t> de l’application livrée</a:t>
            </a:r>
          </a:p>
          <a:p>
            <a:pPr marL="742950" lvl="1" eaLnBrk="1" hangingPunct="1">
              <a:lnSpc>
                <a:spcPct val="90000"/>
              </a:lnSpc>
            </a:pPr>
            <a:r>
              <a:rPr kumimoji="1" lang="fr-FR" altLang="fr-FR" sz="1600" dirty="0"/>
              <a:t>qui </a:t>
            </a:r>
            <a:r>
              <a:rPr kumimoji="1" lang="fr-FR" altLang="fr-FR" sz="1600" dirty="0" err="1"/>
              <a:t>résoud</a:t>
            </a:r>
            <a:r>
              <a:rPr kumimoji="1" lang="fr-FR" altLang="fr-FR" sz="1600" dirty="0"/>
              <a:t> </a:t>
            </a:r>
            <a:r>
              <a:rPr kumimoji="1" lang="fr-FR" altLang="fr-FR" sz="1600" dirty="0">
                <a:solidFill>
                  <a:schemeClr val="tx2"/>
                </a:solidFill>
              </a:rPr>
              <a:t>ses propres conflits</a:t>
            </a:r>
            <a:r>
              <a:rPr kumimoji="1" lang="fr-FR" altLang="fr-FR" sz="1600" dirty="0"/>
              <a:t> internes</a:t>
            </a:r>
          </a:p>
          <a:p>
            <a:pPr marL="742950" lvl="1" eaLnBrk="1" hangingPunct="1">
              <a:lnSpc>
                <a:spcPct val="90000"/>
              </a:lnSpc>
            </a:pPr>
            <a:r>
              <a:rPr kumimoji="1" lang="fr-FR" altLang="fr-FR" sz="1600" dirty="0"/>
              <a:t>qui travaille à un rythme </a:t>
            </a:r>
            <a:r>
              <a:rPr kumimoji="1" lang="fr-FR" altLang="fr-FR" sz="1600" dirty="0">
                <a:solidFill>
                  <a:srgbClr val="FF6600"/>
                </a:solidFill>
              </a:rPr>
              <a:t>durable</a:t>
            </a:r>
            <a:endParaRPr kumimoji="1" lang="fr-FR" altLang="fr-FR" sz="1200" dirty="0">
              <a:solidFill>
                <a:srgbClr val="5F5F5F"/>
              </a:solidFill>
            </a:endParaRPr>
          </a:p>
          <a:p>
            <a:pPr marL="271463" indent="-271463">
              <a:spcBef>
                <a:spcPts val="138"/>
              </a:spcBef>
              <a:buClr>
                <a:schemeClr val="tx2"/>
              </a:buClr>
              <a:buFont typeface="Wingdings" pitchFamily="2" charset="2"/>
              <a:buChar char="§"/>
            </a:pPr>
            <a:endParaRPr kumimoji="1" lang="fr-FR" altLang="fr-FR" sz="2000" dirty="0">
              <a:solidFill>
                <a:srgbClr val="424A52"/>
              </a:solidFill>
            </a:endParaRPr>
          </a:p>
          <a:p>
            <a:pPr marL="271463" indent="-271463">
              <a:spcBef>
                <a:spcPts val="138"/>
              </a:spcBef>
              <a:buClr>
                <a:schemeClr val="tx2"/>
              </a:buClr>
              <a:buFont typeface="Wingdings" pitchFamily="2" charset="2"/>
              <a:buChar char="§"/>
            </a:pPr>
            <a:r>
              <a:rPr kumimoji="1" lang="fr-FR" altLang="fr-FR" sz="2000" dirty="0">
                <a:solidFill>
                  <a:srgbClr val="424A52"/>
                </a:solidFill>
              </a:rPr>
              <a:t>Autogérée</a:t>
            </a:r>
          </a:p>
          <a:p>
            <a:pPr marL="0" indent="0" algn="ctr" eaLnBrk="1" hangingPunct="1">
              <a:lnSpc>
                <a:spcPct val="90000"/>
              </a:lnSpc>
              <a:spcAft>
                <a:spcPct val="0"/>
              </a:spcAft>
              <a:buFont typeface="Arial" pitchFamily="34" charset="0"/>
              <a:buNone/>
            </a:pPr>
            <a:endParaRPr kumimoji="1" lang="fr-FR" altLang="fr-FR" sz="1600" b="1" dirty="0">
              <a:solidFill>
                <a:srgbClr val="FF6600"/>
              </a:solidFill>
            </a:endParaRPr>
          </a:p>
          <a:p>
            <a:pPr marL="0" indent="0" algn="l" eaLnBrk="1" hangingPunct="1">
              <a:lnSpc>
                <a:spcPct val="90000"/>
              </a:lnSpc>
              <a:spcAft>
                <a:spcPct val="0"/>
              </a:spcAft>
              <a:buFont typeface="Arial" pitchFamily="34" charset="0"/>
              <a:buNone/>
            </a:pPr>
            <a:r>
              <a:rPr kumimoji="1" lang="fr-FR" altLang="fr-FR" sz="4800" b="1" dirty="0">
                <a:solidFill>
                  <a:srgbClr val="FF6600"/>
                </a:solidFill>
              </a:rPr>
              <a:t>l’équipe est autogérée</a:t>
            </a:r>
            <a:endParaRPr kumimoji="1" lang="fr-FR" altLang="fr-FR" sz="4800" dirty="0"/>
          </a:p>
          <a:p>
            <a:pPr marL="0" indent="0" algn="l" eaLnBrk="1" hangingPunct="1">
              <a:lnSpc>
                <a:spcPct val="90000"/>
              </a:lnSpc>
              <a:spcAft>
                <a:spcPct val="0"/>
              </a:spcAft>
              <a:buFont typeface="Arial" pitchFamily="34" charset="0"/>
              <a:buNone/>
            </a:pPr>
            <a:endParaRPr kumimoji="1" lang="fr-FR" altLang="fr-FR" sz="1100" dirty="0"/>
          </a:p>
          <a:p>
            <a:pPr marL="0" indent="0" algn="l" eaLnBrk="1" hangingPunct="1">
              <a:lnSpc>
                <a:spcPct val="90000"/>
              </a:lnSpc>
              <a:spcAft>
                <a:spcPct val="0"/>
              </a:spcAft>
              <a:buFont typeface="Arial" pitchFamily="34" charset="0"/>
              <a:buNone/>
            </a:pPr>
            <a:r>
              <a:rPr kumimoji="1" lang="fr-FR" altLang="fr-FR" sz="2000" dirty="0"/>
              <a:t>grâce à sa petite taille,  </a:t>
            </a:r>
          </a:p>
          <a:p>
            <a:pPr marL="0" indent="0" algn="l" eaLnBrk="1" hangingPunct="1">
              <a:lnSpc>
                <a:spcPct val="90000"/>
              </a:lnSpc>
              <a:spcAft>
                <a:spcPct val="0"/>
              </a:spcAft>
              <a:buFont typeface="Arial" pitchFamily="34" charset="0"/>
              <a:buNone/>
            </a:pPr>
            <a:r>
              <a:rPr kumimoji="1" lang="fr-FR" altLang="fr-FR" sz="2000" dirty="0"/>
              <a:t>il n’y a </a:t>
            </a:r>
            <a:r>
              <a:rPr kumimoji="1" lang="fr-FR" altLang="fr-FR" sz="2000" u="sng" dirty="0"/>
              <a:t>pas besoin de chef en interne </a:t>
            </a:r>
          </a:p>
          <a:p>
            <a:pPr marL="0" indent="0" algn="l" eaLnBrk="1" hangingPunct="1">
              <a:lnSpc>
                <a:spcPct val="90000"/>
              </a:lnSpc>
              <a:spcAft>
                <a:spcPct val="0"/>
              </a:spcAft>
              <a:buFont typeface="Arial" pitchFamily="34" charset="0"/>
              <a:buNone/>
            </a:pPr>
            <a:r>
              <a:rPr kumimoji="1" lang="fr-FR" altLang="fr-FR" sz="2000" dirty="0"/>
              <a:t>car </a:t>
            </a:r>
            <a:r>
              <a:rPr kumimoji="1" lang="fr-FR" altLang="fr-FR" sz="2000" dirty="0">
                <a:solidFill>
                  <a:srgbClr val="FF6600"/>
                </a:solidFill>
              </a:rPr>
              <a:t>chacun est responsable</a:t>
            </a:r>
            <a:br>
              <a:rPr kumimoji="1" lang="fr-FR" altLang="fr-FR" sz="2000" dirty="0"/>
            </a:br>
            <a:endParaRPr kumimoji="1" lang="fr-FR" altLang="fr-FR" sz="2000" dirty="0"/>
          </a:p>
          <a:p>
            <a:pPr marL="0" indent="0" algn="l" eaLnBrk="1" hangingPunct="1">
              <a:lnSpc>
                <a:spcPct val="90000"/>
              </a:lnSpc>
              <a:spcAft>
                <a:spcPct val="0"/>
              </a:spcAft>
              <a:buFont typeface="Arial" pitchFamily="34" charset="0"/>
              <a:buNone/>
            </a:pPr>
            <a:r>
              <a:rPr kumimoji="1" lang="fr-FR" altLang="fr-FR" sz="2000" dirty="0"/>
              <a:t>une équipe agile est une démocratie participative</a:t>
            </a:r>
          </a:p>
          <a:p>
            <a:pPr marL="0" indent="0" algn="l" eaLnBrk="1" hangingPunct="1">
              <a:lnSpc>
                <a:spcPct val="90000"/>
              </a:lnSpc>
              <a:spcAft>
                <a:spcPct val="0"/>
              </a:spcAft>
              <a:buFont typeface="Arial" pitchFamily="34" charset="0"/>
              <a:buNone/>
            </a:pPr>
            <a:r>
              <a:rPr kumimoji="1" lang="fr-FR" altLang="fr-FR" sz="2000" dirty="0"/>
              <a:t>tous </a:t>
            </a:r>
            <a:r>
              <a:rPr kumimoji="1" lang="fr-FR" altLang="fr-FR" sz="2000" dirty="0">
                <a:solidFill>
                  <a:srgbClr val="FF6600"/>
                </a:solidFill>
              </a:rPr>
              <a:t>acteurs</a:t>
            </a:r>
            <a:r>
              <a:rPr kumimoji="1" lang="fr-FR" altLang="fr-FR" sz="2000" dirty="0"/>
              <a:t>, tous </a:t>
            </a:r>
            <a:r>
              <a:rPr kumimoji="1" lang="fr-FR" altLang="fr-FR" sz="2000" dirty="0">
                <a:solidFill>
                  <a:srgbClr val="FF6600"/>
                </a:solidFill>
              </a:rPr>
              <a:t>impliqués</a:t>
            </a:r>
            <a:r>
              <a:rPr kumimoji="1" lang="fr-FR" altLang="fr-FR" sz="2000" dirty="0"/>
              <a:t>, tous </a:t>
            </a:r>
            <a:r>
              <a:rPr kumimoji="1" lang="fr-FR" altLang="fr-FR" sz="2000" dirty="0">
                <a:solidFill>
                  <a:srgbClr val="FF6600"/>
                </a:solidFill>
              </a:rPr>
              <a:t>utiles</a:t>
            </a:r>
            <a:r>
              <a:rPr kumimoji="1" lang="fr-FR" altLang="fr-FR" sz="2000" dirty="0"/>
              <a:t> !</a:t>
            </a:r>
          </a:p>
          <a:p>
            <a:pPr marL="0" indent="0" algn="l" eaLnBrk="1" hangingPunct="1">
              <a:lnSpc>
                <a:spcPct val="90000"/>
              </a:lnSpc>
              <a:spcAft>
                <a:spcPct val="0"/>
              </a:spcAft>
              <a:buFont typeface="Arial" pitchFamily="34" charset="0"/>
              <a:buNone/>
            </a:pPr>
            <a:endParaRPr kumimoji="1" lang="fr-FR" altLang="fr-FR" sz="1400" dirty="0"/>
          </a:p>
          <a:p>
            <a:pPr marL="0" indent="0" algn="l" eaLnBrk="1" hangingPunct="1">
              <a:lnSpc>
                <a:spcPct val="90000"/>
              </a:lnSpc>
              <a:spcAft>
                <a:spcPct val="0"/>
              </a:spcAft>
              <a:buFont typeface="Arial" pitchFamily="34" charset="0"/>
              <a:buNone/>
            </a:pPr>
            <a:r>
              <a:rPr kumimoji="1" lang="fr-FR" altLang="fr-FR" sz="3200" dirty="0"/>
              <a:t>un but </a:t>
            </a:r>
            <a:r>
              <a:rPr kumimoji="1" lang="fr-FR" altLang="fr-FR" sz="3200" dirty="0">
                <a:solidFill>
                  <a:srgbClr val="FF6600"/>
                </a:solidFill>
              </a:rPr>
              <a:t>unique</a:t>
            </a:r>
            <a:r>
              <a:rPr kumimoji="1" lang="fr-FR" altLang="fr-FR" sz="3200" dirty="0"/>
              <a:t> et </a:t>
            </a:r>
            <a:r>
              <a:rPr kumimoji="1" lang="fr-FR" altLang="fr-FR" sz="3200" dirty="0">
                <a:solidFill>
                  <a:srgbClr val="FF6600"/>
                </a:solidFill>
              </a:rPr>
              <a:t>commun</a:t>
            </a:r>
            <a:r>
              <a:rPr kumimoji="1" lang="fr-FR" altLang="fr-FR" sz="3200" dirty="0"/>
              <a:t> : </a:t>
            </a:r>
          </a:p>
          <a:p>
            <a:pPr marL="0" indent="0" algn="l" eaLnBrk="1" hangingPunct="1">
              <a:lnSpc>
                <a:spcPct val="90000"/>
              </a:lnSpc>
              <a:spcAft>
                <a:spcPct val="0"/>
              </a:spcAft>
              <a:buFont typeface="Arial" pitchFamily="34" charset="0"/>
              <a:buNone/>
            </a:pPr>
            <a:r>
              <a:rPr kumimoji="1" lang="fr-FR" altLang="fr-FR" sz="3200" dirty="0"/>
              <a:t>apporter le plus de </a:t>
            </a:r>
            <a:r>
              <a:rPr kumimoji="1" lang="fr-FR" altLang="fr-FR" sz="3200" dirty="0">
                <a:solidFill>
                  <a:srgbClr val="FF6600"/>
                </a:solidFill>
              </a:rPr>
              <a:t>valeur</a:t>
            </a:r>
            <a:r>
              <a:rPr kumimoji="1" lang="fr-FR" altLang="fr-FR" sz="3200" dirty="0"/>
              <a:t> possible </a:t>
            </a:r>
          </a:p>
          <a:p>
            <a:pPr marL="0" indent="0" algn="l" eaLnBrk="1" hangingPunct="1">
              <a:lnSpc>
                <a:spcPct val="90000"/>
              </a:lnSpc>
              <a:spcAft>
                <a:spcPct val="0"/>
              </a:spcAft>
              <a:buFont typeface="Arial" pitchFamily="34" charset="0"/>
              <a:buNone/>
            </a:pPr>
            <a:r>
              <a:rPr kumimoji="1" lang="fr-FR" altLang="fr-FR" sz="3200" dirty="0"/>
              <a:t>au PO et donc au </a:t>
            </a:r>
            <a:r>
              <a:rPr kumimoji="1" lang="fr-FR" altLang="fr-FR" sz="3200" dirty="0">
                <a:solidFill>
                  <a:srgbClr val="FF6600"/>
                </a:solidFill>
              </a:rPr>
              <a:t>métier</a:t>
            </a:r>
            <a:endParaRPr kumimoji="1" lang="fr-FR" altLang="fr-FR" sz="3200" dirty="0"/>
          </a:p>
          <a:p>
            <a:pPr marL="271463" indent="-271463">
              <a:spcBef>
                <a:spcPts val="138"/>
              </a:spcBef>
              <a:buClr>
                <a:schemeClr val="tx2"/>
              </a:buClr>
              <a:buFont typeface="Symbol" pitchFamily="18" charset="2"/>
              <a:buChar char="Þ"/>
            </a:pPr>
            <a:r>
              <a:rPr kumimoji="1" lang="fr-FR" altLang="fr-FR" sz="2000" dirty="0" err="1">
                <a:solidFill>
                  <a:srgbClr val="424A52"/>
                </a:solidFill>
              </a:rPr>
              <a:t>necessite</a:t>
            </a:r>
            <a:r>
              <a:rPr kumimoji="1" lang="fr-FR" altLang="fr-FR" sz="2000" dirty="0">
                <a:solidFill>
                  <a:srgbClr val="424A52"/>
                </a:solidFill>
              </a:rPr>
              <a:t> de la bonne volonté,</a:t>
            </a:r>
            <a:r>
              <a:rPr kumimoji="1" lang="fr-FR" altLang="fr-FR" sz="2000" baseline="0" dirty="0">
                <a:solidFill>
                  <a:srgbClr val="424A52"/>
                </a:solidFill>
              </a:rPr>
              <a:t> pragmatisme, écoute, respect</a:t>
            </a:r>
          </a:p>
          <a:p>
            <a:pPr marL="271463" indent="-271463">
              <a:spcBef>
                <a:spcPts val="138"/>
              </a:spcBef>
              <a:buClr>
                <a:schemeClr val="tx2"/>
              </a:buClr>
              <a:buFont typeface="Symbol" pitchFamily="18" charset="2"/>
              <a:buChar char="Þ"/>
            </a:pPr>
            <a:endParaRPr kumimoji="1" lang="fr-FR" altLang="fr-FR" sz="2000" baseline="0" dirty="0">
              <a:solidFill>
                <a:srgbClr val="424A52"/>
              </a:solidFill>
            </a:endParaRPr>
          </a:p>
          <a:p>
            <a:pPr marL="0" indent="0">
              <a:buFont typeface="Arial" pitchFamily="34" charset="0"/>
              <a:buNone/>
            </a:pPr>
            <a:endParaRPr lang="fr-FR" altLang="fr-FR" sz="2400" dirty="0">
              <a:cs typeface="Arial" pitchFamily="34" charset="0"/>
            </a:endParaRPr>
          </a:p>
          <a:p>
            <a:pPr marL="0" indent="0">
              <a:spcBef>
                <a:spcPts val="900"/>
              </a:spcBef>
            </a:pPr>
            <a:r>
              <a:rPr lang="fr-FR" altLang="fr-FR" dirty="0">
                <a:cs typeface="Arial" pitchFamily="34" charset="0"/>
              </a:rPr>
              <a:t> On ne se réfère pas au passé (il y a 3 mois, tu as dis que ...)</a:t>
            </a:r>
          </a:p>
          <a:p>
            <a:pPr marL="0" indent="0">
              <a:spcBef>
                <a:spcPts val="900"/>
              </a:spcBef>
            </a:pPr>
            <a:r>
              <a:rPr lang="fr-FR" altLang="fr-FR" dirty="0">
                <a:cs typeface="Arial" pitchFamily="34" charset="0"/>
              </a:rPr>
              <a:t> On cherche des </a:t>
            </a:r>
            <a:r>
              <a:rPr lang="fr-FR" altLang="fr-FR" dirty="0">
                <a:solidFill>
                  <a:schemeClr val="tx2"/>
                </a:solidFill>
                <a:cs typeface="Arial" pitchFamily="34" charset="0"/>
              </a:rPr>
              <a:t>solutions</a:t>
            </a:r>
            <a:r>
              <a:rPr lang="fr-FR" altLang="fr-FR" dirty="0">
                <a:cs typeface="Arial" pitchFamily="34" charset="0"/>
              </a:rPr>
              <a:t>, pas des coupables</a:t>
            </a:r>
          </a:p>
          <a:p>
            <a:pPr marL="0" indent="0">
              <a:spcBef>
                <a:spcPts val="900"/>
              </a:spcBef>
            </a:pPr>
            <a:r>
              <a:rPr lang="fr-FR" altLang="fr-FR" dirty="0">
                <a:cs typeface="Arial" pitchFamily="34" charset="0"/>
              </a:rPr>
              <a:t> On arrive à l'heure aux réunions</a:t>
            </a:r>
          </a:p>
          <a:p>
            <a:pPr marL="719138" lvl="2"/>
            <a:r>
              <a:rPr lang="fr-FR" altLang="fr-FR" sz="2000" dirty="0">
                <a:cs typeface="Arial" pitchFamily="34" charset="0"/>
              </a:rPr>
              <a:t>en cas de retard</a:t>
            </a:r>
          </a:p>
          <a:p>
            <a:pPr marL="1600200" lvl="3"/>
            <a:r>
              <a:rPr lang="fr-FR" altLang="fr-FR" b="1" dirty="0">
                <a:solidFill>
                  <a:srgbClr val="5F5F5F"/>
                </a:solidFill>
                <a:cs typeface="Arial" pitchFamily="34" charset="0"/>
              </a:rPr>
              <a:t>on s'excuse</a:t>
            </a:r>
          </a:p>
          <a:p>
            <a:pPr marL="1600200" lvl="3"/>
            <a:r>
              <a:rPr lang="fr-FR" altLang="fr-FR" b="1" dirty="0">
                <a:solidFill>
                  <a:srgbClr val="5F5F5F"/>
                </a:solidFill>
                <a:cs typeface="Arial" pitchFamily="34" charset="0"/>
              </a:rPr>
              <a:t>on paye une "pénalité de retard«  (café, croissants, …)</a:t>
            </a:r>
          </a:p>
          <a:p>
            <a:pPr marL="0" indent="0">
              <a:spcBef>
                <a:spcPts val="900"/>
              </a:spcBef>
            </a:pPr>
            <a:r>
              <a:rPr lang="fr-FR" altLang="fr-FR" dirty="0">
                <a:cs typeface="Arial" pitchFamily="34" charset="0"/>
              </a:rPr>
              <a:t> Si tout le monde parle en même temps, on établit un « stylo de parole ».</a:t>
            </a:r>
            <a:br>
              <a:rPr lang="fr-FR" altLang="fr-FR" dirty="0">
                <a:cs typeface="Arial" pitchFamily="34" charset="0"/>
              </a:rPr>
            </a:br>
            <a:r>
              <a:rPr lang="fr-FR" altLang="fr-FR" dirty="0">
                <a:cs typeface="Arial" pitchFamily="34" charset="0"/>
              </a:rPr>
              <a:t>  Ne parle que celui qui a le stylo.</a:t>
            </a:r>
            <a:br>
              <a:rPr lang="fr-FR" altLang="fr-FR" dirty="0">
                <a:cs typeface="Arial" pitchFamily="34" charset="0"/>
              </a:rPr>
            </a:br>
            <a:r>
              <a:rPr lang="fr-FR" altLang="fr-FR" dirty="0">
                <a:cs typeface="Arial" pitchFamily="34" charset="0"/>
              </a:rPr>
              <a:t>  On peut remplacer le stylo par une peluche, une mascotte, etc.</a:t>
            </a:r>
          </a:p>
          <a:p>
            <a:pPr marL="0" indent="0">
              <a:spcBef>
                <a:spcPts val="900"/>
              </a:spcBef>
            </a:pPr>
            <a:r>
              <a:rPr lang="fr-FR" altLang="fr-FR" dirty="0">
                <a:cs typeface="Arial" pitchFamily="34" charset="0"/>
              </a:rPr>
              <a:t> On se fait </a:t>
            </a:r>
            <a:r>
              <a:rPr lang="fr-FR" altLang="fr-FR" dirty="0">
                <a:solidFill>
                  <a:srgbClr val="FF6600"/>
                </a:solidFill>
                <a:cs typeface="Arial" pitchFamily="34" charset="0"/>
              </a:rPr>
              <a:t>confiance.</a:t>
            </a:r>
            <a:endParaRPr lang="fr-FR" altLang="fr-FR" dirty="0">
              <a:cs typeface="Arial" pitchFamily="34" charset="0"/>
            </a:endParaRPr>
          </a:p>
          <a:p>
            <a:pPr marL="0" indent="0">
              <a:spcBef>
                <a:spcPts val="900"/>
              </a:spcBef>
            </a:pPr>
            <a:r>
              <a:rPr lang="fr-FR" altLang="fr-FR" dirty="0">
                <a:cs typeface="Arial" pitchFamily="34" charset="0"/>
              </a:rPr>
              <a:t> </a:t>
            </a:r>
            <a:r>
              <a:rPr lang="fr-FR" altLang="fr-FR" dirty="0">
                <a:solidFill>
                  <a:srgbClr val="FF6600"/>
                </a:solidFill>
                <a:cs typeface="Arial" pitchFamily="34" charset="0"/>
              </a:rPr>
              <a:t>On s’écoute</a:t>
            </a:r>
            <a:r>
              <a:rPr lang="fr-FR" altLang="fr-FR" dirty="0">
                <a:cs typeface="Arial" pitchFamily="34" charset="0"/>
              </a:rPr>
              <a:t> !</a:t>
            </a:r>
          </a:p>
          <a:p>
            <a:pPr marL="271463" indent="-271463">
              <a:spcBef>
                <a:spcPts val="138"/>
              </a:spcBef>
              <a:buClr>
                <a:schemeClr val="tx2"/>
              </a:buClr>
              <a:buFont typeface="Symbol" pitchFamily="18" charset="2"/>
              <a:buChar char="Þ"/>
            </a:pPr>
            <a:endParaRPr kumimoji="1" lang="fr-FR" altLang="fr-FR" sz="2000" dirty="0">
              <a:solidFill>
                <a:srgbClr val="424A52"/>
              </a:solidFill>
            </a:endParaRPr>
          </a:p>
          <a:p>
            <a:pPr marL="271463" indent="-271463">
              <a:spcBef>
                <a:spcPts val="138"/>
              </a:spcBef>
              <a:buClr>
                <a:schemeClr val="tx2"/>
              </a:buClr>
              <a:buFont typeface="Wingdings" pitchFamily="2" charset="2"/>
              <a:buChar char="§"/>
            </a:pPr>
            <a:endParaRPr kumimoji="1" lang="fr-FR" altLang="fr-FR" sz="1200" dirty="0">
              <a:solidFill>
                <a:srgbClr val="424A52"/>
              </a:solidFill>
            </a:endParaRPr>
          </a:p>
          <a:p>
            <a:endParaRPr lang="fr-FR" dirty="0"/>
          </a:p>
          <a:p>
            <a:endParaRPr lang="fr-FR" dirty="0"/>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20</a:t>
            </a:fld>
            <a:endParaRPr lang="fr-FR"/>
          </a:p>
        </p:txBody>
      </p:sp>
    </p:spTree>
    <p:extLst>
      <p:ext uri="{BB962C8B-B14F-4D97-AF65-F5344CB8AC3E}">
        <p14:creationId xmlns:p14="http://schemas.microsoft.com/office/powerpoint/2010/main" val="26098062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 n’est pas forcément à 100%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 peut être membre de l’équipe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N’est plus indispensable quand l’équipe maitrise Scrum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Doit rendre l’équipe de + en + autonome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Fait en sorte que l’équipe reste concentrée sur le véritable objectif du projet.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Fait en sorte que les obstacles ne s’accumulent pas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Protège des interférences extérieures</a:t>
            </a:r>
          </a:p>
          <a:p>
            <a:endParaRPr lang="fr-FR" dirty="0"/>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21</a:t>
            </a:fld>
            <a:endParaRPr lang="fr-FR"/>
          </a:p>
        </p:txBody>
      </p:sp>
    </p:spTree>
    <p:extLst>
      <p:ext uri="{BB962C8B-B14F-4D97-AF65-F5344CB8AC3E}">
        <p14:creationId xmlns:p14="http://schemas.microsoft.com/office/powerpoint/2010/main" val="40887969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22</a:t>
            </a:fld>
            <a:endParaRPr lang="fr-FR"/>
          </a:p>
        </p:txBody>
      </p:sp>
    </p:spTree>
    <p:extLst>
      <p:ext uri="{BB962C8B-B14F-4D97-AF65-F5344CB8AC3E}">
        <p14:creationId xmlns:p14="http://schemas.microsoft.com/office/powerpoint/2010/main" val="668244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Description simple et compréhensible d’une fonctionnalité  à valeur ajoutée pour le client</a:t>
            </a:r>
          </a:p>
          <a:p>
            <a:endParaRPr lang="fr-FR" dirty="0"/>
          </a:p>
          <a:p>
            <a:pPr fontAlgn="base"/>
            <a:r>
              <a:rPr lang="fr-FR" sz="1200" b="0" i="0" kern="1200" dirty="0">
                <a:solidFill>
                  <a:schemeClr val="tx1"/>
                </a:solidFill>
                <a:effectLst/>
                <a:latin typeface="+mn-lt"/>
                <a:ea typeface="+mn-ea"/>
                <a:cs typeface="+mn-cs"/>
              </a:rPr>
              <a:t>Courte : généralement une ou trois phrases environ.</a:t>
            </a:r>
          </a:p>
          <a:p>
            <a:pPr fontAlgn="base"/>
            <a:r>
              <a:rPr lang="fr-FR" sz="1200" b="0" i="0" kern="1200" dirty="0">
                <a:solidFill>
                  <a:schemeClr val="tx1"/>
                </a:solidFill>
                <a:effectLst/>
                <a:latin typeface="+mn-lt"/>
                <a:ea typeface="+mn-ea"/>
                <a:cs typeface="+mn-cs"/>
              </a:rPr>
              <a:t>Négociable : elle peut être discutée avec l’équipe chargée de la réalisation du produit, notamment lors de l’estimation.</a:t>
            </a:r>
          </a:p>
          <a:p>
            <a:pPr fontAlgn="base"/>
            <a:r>
              <a:rPr lang="fr-FR" sz="1200" b="0" i="0" kern="1200" dirty="0">
                <a:solidFill>
                  <a:schemeClr val="tx1"/>
                </a:solidFill>
                <a:effectLst/>
                <a:latin typeface="+mn-lt"/>
                <a:ea typeface="+mn-ea"/>
                <a:cs typeface="+mn-cs"/>
              </a:rPr>
              <a:t>Source de valeur : elle doit être porteuse d’une valeur pour le client ou l’utilisateur.</a:t>
            </a:r>
          </a:p>
          <a:p>
            <a:pPr fontAlgn="base"/>
            <a:r>
              <a:rPr lang="fr-FR" sz="1200" b="0" i="0" kern="1200" dirty="0">
                <a:solidFill>
                  <a:schemeClr val="tx1"/>
                </a:solidFill>
                <a:effectLst/>
                <a:latin typeface="+mn-lt"/>
                <a:ea typeface="+mn-ea"/>
                <a:cs typeface="+mn-cs"/>
              </a:rPr>
              <a:t>Indépendante des autres histoires d’utilisateur (dans la mesure du possible).</a:t>
            </a:r>
          </a:p>
          <a:p>
            <a:pPr fontAlgn="base"/>
            <a:r>
              <a:rPr lang="fr-FR" sz="1200" b="0" i="0" kern="1200" dirty="0">
                <a:solidFill>
                  <a:schemeClr val="tx1"/>
                </a:solidFill>
                <a:effectLst/>
                <a:latin typeface="+mn-lt"/>
                <a:ea typeface="+mn-ea"/>
                <a:cs typeface="+mn-cs"/>
              </a:rPr>
              <a:t>Estimable : elle peut être estimée par l’équipe de réalisation avec un risque d’erreur faible.</a:t>
            </a:r>
          </a:p>
          <a:p>
            <a:pPr fontAlgn="base"/>
            <a:r>
              <a:rPr lang="fr-FR" sz="1200" b="0" i="0" kern="1200" dirty="0">
                <a:solidFill>
                  <a:schemeClr val="tx1"/>
                </a:solidFill>
                <a:effectLst/>
                <a:latin typeface="+mn-lt"/>
                <a:ea typeface="+mn-ea"/>
                <a:cs typeface="+mn-cs"/>
              </a:rPr>
              <a:t>D’une taille appropriée : sa taille doit être relativement petite afin de faciliter son estimation. Elle doit pouvoir être conçue, développée et testée au sein d’une itération.</a:t>
            </a:r>
          </a:p>
          <a:p>
            <a:pPr fontAlgn="base"/>
            <a:endParaRPr lang="fr-FR" dirty="0"/>
          </a:p>
          <a:p>
            <a:r>
              <a:rPr lang="fr-FR" dirty="0"/>
              <a:t>Priorité : </a:t>
            </a:r>
            <a:br>
              <a:rPr lang="fr-FR" dirty="0"/>
            </a:br>
            <a:r>
              <a:rPr lang="fr-FR" dirty="0">
                <a:solidFill>
                  <a:srgbClr val="F29400"/>
                </a:solidFill>
              </a:rPr>
              <a:t>M</a:t>
            </a:r>
            <a:r>
              <a:rPr lang="fr-FR" dirty="0"/>
              <a:t>ust / </a:t>
            </a:r>
            <a:r>
              <a:rPr lang="fr-FR" dirty="0" err="1">
                <a:solidFill>
                  <a:srgbClr val="F29400"/>
                </a:solidFill>
              </a:rPr>
              <a:t>S</a:t>
            </a:r>
            <a:r>
              <a:rPr lang="fr-FR" dirty="0" err="1"/>
              <a:t>hould</a:t>
            </a:r>
            <a:r>
              <a:rPr lang="fr-FR" dirty="0"/>
              <a:t> / </a:t>
            </a:r>
            <a:r>
              <a:rPr lang="fr-FR" dirty="0" err="1">
                <a:solidFill>
                  <a:srgbClr val="F29400"/>
                </a:solidFill>
              </a:rPr>
              <a:t>C</a:t>
            </a:r>
            <a:r>
              <a:rPr lang="fr-FR" dirty="0" err="1"/>
              <a:t>ould</a:t>
            </a:r>
            <a:r>
              <a:rPr lang="fr-FR" dirty="0"/>
              <a:t> / </a:t>
            </a:r>
            <a:r>
              <a:rPr lang="fr-FR" dirty="0" err="1">
                <a:solidFill>
                  <a:srgbClr val="F29400"/>
                </a:solidFill>
              </a:rPr>
              <a:t>W</a:t>
            </a:r>
            <a:r>
              <a:rPr lang="fr-FR" dirty="0" err="1"/>
              <a:t>on’t</a:t>
            </a:r>
            <a:r>
              <a:rPr lang="fr-FR" dirty="0"/>
              <a:t> have (</a:t>
            </a:r>
            <a:r>
              <a:rPr lang="fr-FR" dirty="0" err="1">
                <a:solidFill>
                  <a:srgbClr val="F29400"/>
                </a:solidFill>
              </a:rPr>
              <a:t>M</a:t>
            </a:r>
            <a:r>
              <a:rPr lang="fr-FR" dirty="0" err="1"/>
              <a:t>o</a:t>
            </a:r>
            <a:r>
              <a:rPr lang="fr-FR" dirty="0" err="1">
                <a:solidFill>
                  <a:srgbClr val="F29400"/>
                </a:solidFill>
              </a:rPr>
              <a:t>SC</a:t>
            </a:r>
            <a:r>
              <a:rPr lang="fr-FR" dirty="0" err="1"/>
              <a:t>o</a:t>
            </a:r>
            <a:r>
              <a:rPr lang="fr-FR" dirty="0" err="1">
                <a:solidFill>
                  <a:srgbClr val="F29400"/>
                </a:solidFill>
              </a:rPr>
              <a:t>W</a:t>
            </a:r>
            <a:r>
              <a:rPr lang="fr-FR" dirty="0"/>
              <a:t>)</a:t>
            </a:r>
            <a:endParaRPr lang="fr-FR" sz="300" dirty="0"/>
          </a:p>
          <a:p>
            <a:endParaRPr lang="fr-FR" sz="300" dirty="0"/>
          </a:p>
          <a:p>
            <a:r>
              <a:rPr lang="fr-FR" dirty="0"/>
              <a:t>Complexité de réalisation : </a:t>
            </a:r>
            <a:br>
              <a:rPr lang="fr-FR" dirty="0"/>
            </a:br>
            <a:r>
              <a:rPr lang="fr-FR" dirty="0"/>
              <a:t>1, 2, 3, 5, 8, 13, 21, …  (suite de Fibonacci)</a:t>
            </a:r>
            <a:endParaRPr lang="fr-FR" sz="300" dirty="0"/>
          </a:p>
          <a:p>
            <a:endParaRPr lang="fr-FR" sz="300" dirty="0"/>
          </a:p>
          <a:p>
            <a:r>
              <a:rPr lang="fr-FR" dirty="0"/>
              <a:t>Valeur métier : </a:t>
            </a:r>
            <a:br>
              <a:rPr lang="fr-FR" dirty="0"/>
            </a:br>
            <a:r>
              <a:rPr lang="fr-FR" dirty="0"/>
              <a:t>10, 20, 30, …</a:t>
            </a:r>
            <a:endParaRPr lang="fr-FR" sz="300" dirty="0"/>
          </a:p>
          <a:p>
            <a:endParaRPr lang="fr-FR" sz="300" dirty="0"/>
          </a:p>
          <a:p>
            <a:r>
              <a:rPr lang="fr-FR" dirty="0"/>
              <a:t>Etat</a:t>
            </a:r>
            <a:br>
              <a:rPr lang="fr-FR" dirty="0"/>
            </a:br>
            <a:r>
              <a:rPr lang="fr-FR" dirty="0"/>
              <a:t>A définir, A faire, En cours, Terminée</a:t>
            </a:r>
          </a:p>
          <a:p>
            <a:pPr fontAlgn="base"/>
            <a:endParaRPr lang="fr-FR" sz="1200" b="0" i="0" kern="1200" dirty="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23</a:t>
            </a:fld>
            <a:endParaRPr lang="fr-FR"/>
          </a:p>
        </p:txBody>
      </p:sp>
    </p:spTree>
    <p:extLst>
      <p:ext uri="{BB962C8B-B14F-4D97-AF65-F5344CB8AC3E}">
        <p14:creationId xmlns:p14="http://schemas.microsoft.com/office/powerpoint/2010/main" val="1002936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eaLnBrk="1" hangingPunct="1">
              <a:buFont typeface="Arial" pitchFamily="34" charset="0"/>
              <a:buNone/>
            </a:pPr>
            <a:r>
              <a:rPr kumimoji="1" lang="fr-FR" altLang="fr-FR" sz="2400" dirty="0" err="1"/>
              <a:t>MoSCoW</a:t>
            </a:r>
            <a:r>
              <a:rPr kumimoji="1" lang="fr-FR" altLang="fr-FR" sz="2400" dirty="0"/>
              <a:t> est un outil de priorisation simple mais efficace.</a:t>
            </a:r>
          </a:p>
          <a:p>
            <a:pPr marL="0" indent="0" eaLnBrk="1" hangingPunct="1">
              <a:buFont typeface="Arial" pitchFamily="34" charset="0"/>
              <a:buNone/>
            </a:pPr>
            <a:endParaRPr kumimoji="1" lang="fr-FR" altLang="fr-FR" sz="2400" dirty="0"/>
          </a:p>
          <a:p>
            <a:pPr marL="542925" lvl="2" indent="-184150" eaLnBrk="1" hangingPunct="1">
              <a:spcBef>
                <a:spcPts val="200"/>
              </a:spcBef>
              <a:spcAft>
                <a:spcPct val="40000"/>
              </a:spcAft>
            </a:pPr>
            <a:r>
              <a:rPr kumimoji="1" lang="fr-FR" altLang="fr-FR" dirty="0">
                <a:solidFill>
                  <a:srgbClr val="FF6600"/>
                </a:solidFill>
              </a:rPr>
              <a:t>Must</a:t>
            </a:r>
            <a:r>
              <a:rPr kumimoji="1" lang="fr-FR" altLang="fr-FR" dirty="0"/>
              <a:t> : identifie ce qui est indispensable pour que l’application soit opérationnelle, indépendamment de tout confort.</a:t>
            </a:r>
          </a:p>
          <a:p>
            <a:pPr marL="542925" lvl="2" indent="-184150" eaLnBrk="1" hangingPunct="1">
              <a:spcBef>
                <a:spcPts val="200"/>
              </a:spcBef>
              <a:spcAft>
                <a:spcPct val="40000"/>
              </a:spcAft>
            </a:pPr>
            <a:r>
              <a:rPr kumimoji="1" lang="fr-FR" altLang="fr-FR" dirty="0" err="1">
                <a:solidFill>
                  <a:srgbClr val="FF6600"/>
                </a:solidFill>
              </a:rPr>
              <a:t>Should</a:t>
            </a:r>
            <a:r>
              <a:rPr kumimoji="1" lang="fr-FR" altLang="fr-FR" dirty="0"/>
              <a:t> : identifie ce qu’il faudrait vraiment avoir pour que l’application soit utilisable dans de bonnes conditions </a:t>
            </a:r>
          </a:p>
          <a:p>
            <a:pPr marL="542925" lvl="2" indent="-184150" eaLnBrk="1" hangingPunct="1">
              <a:spcBef>
                <a:spcPts val="200"/>
              </a:spcBef>
              <a:spcAft>
                <a:spcPct val="40000"/>
              </a:spcAft>
            </a:pPr>
            <a:r>
              <a:rPr kumimoji="1" lang="fr-FR" altLang="fr-FR" dirty="0" err="1">
                <a:solidFill>
                  <a:srgbClr val="FF6600"/>
                </a:solidFill>
              </a:rPr>
              <a:t>Could</a:t>
            </a:r>
            <a:r>
              <a:rPr kumimoji="1" lang="fr-FR" altLang="fr-FR" dirty="0">
                <a:solidFill>
                  <a:srgbClr val="FF6600"/>
                </a:solidFill>
              </a:rPr>
              <a:t> </a:t>
            </a:r>
            <a:r>
              <a:rPr kumimoji="1" lang="fr-FR" altLang="fr-FR" dirty="0"/>
              <a:t>: Introduit un confort d’utilisation pour faciliter l’expérience des utilisateurs finaux</a:t>
            </a:r>
          </a:p>
          <a:p>
            <a:pPr marL="542925" lvl="2" indent="-184150" eaLnBrk="1" hangingPunct="1">
              <a:spcBef>
                <a:spcPts val="200"/>
              </a:spcBef>
              <a:spcAft>
                <a:spcPct val="40000"/>
              </a:spcAft>
            </a:pPr>
            <a:r>
              <a:rPr kumimoji="1" lang="fr-FR" altLang="fr-FR" dirty="0" err="1">
                <a:solidFill>
                  <a:srgbClr val="FF6600"/>
                </a:solidFill>
              </a:rPr>
              <a:t>Won’t</a:t>
            </a:r>
            <a:r>
              <a:rPr kumimoji="1" lang="fr-FR" altLang="fr-FR" dirty="0"/>
              <a:t> : identifie des options qui seraient sympathiques, mais que, lucidement, on n’aura pas le temps/budget de réaliser dans cette version !</a:t>
            </a:r>
          </a:p>
          <a:p>
            <a:endParaRPr lang="fr-FR" dirty="0"/>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24</a:t>
            </a:fld>
            <a:endParaRPr lang="fr-FR"/>
          </a:p>
        </p:txBody>
      </p:sp>
    </p:spTree>
    <p:extLst>
      <p:ext uri="{BB962C8B-B14F-4D97-AF65-F5344CB8AC3E}">
        <p14:creationId xmlns:p14="http://schemas.microsoft.com/office/powerpoint/2010/main" val="3624516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 y a aucune activité entre 2 sprints. Le sprint suivant démarre juste après le sprint en cours. </a:t>
            </a:r>
          </a:p>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25</a:t>
            </a:fld>
            <a:endParaRPr lang="fr-FR"/>
          </a:p>
        </p:txBody>
      </p:sp>
    </p:spTree>
    <p:extLst>
      <p:ext uri="{BB962C8B-B14F-4D97-AF65-F5344CB8AC3E}">
        <p14:creationId xmlns:p14="http://schemas.microsoft.com/office/powerpoint/2010/main" val="4720637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Au début la vélocité n’est pas connue.</a:t>
            </a:r>
          </a:p>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26</a:t>
            </a:fld>
            <a:endParaRPr lang="fr-FR"/>
          </a:p>
        </p:txBody>
      </p:sp>
    </p:spTree>
    <p:extLst>
      <p:ext uri="{BB962C8B-B14F-4D97-AF65-F5344CB8AC3E}">
        <p14:creationId xmlns:p14="http://schemas.microsoft.com/office/powerpoint/2010/main" val="4032812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La réunion dure max 8h pour un sprint de 4 semaines</a:t>
            </a:r>
          </a:p>
          <a:p>
            <a:endParaRPr lang="fr-FR" dirty="0"/>
          </a:p>
          <a:p>
            <a:r>
              <a:rPr lang="fr-FR" dirty="0"/>
              <a:t>Partie 1 : Déterminer l’objectif du sprint et les items du backlog (le </a:t>
            </a:r>
            <a:r>
              <a:rPr lang="fr-FR" dirty="0" err="1"/>
              <a:t>what</a:t>
            </a:r>
            <a:r>
              <a:rPr lang="fr-FR" dirty="0"/>
              <a:t>)</a:t>
            </a:r>
          </a:p>
          <a:p>
            <a:r>
              <a:rPr lang="fr-FR" dirty="0"/>
              <a:t>Partie 2 : Déterminer les taches permettant de réaliser les items (le how)</a:t>
            </a:r>
          </a:p>
          <a:p>
            <a:r>
              <a:rPr lang="fr-FR" dirty="0"/>
              <a:t>Le PO n’est pas forcément présent à la partie 2 </a:t>
            </a:r>
          </a:p>
          <a:p>
            <a:r>
              <a:rPr lang="fr-FR" dirty="0"/>
              <a:t>Au début du sprint, on ne découpe pas toutes les stories du sprint (juste ce qu’il faut) </a:t>
            </a:r>
          </a:p>
          <a:p>
            <a:endParaRPr lang="fr-FR" dirty="0"/>
          </a:p>
          <a:p>
            <a:r>
              <a:rPr lang="fr-FR" dirty="0"/>
              <a:t>Le 1</a:t>
            </a:r>
            <a:r>
              <a:rPr lang="fr-FR" baseline="30000" dirty="0"/>
              <a:t>er</a:t>
            </a:r>
            <a:r>
              <a:rPr lang="fr-FR" dirty="0"/>
              <a:t> sprint embarque les items qui ont le + de valeur métier </a:t>
            </a:r>
          </a:p>
          <a:p>
            <a:r>
              <a:rPr lang="fr-FR" dirty="0"/>
              <a:t>Seules les US prêtes (</a:t>
            </a:r>
            <a:r>
              <a:rPr lang="fr-FR" dirty="0" err="1"/>
              <a:t>Ready</a:t>
            </a:r>
            <a:r>
              <a:rPr lang="fr-FR" dirty="0"/>
              <a:t>) sont embarquées dans le sprint. </a:t>
            </a:r>
          </a:p>
          <a:p>
            <a:endParaRPr lang="fr-FR" dirty="0"/>
          </a:p>
          <a:p>
            <a:r>
              <a:rPr lang="fr-FR" dirty="0"/>
              <a:t>C’est l’équipe qui estime collectivement les tâches (Voir planning poker)</a:t>
            </a:r>
          </a:p>
          <a:p>
            <a:endParaRPr lang="fr-FR" dirty="0"/>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27</a:t>
            </a:fld>
            <a:endParaRPr lang="fr-FR"/>
          </a:p>
        </p:txBody>
      </p:sp>
    </p:spTree>
    <p:extLst>
      <p:ext uri="{BB962C8B-B14F-4D97-AF65-F5344CB8AC3E}">
        <p14:creationId xmlns:p14="http://schemas.microsoft.com/office/powerpoint/2010/main" val="28662499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28</a:t>
            </a:fld>
            <a:endParaRPr lang="fr-FR"/>
          </a:p>
        </p:txBody>
      </p:sp>
    </p:spTree>
    <p:extLst>
      <p:ext uri="{BB962C8B-B14F-4D97-AF65-F5344CB8AC3E}">
        <p14:creationId xmlns:p14="http://schemas.microsoft.com/office/powerpoint/2010/main" val="13859196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kern="1200" dirty="0">
                <a:solidFill>
                  <a:schemeClr val="tx1"/>
                </a:solidFill>
                <a:effectLst/>
                <a:latin typeface="+mn-lt"/>
                <a:ea typeface="+mn-ea"/>
                <a:cs typeface="+mn-cs"/>
              </a:rPr>
              <a:t>Une partie de </a:t>
            </a:r>
            <a:r>
              <a:rPr lang="fr-FR" sz="1200" b="1" i="0" kern="1200" dirty="0">
                <a:solidFill>
                  <a:schemeClr val="tx1"/>
                </a:solidFill>
                <a:effectLst/>
                <a:latin typeface="+mn-lt"/>
                <a:ea typeface="+mn-ea"/>
                <a:cs typeface="+mn-cs"/>
              </a:rPr>
              <a:t>Planning Poker</a:t>
            </a:r>
            <a:r>
              <a:rPr lang="fr-FR" sz="1200" b="0" i="0" kern="1200" baseline="3000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 :</a:t>
            </a:r>
          </a:p>
          <a:p>
            <a:r>
              <a:rPr lang="fr-FR" sz="1200" b="0" i="0" kern="1200" dirty="0">
                <a:solidFill>
                  <a:schemeClr val="tx1"/>
                </a:solidFill>
                <a:effectLst/>
                <a:latin typeface="+mn-lt"/>
                <a:ea typeface="+mn-ea"/>
                <a:cs typeface="+mn-cs"/>
              </a:rPr>
              <a:t>Durant la période de planification au début de l’itération, le Product Owner (PO) explique les scénarios utilisateurs à l’équipe.</a:t>
            </a:r>
          </a:p>
          <a:p>
            <a:r>
              <a:rPr lang="fr-FR" sz="1200" b="0" i="0" kern="1200" dirty="0">
                <a:solidFill>
                  <a:schemeClr val="tx1"/>
                </a:solidFill>
                <a:effectLst/>
                <a:latin typeface="+mn-lt"/>
                <a:ea typeface="+mn-ea"/>
                <a:cs typeface="+mn-cs"/>
              </a:rPr>
              <a:t>Pour chacun des scénarios, les membres de l’équipe posent leurs questions au PO afin de s’assurer qu’ils comprennent bien le besoin exprimé.</a:t>
            </a:r>
          </a:p>
          <a:p>
            <a:r>
              <a:rPr lang="fr-FR" sz="1200" b="0" i="0" kern="1200" dirty="0">
                <a:solidFill>
                  <a:schemeClr val="tx1"/>
                </a:solidFill>
                <a:effectLst/>
                <a:latin typeface="+mn-lt"/>
                <a:ea typeface="+mn-ea"/>
                <a:cs typeface="+mn-cs"/>
              </a:rPr>
              <a:t>Une fois que tout le monde a posé ses questions, que les risques semblent connus et que le scénario et son niveau de complexité semblent également bien compris par tous, on passe à l’évaluation de la complexité en passant au vote en utilisant un jeu de cartes basé sur la suite de </a:t>
            </a:r>
            <a:r>
              <a:rPr lang="fr-FR" sz="1200" b="0" i="0" kern="1200" dirty="0" err="1">
                <a:solidFill>
                  <a:schemeClr val="tx1"/>
                </a:solidFill>
                <a:effectLst/>
                <a:latin typeface="+mn-lt"/>
                <a:ea typeface="+mn-ea"/>
                <a:cs typeface="+mn-cs"/>
              </a:rPr>
              <a:t>Fibonacci</a:t>
            </a:r>
            <a:r>
              <a:rPr lang="fr-FR" sz="1200" b="0" i="0" kern="1200" dirty="0">
                <a:solidFill>
                  <a:schemeClr val="tx1"/>
                </a:solidFill>
                <a:effectLst/>
                <a:latin typeface="+mn-lt"/>
                <a:ea typeface="+mn-ea"/>
                <a:cs typeface="+mn-cs"/>
              </a:rPr>
              <a:t>.</a:t>
            </a:r>
          </a:p>
          <a:p>
            <a:pPr lvl="0"/>
            <a:r>
              <a:rPr lang="fr-FR" sz="1200" b="0" i="0" kern="1200" dirty="0">
                <a:solidFill>
                  <a:schemeClr val="tx1"/>
                </a:solidFill>
                <a:effectLst/>
                <a:latin typeface="+mn-lt"/>
                <a:ea typeface="+mn-ea"/>
                <a:cs typeface="+mn-cs"/>
              </a:rPr>
              <a:t>Mais comment savoir quelle carte choisir? En se donnant des étalons : un scénario évalué à 5 points devrait normalement être approximativement deux fois plus complexe qu’un scénario évalué à 2 points.</a:t>
            </a:r>
          </a:p>
          <a:p>
            <a:pPr lvl="0"/>
            <a:r>
              <a:rPr lang="fr-FR" sz="1200" b="0" i="0" kern="1200" dirty="0">
                <a:solidFill>
                  <a:schemeClr val="tx1"/>
                </a:solidFill>
                <a:effectLst/>
                <a:latin typeface="+mn-lt"/>
                <a:ea typeface="+mn-ea"/>
                <a:cs typeface="+mn-cs"/>
              </a:rPr>
              <a:t>Mais que fait-on lorsque nous n’avons pas d’étalons de comparaison possibles? On évalue selon les meilleures connaissances de l’équipe à ce moment précis. C’est pour cela qu’au début de la mise en place de </a:t>
            </a:r>
            <a:r>
              <a:rPr lang="fr-FR" sz="1200" b="0" i="0" kern="1200" dirty="0" err="1">
                <a:solidFill>
                  <a:schemeClr val="tx1"/>
                </a:solidFill>
                <a:effectLst/>
                <a:latin typeface="+mn-lt"/>
                <a:ea typeface="+mn-ea"/>
                <a:cs typeface="+mn-cs"/>
              </a:rPr>
              <a:t>Scrum</a:t>
            </a:r>
            <a:r>
              <a:rPr lang="fr-FR" sz="1200" b="0" i="0" kern="1200" dirty="0">
                <a:solidFill>
                  <a:schemeClr val="tx1"/>
                </a:solidFill>
                <a:effectLst/>
                <a:latin typeface="+mn-lt"/>
                <a:ea typeface="+mn-ea"/>
                <a:cs typeface="+mn-cs"/>
              </a:rPr>
              <a:t> ou d’Agile Lean, cela prend quelques itérations pour stabiliser la vélocité, mais également pour connaître ces étalons.</a:t>
            </a:r>
          </a:p>
          <a:p>
            <a:r>
              <a:rPr lang="fr-FR" sz="1200" b="0" i="0" kern="1200" dirty="0">
                <a:solidFill>
                  <a:schemeClr val="tx1"/>
                </a:solidFill>
                <a:effectLst/>
                <a:latin typeface="+mn-lt"/>
                <a:ea typeface="+mn-ea"/>
                <a:cs typeface="+mn-cs"/>
              </a:rPr>
              <a:t>Tout le monde tourne sa carte en même temps afin de divulguer son choix (c’est bien important afin que le vote des uns n’influence pas celui des autres).</a:t>
            </a:r>
          </a:p>
          <a:p>
            <a:r>
              <a:rPr lang="fr-FR" sz="1200" b="0" i="0" kern="1200" dirty="0">
                <a:solidFill>
                  <a:schemeClr val="tx1"/>
                </a:solidFill>
                <a:effectLst/>
                <a:latin typeface="+mn-lt"/>
                <a:ea typeface="+mn-ea"/>
                <a:cs typeface="+mn-cs"/>
              </a:rPr>
              <a:t>Parfois, il y a un consensus immédiat, parfois non. Si consensus il y a, on note le nombre de points attribués et on passe au scénario suivant. Sinon, ceux qui ont donné le nombre de points le plus élevé et le moins élevé expliquent leur choix à l’équipe.</a:t>
            </a:r>
          </a:p>
          <a:p>
            <a:r>
              <a:rPr lang="fr-FR" sz="1200" b="0" i="0" kern="1200" dirty="0">
                <a:solidFill>
                  <a:schemeClr val="tx1"/>
                </a:solidFill>
                <a:effectLst/>
                <a:latin typeface="+mn-lt"/>
                <a:ea typeface="+mn-ea"/>
                <a:cs typeface="+mn-cs"/>
              </a:rPr>
              <a:t>À la suite de ces explications, une discussion peut s’ensuivre et on tente de rallier tout le monde à une valeur de complexité commune.</a:t>
            </a:r>
          </a:p>
          <a:p>
            <a:r>
              <a:rPr lang="fr-FR" sz="1200" b="0" i="0" kern="1200" dirty="0">
                <a:solidFill>
                  <a:schemeClr val="tx1"/>
                </a:solidFill>
                <a:effectLst/>
                <a:latin typeface="+mn-lt"/>
                <a:ea typeface="+mn-ea"/>
                <a:cs typeface="+mn-cs"/>
              </a:rPr>
              <a:t>Si l’on n’arrive pas à l’unanimité, les discussions se poursuivent et on reprend les étapes 4 à 7 jusqu’à ce qu’il y ait consensus.</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Cela favorise la collaboration en engageant toute l’équipe.</a:t>
            </a:r>
          </a:p>
          <a:p>
            <a:r>
              <a:rPr lang="fr-FR" sz="1200" b="0" i="0" kern="1200" dirty="0">
                <a:solidFill>
                  <a:schemeClr val="tx1"/>
                </a:solidFill>
                <a:effectLst/>
                <a:latin typeface="+mn-lt"/>
                <a:ea typeface="+mn-ea"/>
                <a:cs typeface="+mn-cs"/>
              </a:rPr>
              <a:t>Cela crée un consensus sur l’estimation plutôt que sur le simple avis d’un « champion ».</a:t>
            </a:r>
          </a:p>
          <a:p>
            <a:r>
              <a:rPr lang="fr-FR" sz="1200" b="0" i="0" kern="1200" dirty="0">
                <a:solidFill>
                  <a:schemeClr val="tx1"/>
                </a:solidFill>
                <a:effectLst/>
                <a:latin typeface="+mn-lt"/>
                <a:ea typeface="+mn-ea"/>
                <a:cs typeface="+mn-cs"/>
              </a:rPr>
              <a:t>Cela permet d’exposer les problèmes et les risques dès la présentation du scénario et d’en discuter.</a:t>
            </a:r>
          </a:p>
          <a:p>
            <a:r>
              <a:rPr lang="fr-FR" sz="1200" b="0" i="0" kern="1200" dirty="0">
                <a:solidFill>
                  <a:schemeClr val="tx1"/>
                </a:solidFill>
                <a:effectLst/>
                <a:latin typeface="+mn-lt"/>
                <a:ea typeface="+mn-ea"/>
                <a:cs typeface="+mn-cs"/>
              </a:rPr>
              <a:t>Ce ne sont pas les dirigeants qui votent, mais ceux qui auront à réaliser les scénarios.</a:t>
            </a:r>
          </a:p>
          <a:p>
            <a:endParaRPr lang="fr-FR" dirty="0"/>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29</a:t>
            </a:fld>
            <a:endParaRPr lang="fr-FR"/>
          </a:p>
        </p:txBody>
      </p:sp>
    </p:spTree>
    <p:extLst>
      <p:ext uri="{BB962C8B-B14F-4D97-AF65-F5344CB8AC3E}">
        <p14:creationId xmlns:p14="http://schemas.microsoft.com/office/powerpoint/2010/main" val="18020560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err="1"/>
              <a:t>Mélée</a:t>
            </a:r>
            <a:r>
              <a:rPr lang="fr-FR" dirty="0"/>
              <a:t> quotidienne</a:t>
            </a:r>
          </a:p>
          <a:p>
            <a:r>
              <a:rPr lang="fr-FR" dirty="0"/>
              <a:t>Le PO participe au </a:t>
            </a:r>
            <a:r>
              <a:rPr lang="fr-FR" dirty="0" err="1"/>
              <a:t>daily</a:t>
            </a:r>
            <a:r>
              <a:rPr lang="fr-FR" dirty="0"/>
              <a:t> si possible</a:t>
            </a:r>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30</a:t>
            </a:fld>
            <a:endParaRPr lang="fr-FR"/>
          </a:p>
        </p:txBody>
      </p:sp>
    </p:spTree>
    <p:extLst>
      <p:ext uri="{BB962C8B-B14F-4D97-AF65-F5344CB8AC3E}">
        <p14:creationId xmlns:p14="http://schemas.microsoft.com/office/powerpoint/2010/main" val="10551181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n’est pas nécessaire de décomposer toutes les User Stories du sprint en taches dès le début.</a:t>
            </a:r>
          </a:p>
          <a:p>
            <a:r>
              <a:rPr lang="fr-FR" dirty="0"/>
              <a:t>Cela ne sert à rien d’avoir du stock, de trop anticiper.</a:t>
            </a:r>
          </a:p>
          <a:p>
            <a:r>
              <a:rPr lang="fr-FR" dirty="0"/>
              <a:t>Les taches du sprint backlog évolue durant le sprint</a:t>
            </a:r>
          </a:p>
          <a:p>
            <a:endParaRPr lang="fr-FR" dirty="0"/>
          </a:p>
          <a:p>
            <a:r>
              <a:rPr lang="fr-FR" dirty="0"/>
              <a:t>Le nombre de taches dans la colonne WIP (Work In Progress) doit être limité</a:t>
            </a:r>
          </a:p>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31</a:t>
            </a:fld>
            <a:endParaRPr lang="fr-FR"/>
          </a:p>
        </p:txBody>
      </p:sp>
    </p:spTree>
    <p:extLst>
      <p:ext uri="{BB962C8B-B14F-4D97-AF65-F5344CB8AC3E}">
        <p14:creationId xmlns:p14="http://schemas.microsoft.com/office/powerpoint/2010/main" val="16678332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32</a:t>
            </a:fld>
            <a:endParaRPr lang="fr-FR"/>
          </a:p>
        </p:txBody>
      </p:sp>
    </p:spTree>
    <p:extLst>
      <p:ext uri="{BB962C8B-B14F-4D97-AF65-F5344CB8AC3E}">
        <p14:creationId xmlns:p14="http://schemas.microsoft.com/office/powerpoint/2010/main" val="23499747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Max 4h pour un sprint de 4 semaines</a:t>
            </a:r>
          </a:p>
          <a:p>
            <a:r>
              <a:rPr lang="fr-FR" dirty="0"/>
              <a:t>La démo est faite par un membre de l’équipe </a:t>
            </a:r>
          </a:p>
          <a:p>
            <a:r>
              <a:rPr lang="fr-FR" dirty="0"/>
              <a:t>La feedback des utilisateurs permet d’orienter les sprints suivants</a:t>
            </a:r>
          </a:p>
          <a:p>
            <a:endParaRPr lang="fr-FR" dirty="0"/>
          </a:p>
          <a:p>
            <a:r>
              <a:rPr lang="fr-FR" dirty="0"/>
              <a:t>A l’issue du sprint, la liste des items  restant à produire peut être </a:t>
            </a:r>
            <a:r>
              <a:rPr lang="fr-FR" dirty="0" err="1"/>
              <a:t>re</a:t>
            </a:r>
            <a:r>
              <a:rPr lang="fr-FR" dirty="0"/>
              <a:t>-priorisée et adaptée pour répondre au plus prêt aux besoins des clients </a:t>
            </a:r>
          </a:p>
          <a:p>
            <a:r>
              <a:rPr lang="fr-FR" dirty="0"/>
              <a:t>Traitement de la dette </a:t>
            </a:r>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33</a:t>
            </a:fld>
            <a:endParaRPr lang="fr-FR"/>
          </a:p>
        </p:txBody>
      </p:sp>
    </p:spTree>
    <p:extLst>
      <p:ext uri="{BB962C8B-B14F-4D97-AF65-F5344CB8AC3E}">
        <p14:creationId xmlns:p14="http://schemas.microsoft.com/office/powerpoint/2010/main" val="1727918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7A89532-5331-4E95-82CA-EB3AEDE3FF3C}" type="slidenum">
              <a:rPr lang="fr-FR" smtClean="0"/>
              <a:t>34</a:t>
            </a:fld>
            <a:endParaRPr lang="fr-FR"/>
          </a:p>
        </p:txBody>
      </p:sp>
    </p:spTree>
    <p:extLst>
      <p:ext uri="{BB962C8B-B14F-4D97-AF65-F5344CB8AC3E}">
        <p14:creationId xmlns:p14="http://schemas.microsoft.com/office/powerpoint/2010/main" val="18742936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35</a:t>
            </a:fld>
            <a:endParaRPr lang="fr-FR"/>
          </a:p>
        </p:txBody>
      </p:sp>
    </p:spTree>
    <p:extLst>
      <p:ext uri="{BB962C8B-B14F-4D97-AF65-F5344CB8AC3E}">
        <p14:creationId xmlns:p14="http://schemas.microsoft.com/office/powerpoint/2010/main" val="33332101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36</a:t>
            </a:fld>
            <a:endParaRPr lang="fr-FR"/>
          </a:p>
        </p:txBody>
      </p:sp>
    </p:spTree>
    <p:extLst>
      <p:ext uri="{BB962C8B-B14F-4D97-AF65-F5344CB8AC3E}">
        <p14:creationId xmlns:p14="http://schemas.microsoft.com/office/powerpoint/2010/main" val="9890759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37</a:t>
            </a:fld>
            <a:endParaRPr lang="fr-FR"/>
          </a:p>
        </p:txBody>
      </p:sp>
    </p:spTree>
    <p:extLst>
      <p:ext uri="{BB962C8B-B14F-4D97-AF65-F5344CB8AC3E}">
        <p14:creationId xmlns:p14="http://schemas.microsoft.com/office/powerpoint/2010/main" val="8818055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38</a:t>
            </a:fld>
            <a:endParaRPr lang="fr-FR"/>
          </a:p>
        </p:txBody>
      </p:sp>
    </p:spTree>
    <p:extLst>
      <p:ext uri="{BB962C8B-B14F-4D97-AF65-F5344CB8AC3E}">
        <p14:creationId xmlns:p14="http://schemas.microsoft.com/office/powerpoint/2010/main" val="18872462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39</a:t>
            </a:fld>
            <a:endParaRPr lang="fr-FR"/>
          </a:p>
        </p:txBody>
      </p:sp>
    </p:spTree>
    <p:extLst>
      <p:ext uri="{BB962C8B-B14F-4D97-AF65-F5344CB8AC3E}">
        <p14:creationId xmlns:p14="http://schemas.microsoft.com/office/powerpoint/2010/main" val="38340967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40</a:t>
            </a:fld>
            <a:endParaRPr lang="fr-FR"/>
          </a:p>
        </p:txBody>
      </p:sp>
    </p:spTree>
    <p:extLst>
      <p:ext uri="{BB962C8B-B14F-4D97-AF65-F5344CB8AC3E}">
        <p14:creationId xmlns:p14="http://schemas.microsoft.com/office/powerpoint/2010/main" val="15971290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7A89532-5331-4E95-82CA-EB3AEDE3FF3C}" type="slidenum">
              <a:rPr lang="fr-FR" smtClean="0"/>
              <a:t>41</a:t>
            </a:fld>
            <a:endParaRPr lang="fr-FR"/>
          </a:p>
        </p:txBody>
      </p:sp>
    </p:spTree>
    <p:extLst>
      <p:ext uri="{BB962C8B-B14F-4D97-AF65-F5344CB8AC3E}">
        <p14:creationId xmlns:p14="http://schemas.microsoft.com/office/powerpoint/2010/main" val="35227208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14246" y="2348880"/>
            <a:ext cx="9144000" cy="2421008"/>
          </a:xfrm>
          <a:solidFill>
            <a:srgbClr val="232F3F"/>
          </a:solidFill>
        </p:spPr>
        <p:txBody>
          <a:bodyPr lIns="1080000" anchor="ctr"/>
          <a:lstStyle>
            <a:lvl1pPr algn="ctr">
              <a:defRPr sz="4400" b="0" spc="0">
                <a:solidFill>
                  <a:schemeClr val="bg1"/>
                </a:solidFill>
              </a:defRPr>
            </a:lvl1pPr>
          </a:lstStyle>
          <a:p>
            <a:r>
              <a:rPr lang="fr-FR" dirty="0"/>
              <a:t>Titre de la présentation </a:t>
            </a:r>
          </a:p>
        </p:txBody>
      </p:sp>
      <p:sp>
        <p:nvSpPr>
          <p:cNvPr id="3" name="Sous-titre 2"/>
          <p:cNvSpPr>
            <a:spLocks noGrp="1"/>
          </p:cNvSpPr>
          <p:nvPr>
            <p:ph type="subTitle" idx="1" hasCustomPrompt="1"/>
          </p:nvPr>
        </p:nvSpPr>
        <p:spPr>
          <a:xfrm>
            <a:off x="0" y="4769888"/>
            <a:ext cx="9144000" cy="720000"/>
          </a:xfrm>
          <a:prstGeom prst="rect">
            <a:avLst/>
          </a:prstGeom>
          <a:noFill/>
        </p:spPr>
        <p:txBody>
          <a:bodyPr lIns="90000" anchor="ctr"/>
          <a:lstStyle>
            <a:lvl1pPr marL="0" indent="0" algn="ctr">
              <a:buNone/>
              <a:defRPr sz="2400" i="1">
                <a:solidFill>
                  <a:srgbClr val="BE121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a:t>
            </a:r>
          </a:p>
        </p:txBody>
      </p:sp>
      <p:sp>
        <p:nvSpPr>
          <p:cNvPr id="8" name="Espace réservé du pied de page 2"/>
          <p:cNvSpPr>
            <a:spLocks noGrp="1"/>
          </p:cNvSpPr>
          <p:nvPr>
            <p:ph type="ftr" sz="quarter" idx="10"/>
          </p:nvPr>
        </p:nvSpPr>
        <p:spPr>
          <a:xfrm>
            <a:off x="395288" y="6300327"/>
            <a:ext cx="6913016" cy="360000"/>
          </a:xfrm>
        </p:spPr>
        <p:txBody>
          <a:bodyPr/>
          <a:lstStyle>
            <a:lvl1pPr>
              <a:defRPr sz="1000">
                <a:solidFill>
                  <a:srgbClr val="232F3F"/>
                </a:solidFill>
              </a:defRPr>
            </a:lvl1pPr>
          </a:lstStyle>
          <a:p>
            <a:pPr>
              <a:defRPr/>
            </a:pPr>
            <a:r>
              <a:rPr lang="fr-FR"/>
              <a:t>Introduction à l'agilité</a:t>
            </a:r>
            <a:endParaRPr lang="fr-FR" dirty="0"/>
          </a:p>
        </p:txBody>
      </p:sp>
      <p:pic>
        <p:nvPicPr>
          <p:cNvPr id="6" name="Imag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96136" y="-2587606"/>
            <a:ext cx="5519836" cy="5175211"/>
          </a:xfrm>
          <a:prstGeom prst="rect">
            <a:avLst/>
          </a:prstGeom>
        </p:spPr>
      </p:pic>
      <p:sp>
        <p:nvSpPr>
          <p:cNvPr id="7" name="Triangle rectangle 6"/>
          <p:cNvSpPr/>
          <p:nvPr userDrawn="1"/>
        </p:nvSpPr>
        <p:spPr>
          <a:xfrm rot="16200000">
            <a:off x="8532385" y="6228372"/>
            <a:ext cx="557673" cy="701581"/>
          </a:xfrm>
          <a:prstGeom prst="rtTriangle">
            <a:avLst/>
          </a:prstGeom>
          <a:solidFill>
            <a:srgbClr val="BE12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07367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0" y="0"/>
            <a:ext cx="9144000" cy="1152000"/>
          </a:xfrm>
          <a:solidFill>
            <a:srgbClr val="232F3F"/>
          </a:solidFill>
        </p:spPr>
        <p:txBody>
          <a:bodyPr/>
          <a:lstStyle>
            <a:lvl1pPr algn="l">
              <a:tabLst>
                <a:tab pos="355600" algn="l"/>
              </a:tabLst>
              <a:defRPr sz="3600" b="0">
                <a:solidFill>
                  <a:schemeClr val="bg1"/>
                </a:solidFill>
              </a:defRPr>
            </a:lvl1pPr>
          </a:lstStyle>
          <a:p>
            <a:r>
              <a:rPr lang="fr-FR" dirty="0"/>
              <a:t>	Modifiez le style du titre</a:t>
            </a:r>
          </a:p>
        </p:txBody>
      </p:sp>
      <p:sp>
        <p:nvSpPr>
          <p:cNvPr id="3" name="Espace réservé du pied de page 2"/>
          <p:cNvSpPr>
            <a:spLocks noGrp="1"/>
          </p:cNvSpPr>
          <p:nvPr>
            <p:ph type="ftr" sz="quarter" idx="10"/>
          </p:nvPr>
        </p:nvSpPr>
        <p:spPr>
          <a:xfrm>
            <a:off x="395288" y="6300327"/>
            <a:ext cx="6913016" cy="360000"/>
          </a:xfrm>
        </p:spPr>
        <p:txBody>
          <a:bodyPr/>
          <a:lstStyle>
            <a:lvl1pPr>
              <a:defRPr sz="1000">
                <a:solidFill>
                  <a:srgbClr val="232F3F"/>
                </a:solidFill>
              </a:defRPr>
            </a:lvl1pPr>
          </a:lstStyle>
          <a:p>
            <a:pPr>
              <a:defRPr/>
            </a:pPr>
            <a:r>
              <a:rPr lang="fr-FR"/>
              <a:t>Introduction à l'agilité</a:t>
            </a:r>
            <a:endParaRPr lang="fr-FR" dirty="0"/>
          </a:p>
        </p:txBody>
      </p:sp>
      <p:sp>
        <p:nvSpPr>
          <p:cNvPr id="6" name="Espace réservé du contenu 5"/>
          <p:cNvSpPr>
            <a:spLocks noGrp="1"/>
          </p:cNvSpPr>
          <p:nvPr>
            <p:ph sz="quarter" idx="12"/>
          </p:nvPr>
        </p:nvSpPr>
        <p:spPr>
          <a:xfrm>
            <a:off x="435755" y="1312481"/>
            <a:ext cx="8262158" cy="4752975"/>
          </a:xfrm>
          <a:prstGeom prst="rect">
            <a:avLst/>
          </a:prstGeom>
        </p:spPr>
        <p:txBody>
          <a:bodyPr/>
          <a:lstStyle>
            <a:lvl1pPr marL="342900" indent="-342900">
              <a:buClr>
                <a:srgbClr val="C00000"/>
              </a:buClr>
              <a:buFont typeface="Wingdings 3" panose="05040102010807070707" pitchFamily="18" charset="2"/>
              <a:buChar char=""/>
              <a:defRPr sz="2400">
                <a:solidFill>
                  <a:srgbClr val="232F3F"/>
                </a:solidFill>
              </a:defRPr>
            </a:lvl1pPr>
            <a:lvl2pPr marL="742950" indent="-285750">
              <a:buClr>
                <a:srgbClr val="00B0F0"/>
              </a:buClr>
              <a:buFont typeface="Wingdings" panose="05000000000000000000" pitchFamily="2" charset="2"/>
              <a:buChar char="ð"/>
              <a:defRPr>
                <a:solidFill>
                  <a:srgbClr val="232F3F"/>
                </a:solidFill>
              </a:defRPr>
            </a:lvl2pPr>
            <a:lvl3pPr>
              <a:buClr>
                <a:srgbClr val="C00000"/>
              </a:buClr>
              <a:defRPr/>
            </a:lvl3pPr>
          </a:lstStyle>
          <a:p>
            <a:pPr lvl="0"/>
            <a:r>
              <a:rPr lang="fr-FR" dirty="0"/>
              <a:t>Modifiez les styles du texte du masque</a:t>
            </a:r>
          </a:p>
          <a:p>
            <a:pPr lvl="1"/>
            <a:r>
              <a:rPr lang="fr-FR" dirty="0"/>
              <a:t>Deuxième niveau</a:t>
            </a:r>
          </a:p>
          <a:p>
            <a:pPr lvl="2"/>
            <a:r>
              <a:rPr lang="fr-FR" dirty="0"/>
              <a:t>Troisième niveau</a:t>
            </a:r>
          </a:p>
        </p:txBody>
      </p:sp>
      <p:sp>
        <p:nvSpPr>
          <p:cNvPr id="10" name="Line 12"/>
          <p:cNvSpPr>
            <a:spLocks noChangeShapeType="1"/>
          </p:cNvSpPr>
          <p:nvPr userDrawn="1"/>
        </p:nvSpPr>
        <p:spPr bwMode="auto">
          <a:xfrm>
            <a:off x="395288" y="6237312"/>
            <a:ext cx="8302625" cy="0"/>
          </a:xfrm>
          <a:prstGeom prst="line">
            <a:avLst/>
          </a:prstGeom>
          <a:noFill/>
          <a:ln w="9525">
            <a:solidFill>
              <a:srgbClr val="BE121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 name="Rectangle 6"/>
          <p:cNvSpPr txBox="1">
            <a:spLocks noChangeArrowheads="1"/>
          </p:cNvSpPr>
          <p:nvPr userDrawn="1"/>
        </p:nvSpPr>
        <p:spPr bwMode="auto">
          <a:xfrm>
            <a:off x="8157913" y="6237312"/>
            <a:ext cx="540000" cy="360000"/>
          </a:xfrm>
          <a:prstGeom prst="rect">
            <a:avLst/>
          </a:prstGeom>
          <a:solidFill>
            <a:srgbClr val="C00000"/>
          </a:solidFill>
          <a:ln>
            <a:solidFill>
              <a:srgbClr val="C00000"/>
            </a:solidFill>
          </a:ln>
          <a:effectLst/>
        </p:spPr>
        <p:txBody>
          <a:bodyPr vert="horz" wrap="square" lIns="91440" tIns="45720" rIns="91440" bIns="45720" numCol="1" anchor="ctr" anchorCtr="0" compatLnSpc="1">
            <a:prstTxWarp prst="textNoShape">
              <a:avLst/>
            </a:prstTxWarp>
          </a:bodyPr>
          <a:lstStyle>
            <a:defPPr>
              <a:defRPr lang="fr-FR"/>
            </a:defPPr>
            <a:lvl1pPr algn="ctr" rtl="0" fontAlgn="base">
              <a:spcBef>
                <a:spcPct val="0"/>
              </a:spcBef>
              <a:spcAft>
                <a:spcPct val="0"/>
              </a:spcAft>
              <a:defRPr sz="1200" kern="1200">
                <a:solidFill>
                  <a:schemeClr val="bg1"/>
                </a:solidFill>
                <a:latin typeface="Verdana" panose="020B060403050404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D029713D-704E-4FF4-931A-FCEA6DDE7F0A}" type="slidenum">
              <a:rPr lang="fr-FR" altLang="fr-FR" smtClean="0"/>
              <a:pPr/>
              <a:t>‹N°›</a:t>
            </a:fld>
            <a:endParaRPr lang="fr-FR" altLang="fr-FR" dirty="0"/>
          </a:p>
        </p:txBody>
      </p:sp>
    </p:spTree>
    <p:extLst>
      <p:ext uri="{BB962C8B-B14F-4D97-AF65-F5344CB8AC3E}">
        <p14:creationId xmlns:p14="http://schemas.microsoft.com/office/powerpoint/2010/main" val="2196181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0" y="0"/>
            <a:ext cx="9144000" cy="1152000"/>
          </a:xfrm>
          <a:solidFill>
            <a:srgbClr val="232F3F"/>
          </a:solidFill>
        </p:spPr>
        <p:txBody>
          <a:bodyPr/>
          <a:lstStyle>
            <a:lvl1pPr algn="l">
              <a:tabLst>
                <a:tab pos="355600" algn="l"/>
              </a:tabLst>
              <a:defRPr sz="3600" b="0">
                <a:solidFill>
                  <a:schemeClr val="bg1"/>
                </a:solidFill>
              </a:defRPr>
            </a:lvl1pPr>
          </a:lstStyle>
          <a:p>
            <a:r>
              <a:rPr lang="fr-FR" dirty="0"/>
              <a:t>	Mémo</a:t>
            </a:r>
          </a:p>
        </p:txBody>
      </p:sp>
      <p:sp>
        <p:nvSpPr>
          <p:cNvPr id="3" name="Espace réservé du pied de page 2"/>
          <p:cNvSpPr>
            <a:spLocks noGrp="1"/>
          </p:cNvSpPr>
          <p:nvPr>
            <p:ph type="ftr" sz="quarter" idx="10"/>
          </p:nvPr>
        </p:nvSpPr>
        <p:spPr>
          <a:xfrm>
            <a:off x="395288" y="6300327"/>
            <a:ext cx="6913016" cy="360000"/>
          </a:xfrm>
        </p:spPr>
        <p:txBody>
          <a:bodyPr/>
          <a:lstStyle>
            <a:lvl1pPr>
              <a:defRPr sz="1000">
                <a:solidFill>
                  <a:srgbClr val="232F3F"/>
                </a:solidFill>
              </a:defRPr>
            </a:lvl1pPr>
          </a:lstStyle>
          <a:p>
            <a:pPr>
              <a:defRPr/>
            </a:pPr>
            <a:r>
              <a:rPr lang="fr-FR"/>
              <a:t>Introduction à l'agilité</a:t>
            </a:r>
            <a:endParaRPr lang="fr-FR" dirty="0"/>
          </a:p>
        </p:txBody>
      </p:sp>
      <p:sp>
        <p:nvSpPr>
          <p:cNvPr id="6" name="Espace réservé du contenu 5"/>
          <p:cNvSpPr>
            <a:spLocks noGrp="1"/>
          </p:cNvSpPr>
          <p:nvPr>
            <p:ph sz="quarter" idx="12"/>
          </p:nvPr>
        </p:nvSpPr>
        <p:spPr>
          <a:xfrm>
            <a:off x="435755" y="1312481"/>
            <a:ext cx="8262158" cy="4752975"/>
          </a:xfrm>
          <a:prstGeom prst="rect">
            <a:avLst/>
          </a:prstGeom>
        </p:spPr>
        <p:txBody>
          <a:bodyPr/>
          <a:lstStyle>
            <a:lvl1pPr marL="342900" indent="-342900">
              <a:buClr>
                <a:srgbClr val="C00000"/>
              </a:buClr>
              <a:buFont typeface="Wingdings 3" panose="05040102010807070707" pitchFamily="18" charset="2"/>
              <a:buChar char=""/>
              <a:defRPr sz="2400">
                <a:solidFill>
                  <a:srgbClr val="232F3F"/>
                </a:solidFill>
              </a:defRPr>
            </a:lvl1pPr>
            <a:lvl2pPr marL="742950" indent="-285750">
              <a:buClr>
                <a:srgbClr val="00B0F0"/>
              </a:buClr>
              <a:buFont typeface="Wingdings" panose="05000000000000000000" pitchFamily="2" charset="2"/>
              <a:buChar char="ð"/>
              <a:defRPr>
                <a:solidFill>
                  <a:srgbClr val="232F3F"/>
                </a:solidFill>
              </a:defRPr>
            </a:lvl2pPr>
            <a:lvl3pPr>
              <a:buClr>
                <a:srgbClr val="C00000"/>
              </a:buClr>
              <a:defRPr/>
            </a:lvl3pPr>
          </a:lstStyle>
          <a:p>
            <a:pPr lvl="0"/>
            <a:r>
              <a:rPr lang="fr-FR" dirty="0"/>
              <a:t>Modifiez les styles du texte du masque</a:t>
            </a:r>
          </a:p>
          <a:p>
            <a:pPr lvl="1"/>
            <a:r>
              <a:rPr lang="fr-FR" dirty="0"/>
              <a:t>Deuxième niveau</a:t>
            </a:r>
          </a:p>
          <a:p>
            <a:pPr lvl="2"/>
            <a:r>
              <a:rPr lang="fr-FR" dirty="0"/>
              <a:t>Troisième niveau</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732240" y="3892721"/>
            <a:ext cx="5519836" cy="5175211"/>
          </a:xfrm>
          <a:prstGeom prst="rect">
            <a:avLst/>
          </a:prstGeom>
        </p:spPr>
      </p:pic>
    </p:spTree>
    <p:extLst>
      <p:ext uri="{BB962C8B-B14F-4D97-AF65-F5344CB8AC3E}">
        <p14:creationId xmlns:p14="http://schemas.microsoft.com/office/powerpoint/2010/main" val="3143287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pied de page 2"/>
          <p:cNvSpPr>
            <a:spLocks noGrp="1"/>
          </p:cNvSpPr>
          <p:nvPr>
            <p:ph type="ftr" sz="quarter" idx="10"/>
          </p:nvPr>
        </p:nvSpPr>
        <p:spPr/>
        <p:txBody>
          <a:bodyPr/>
          <a:lstStyle/>
          <a:p>
            <a:pPr>
              <a:defRPr/>
            </a:pPr>
            <a:r>
              <a:rPr lang="fr-FR"/>
              <a:t>Introduction à l'agilité</a:t>
            </a:r>
            <a:endParaRPr lang="fr-FR" dirty="0"/>
          </a:p>
        </p:txBody>
      </p:sp>
      <p:sp>
        <p:nvSpPr>
          <p:cNvPr id="4" name="Espace réservé du numéro de diapositive 3"/>
          <p:cNvSpPr>
            <a:spLocks noGrp="1"/>
          </p:cNvSpPr>
          <p:nvPr>
            <p:ph type="sldNum" sz="quarter" idx="11"/>
          </p:nvPr>
        </p:nvSpPr>
        <p:spPr>
          <a:xfrm>
            <a:off x="8157913" y="6245225"/>
            <a:ext cx="540000" cy="360000"/>
          </a:xfrm>
          <a:prstGeom prst="rect">
            <a:avLst/>
          </a:prstGeom>
        </p:spPr>
        <p:txBody>
          <a:bodyPr/>
          <a:lstStyle/>
          <a:p>
            <a:fld id="{D029713D-704E-4FF4-931A-FCEA6DDE7F0A}" type="slidenum">
              <a:rPr lang="fr-FR" altLang="fr-FR" smtClean="0"/>
              <a:pPr/>
              <a:t>‹N°›</a:t>
            </a:fld>
            <a:endParaRPr lang="fr-FR" altLang="fr-FR" dirty="0"/>
          </a:p>
        </p:txBody>
      </p:sp>
      <p:sp>
        <p:nvSpPr>
          <p:cNvPr id="8" name="Espace réservé du tableau 7"/>
          <p:cNvSpPr>
            <a:spLocks noGrp="1"/>
          </p:cNvSpPr>
          <p:nvPr>
            <p:ph type="tbl" sz="quarter" idx="12"/>
          </p:nvPr>
        </p:nvSpPr>
        <p:spPr>
          <a:xfrm>
            <a:off x="539750" y="1341438"/>
            <a:ext cx="8208963" cy="4903787"/>
          </a:xfrm>
          <a:prstGeom prst="rect">
            <a:avLst/>
          </a:prstGeom>
        </p:spPr>
        <p:txBody>
          <a:bodyPr/>
          <a:lstStyle/>
          <a:p>
            <a:r>
              <a:rPr lang="fr-FR"/>
              <a:t>Cliquez sur l'icône pour ajouter un tableau</a:t>
            </a:r>
          </a:p>
        </p:txBody>
      </p:sp>
    </p:spTree>
    <p:extLst>
      <p:ext uri="{BB962C8B-B14F-4D97-AF65-F5344CB8AC3E}">
        <p14:creationId xmlns:p14="http://schemas.microsoft.com/office/powerpoint/2010/main" val="887187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1547813" y="116632"/>
            <a:ext cx="7150100" cy="935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ltLang="fr-FR" dirty="0"/>
              <a:t>Cliquez pour modifier le style du titre</a:t>
            </a:r>
          </a:p>
        </p:txBody>
      </p:sp>
      <p:sp>
        <p:nvSpPr>
          <p:cNvPr id="1029" name="Rectangle 5"/>
          <p:cNvSpPr>
            <a:spLocks noGrp="1" noChangeArrowheads="1"/>
          </p:cNvSpPr>
          <p:nvPr>
            <p:ph type="ftr" sz="quarter" idx="3"/>
          </p:nvPr>
        </p:nvSpPr>
        <p:spPr bwMode="auto">
          <a:xfrm>
            <a:off x="395288" y="6300327"/>
            <a:ext cx="2895600" cy="3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a:defRPr sz="1200" smtClean="0">
                <a:solidFill>
                  <a:srgbClr val="3D65AA"/>
                </a:solidFill>
                <a:latin typeface="+mn-lt"/>
              </a:defRPr>
            </a:lvl1pPr>
          </a:lstStyle>
          <a:p>
            <a:pPr>
              <a:defRPr/>
            </a:pPr>
            <a:r>
              <a:rPr lang="fr-FR"/>
              <a:t>Introduction à l'agilité</a:t>
            </a:r>
            <a:endParaRPr lang="fr-FR" dirty="0"/>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3" r:id="rId3"/>
    <p:sldLayoutId id="2147483652" r:id="rId4"/>
  </p:sldLayoutIdLst>
  <p:hf sldNum="0" hdr="0" dt="0"/>
  <p:txStyles>
    <p:titleStyle>
      <a:lvl1pPr algn="r" rtl="0" eaLnBrk="1" fontAlgn="base" hangingPunct="1">
        <a:spcBef>
          <a:spcPct val="0"/>
        </a:spcBef>
        <a:spcAft>
          <a:spcPct val="0"/>
        </a:spcAft>
        <a:defRPr sz="3200" b="1">
          <a:solidFill>
            <a:srgbClr val="3D65AA"/>
          </a:solidFill>
          <a:latin typeface="+mj-lt"/>
          <a:ea typeface="+mj-ea"/>
          <a:cs typeface="+mj-cs"/>
        </a:defRPr>
      </a:lvl1pPr>
      <a:lvl2pPr algn="r" rtl="0" eaLnBrk="1" fontAlgn="base" hangingPunct="1">
        <a:spcBef>
          <a:spcPct val="0"/>
        </a:spcBef>
        <a:spcAft>
          <a:spcPct val="0"/>
        </a:spcAft>
        <a:defRPr sz="3200" b="1">
          <a:solidFill>
            <a:srgbClr val="3D65AA"/>
          </a:solidFill>
          <a:latin typeface="Verdana" pitchFamily="34" charset="0"/>
        </a:defRPr>
      </a:lvl2pPr>
      <a:lvl3pPr algn="r" rtl="0" eaLnBrk="1" fontAlgn="base" hangingPunct="1">
        <a:spcBef>
          <a:spcPct val="0"/>
        </a:spcBef>
        <a:spcAft>
          <a:spcPct val="0"/>
        </a:spcAft>
        <a:defRPr sz="3200" b="1">
          <a:solidFill>
            <a:srgbClr val="3D65AA"/>
          </a:solidFill>
          <a:latin typeface="Verdana" pitchFamily="34" charset="0"/>
        </a:defRPr>
      </a:lvl3pPr>
      <a:lvl4pPr algn="r" rtl="0" eaLnBrk="1" fontAlgn="base" hangingPunct="1">
        <a:spcBef>
          <a:spcPct val="0"/>
        </a:spcBef>
        <a:spcAft>
          <a:spcPct val="0"/>
        </a:spcAft>
        <a:defRPr sz="3200" b="1">
          <a:solidFill>
            <a:srgbClr val="3D65AA"/>
          </a:solidFill>
          <a:latin typeface="Verdana" pitchFamily="34" charset="0"/>
        </a:defRPr>
      </a:lvl4pPr>
      <a:lvl5pPr algn="r" rtl="0" eaLnBrk="1" fontAlgn="base" hangingPunct="1">
        <a:spcBef>
          <a:spcPct val="0"/>
        </a:spcBef>
        <a:spcAft>
          <a:spcPct val="0"/>
        </a:spcAft>
        <a:defRPr sz="3200" b="1">
          <a:solidFill>
            <a:srgbClr val="3D65AA"/>
          </a:solidFill>
          <a:latin typeface="Verdana" pitchFamily="34" charset="0"/>
        </a:defRPr>
      </a:lvl5pPr>
      <a:lvl6pPr marL="457200" algn="r" rtl="0" eaLnBrk="1" fontAlgn="base" hangingPunct="1">
        <a:spcBef>
          <a:spcPct val="0"/>
        </a:spcBef>
        <a:spcAft>
          <a:spcPct val="0"/>
        </a:spcAft>
        <a:defRPr sz="3200" b="1">
          <a:solidFill>
            <a:srgbClr val="3D65AA"/>
          </a:solidFill>
          <a:latin typeface="Verdana" pitchFamily="34" charset="0"/>
        </a:defRPr>
      </a:lvl6pPr>
      <a:lvl7pPr marL="914400" algn="r" rtl="0" eaLnBrk="1" fontAlgn="base" hangingPunct="1">
        <a:spcBef>
          <a:spcPct val="0"/>
        </a:spcBef>
        <a:spcAft>
          <a:spcPct val="0"/>
        </a:spcAft>
        <a:defRPr sz="3200" b="1">
          <a:solidFill>
            <a:srgbClr val="3D65AA"/>
          </a:solidFill>
          <a:latin typeface="Verdana" pitchFamily="34" charset="0"/>
        </a:defRPr>
      </a:lvl7pPr>
      <a:lvl8pPr marL="1371600" algn="r" rtl="0" eaLnBrk="1" fontAlgn="base" hangingPunct="1">
        <a:spcBef>
          <a:spcPct val="0"/>
        </a:spcBef>
        <a:spcAft>
          <a:spcPct val="0"/>
        </a:spcAft>
        <a:defRPr sz="3200" b="1">
          <a:solidFill>
            <a:srgbClr val="3D65AA"/>
          </a:solidFill>
          <a:latin typeface="Verdana" pitchFamily="34" charset="0"/>
        </a:defRPr>
      </a:lvl8pPr>
      <a:lvl9pPr marL="1828800" algn="r" rtl="0" eaLnBrk="1" fontAlgn="base" hangingPunct="1">
        <a:spcBef>
          <a:spcPct val="0"/>
        </a:spcBef>
        <a:spcAft>
          <a:spcPct val="0"/>
        </a:spcAft>
        <a:defRPr sz="3200" b="1">
          <a:solidFill>
            <a:srgbClr val="3D65AA"/>
          </a:solidFill>
          <a:latin typeface="Verdana" pitchFamily="34" charset="0"/>
        </a:defRPr>
      </a:lvl9pPr>
    </p:titleStyle>
    <p:bodyStyle>
      <a:lvl1pPr marL="342900" indent="-342900" algn="l" rtl="0" eaLnBrk="1" fontAlgn="base" hangingPunct="1">
        <a:spcBef>
          <a:spcPct val="20000"/>
        </a:spcBef>
        <a:spcAft>
          <a:spcPct val="0"/>
        </a:spcAft>
        <a:buClr>
          <a:srgbClr val="3D64A9"/>
        </a:buClr>
        <a:buFont typeface="Wingdings 3" panose="05040102010807070707" pitchFamily="18" charset="2"/>
        <a:buChar char=""/>
        <a:defRPr sz="2400">
          <a:solidFill>
            <a:srgbClr val="3D65AA"/>
          </a:solidFill>
          <a:latin typeface="+mn-lt"/>
          <a:ea typeface="+mn-ea"/>
          <a:cs typeface="+mn-cs"/>
        </a:defRPr>
      </a:lvl1pPr>
      <a:lvl2pPr marL="742950" indent="-285750" algn="l" rtl="0" eaLnBrk="1" fontAlgn="base" hangingPunct="1">
        <a:spcBef>
          <a:spcPct val="20000"/>
        </a:spcBef>
        <a:spcAft>
          <a:spcPct val="0"/>
        </a:spcAft>
        <a:buClr>
          <a:srgbClr val="F29400"/>
        </a:buClr>
        <a:buFont typeface="Wingdings" panose="05000000000000000000" pitchFamily="2" charset="2"/>
        <a:buChar char="§"/>
        <a:defRPr sz="2000">
          <a:solidFill>
            <a:srgbClr val="3D65AA"/>
          </a:solidFill>
          <a:latin typeface="+mn-lt"/>
        </a:defRPr>
      </a:lvl2pPr>
      <a:lvl3pPr marL="1143000" indent="-228600" algn="l" rtl="0" eaLnBrk="1" fontAlgn="base" hangingPunct="1">
        <a:spcBef>
          <a:spcPct val="20000"/>
        </a:spcBef>
        <a:spcAft>
          <a:spcPct val="0"/>
        </a:spcAft>
        <a:buClr>
          <a:srgbClr val="F29400"/>
        </a:buClr>
        <a:buFont typeface="Wingdings" panose="05000000000000000000" pitchFamily="2" charset="2"/>
        <a:buChar char="ü"/>
        <a:defRPr i="1">
          <a:solidFill>
            <a:schemeClr val="accent3">
              <a:lumMod val="50000"/>
            </a:schemeClr>
          </a:solidFill>
          <a:latin typeface="+mn-lt"/>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5.xml"/><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1.xml.rels><?xml version="1.0" encoding="UTF-8" standalone="yes"?>
<Relationships xmlns="http://schemas.openxmlformats.org/package/2006/relationships"><Relationship Id="rId3" Type="http://schemas.openxmlformats.org/officeDocument/2006/relationships/hyperlink" Target="https://fr.wikipedia.org/wiki/Kanban_(d%C3%A9veloppement)"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4.xml.rels><?xml version="1.0" encoding="UTF-8" standalone="yes"?>
<Relationships xmlns="http://schemas.openxmlformats.org/package/2006/relationships"><Relationship Id="rId8" Type="http://schemas.openxmlformats.org/officeDocument/2006/relationships/image" Target="../media/image47.jp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hyperlink" Target="https://www.menti.com/al8ursp7mson"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app.mural.co/t/mymural8038/m/mymural8038/1674677589693/7ff55cfce4718945275fa448d36a40a709407b5a?sender=ufeeabeb967abfb7d5c110291"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bwMode="auto">
          <a:xfrm>
            <a:off x="0" y="4653136"/>
            <a:ext cx="9107488"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80000" tIns="45720" rIns="91440" bIns="45720" numCol="1" anchor="ctr" anchorCtr="0" compatLnSpc="1">
            <a:prstTxWarp prst="textNoShape">
              <a:avLst/>
            </a:prstTxWarp>
          </a:bodyPr>
          <a:lstStyle>
            <a:lvl1pPr algn="ctr" rtl="0" eaLnBrk="1" fontAlgn="base" hangingPunct="1">
              <a:spcBef>
                <a:spcPct val="0"/>
              </a:spcBef>
              <a:spcAft>
                <a:spcPct val="0"/>
              </a:spcAft>
              <a:defRPr sz="4400" b="0" spc="0">
                <a:solidFill>
                  <a:srgbClr val="5166A9"/>
                </a:solidFill>
                <a:latin typeface="+mj-lt"/>
                <a:ea typeface="+mj-ea"/>
                <a:cs typeface="+mj-cs"/>
              </a:defRPr>
            </a:lvl1pPr>
            <a:lvl2pPr algn="r" rtl="0" eaLnBrk="1" fontAlgn="base" hangingPunct="1">
              <a:spcBef>
                <a:spcPct val="0"/>
              </a:spcBef>
              <a:spcAft>
                <a:spcPct val="0"/>
              </a:spcAft>
              <a:defRPr sz="3200" b="1">
                <a:solidFill>
                  <a:srgbClr val="3D65AA"/>
                </a:solidFill>
                <a:latin typeface="Verdana" pitchFamily="34" charset="0"/>
              </a:defRPr>
            </a:lvl2pPr>
            <a:lvl3pPr algn="r" rtl="0" eaLnBrk="1" fontAlgn="base" hangingPunct="1">
              <a:spcBef>
                <a:spcPct val="0"/>
              </a:spcBef>
              <a:spcAft>
                <a:spcPct val="0"/>
              </a:spcAft>
              <a:defRPr sz="3200" b="1">
                <a:solidFill>
                  <a:srgbClr val="3D65AA"/>
                </a:solidFill>
                <a:latin typeface="Verdana" pitchFamily="34" charset="0"/>
              </a:defRPr>
            </a:lvl3pPr>
            <a:lvl4pPr algn="r" rtl="0" eaLnBrk="1" fontAlgn="base" hangingPunct="1">
              <a:spcBef>
                <a:spcPct val="0"/>
              </a:spcBef>
              <a:spcAft>
                <a:spcPct val="0"/>
              </a:spcAft>
              <a:defRPr sz="3200" b="1">
                <a:solidFill>
                  <a:srgbClr val="3D65AA"/>
                </a:solidFill>
                <a:latin typeface="Verdana" pitchFamily="34" charset="0"/>
              </a:defRPr>
            </a:lvl4pPr>
            <a:lvl5pPr algn="r" rtl="0" eaLnBrk="1" fontAlgn="base" hangingPunct="1">
              <a:spcBef>
                <a:spcPct val="0"/>
              </a:spcBef>
              <a:spcAft>
                <a:spcPct val="0"/>
              </a:spcAft>
              <a:defRPr sz="3200" b="1">
                <a:solidFill>
                  <a:srgbClr val="3D65AA"/>
                </a:solidFill>
                <a:latin typeface="Verdana" pitchFamily="34" charset="0"/>
              </a:defRPr>
            </a:lvl5pPr>
            <a:lvl6pPr marL="457200" algn="r" rtl="0" eaLnBrk="1" fontAlgn="base" hangingPunct="1">
              <a:spcBef>
                <a:spcPct val="0"/>
              </a:spcBef>
              <a:spcAft>
                <a:spcPct val="0"/>
              </a:spcAft>
              <a:defRPr sz="3200" b="1">
                <a:solidFill>
                  <a:srgbClr val="3D65AA"/>
                </a:solidFill>
                <a:latin typeface="Verdana" pitchFamily="34" charset="0"/>
              </a:defRPr>
            </a:lvl6pPr>
            <a:lvl7pPr marL="914400" algn="r" rtl="0" eaLnBrk="1" fontAlgn="base" hangingPunct="1">
              <a:spcBef>
                <a:spcPct val="0"/>
              </a:spcBef>
              <a:spcAft>
                <a:spcPct val="0"/>
              </a:spcAft>
              <a:defRPr sz="3200" b="1">
                <a:solidFill>
                  <a:srgbClr val="3D65AA"/>
                </a:solidFill>
                <a:latin typeface="Verdana" pitchFamily="34" charset="0"/>
              </a:defRPr>
            </a:lvl7pPr>
            <a:lvl8pPr marL="1371600" algn="r" rtl="0" eaLnBrk="1" fontAlgn="base" hangingPunct="1">
              <a:spcBef>
                <a:spcPct val="0"/>
              </a:spcBef>
              <a:spcAft>
                <a:spcPct val="0"/>
              </a:spcAft>
              <a:defRPr sz="3200" b="1">
                <a:solidFill>
                  <a:srgbClr val="3D65AA"/>
                </a:solidFill>
                <a:latin typeface="Verdana" pitchFamily="34" charset="0"/>
              </a:defRPr>
            </a:lvl8pPr>
            <a:lvl9pPr marL="1828800" algn="r" rtl="0" eaLnBrk="1" fontAlgn="base" hangingPunct="1">
              <a:spcBef>
                <a:spcPct val="0"/>
              </a:spcBef>
              <a:spcAft>
                <a:spcPct val="0"/>
              </a:spcAft>
              <a:defRPr sz="3200" b="1">
                <a:solidFill>
                  <a:srgbClr val="3D65AA"/>
                </a:solidFill>
                <a:latin typeface="Verdana" pitchFamily="34" charset="0"/>
              </a:defRPr>
            </a:lvl9pPr>
          </a:lstStyle>
          <a:p>
            <a:endParaRPr lang="fr-FR" sz="2400" i="1" kern="0" dirty="0">
              <a:solidFill>
                <a:srgbClr val="DC911A"/>
              </a:solidFill>
            </a:endParaRPr>
          </a:p>
        </p:txBody>
      </p:sp>
      <p:sp>
        <p:nvSpPr>
          <p:cNvPr id="2" name="Titre 1"/>
          <p:cNvSpPr>
            <a:spLocks noGrp="1"/>
          </p:cNvSpPr>
          <p:nvPr>
            <p:ph type="ctrTitle"/>
          </p:nvPr>
        </p:nvSpPr>
        <p:spPr>
          <a:xfrm>
            <a:off x="0" y="2780928"/>
            <a:ext cx="9144000" cy="2016224"/>
          </a:xfrm>
        </p:spPr>
        <p:txBody>
          <a:bodyPr/>
          <a:lstStyle/>
          <a:p>
            <a:pPr algn="l"/>
            <a:r>
              <a:rPr lang="fr-FR" sz="6000" dirty="0">
                <a:latin typeface="Calibri" panose="020F0502020204030204" pitchFamily="34" charset="0"/>
                <a:cs typeface="Calibri" panose="020F0502020204030204" pitchFamily="34" charset="0"/>
              </a:rPr>
              <a:t>Introduction à l’agilité</a:t>
            </a:r>
          </a:p>
        </p:txBody>
      </p:sp>
      <p:sp>
        <p:nvSpPr>
          <p:cNvPr id="8" name="Sous-titre 7">
            <a:extLst>
              <a:ext uri="{FF2B5EF4-FFF2-40B4-BE49-F238E27FC236}">
                <a16:creationId xmlns:a16="http://schemas.microsoft.com/office/drawing/2014/main" id="{48BD4AAF-23F7-BCDC-2086-5671DB853A9B}"/>
              </a:ext>
            </a:extLst>
          </p:cNvPr>
          <p:cNvSpPr>
            <a:spLocks noGrp="1"/>
          </p:cNvSpPr>
          <p:nvPr>
            <p:ph type="subTitle" idx="1"/>
          </p:nvPr>
        </p:nvSpPr>
        <p:spPr>
          <a:xfrm>
            <a:off x="-21154" y="5229240"/>
            <a:ext cx="9165153" cy="720000"/>
          </a:xfrm>
        </p:spPr>
        <p:txBody>
          <a:bodyPr/>
          <a:lstStyle/>
          <a:p>
            <a:r>
              <a:rPr lang="fr-FR" sz="2000" dirty="0"/>
              <a:t>« Rien n’est permanent, sauf le changement » Héraclite</a:t>
            </a:r>
          </a:p>
        </p:txBody>
      </p:sp>
    </p:spTree>
    <p:extLst>
      <p:ext uri="{BB962C8B-B14F-4D97-AF65-F5344CB8AC3E}">
        <p14:creationId xmlns:p14="http://schemas.microsoft.com/office/powerpoint/2010/main" val="1177201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defTabSz="444500"/>
            <a:r>
              <a:rPr lang="fr-FR" dirty="0"/>
              <a:t>	Objectifs</a:t>
            </a:r>
          </a:p>
        </p:txBody>
      </p:sp>
      <p:sp>
        <p:nvSpPr>
          <p:cNvPr id="3" name="Espace réservé du pied de page 2"/>
          <p:cNvSpPr>
            <a:spLocks noGrp="1"/>
          </p:cNvSpPr>
          <p:nvPr>
            <p:ph type="ftr" sz="quarter" idx="10"/>
          </p:nvPr>
        </p:nvSpPr>
        <p:spPr>
          <a:xfrm>
            <a:off x="395288" y="6300327"/>
            <a:ext cx="7273056" cy="360000"/>
          </a:xfrm>
        </p:spPr>
        <p:txBody>
          <a:bodyPr/>
          <a:lstStyle/>
          <a:p>
            <a:pPr>
              <a:defRPr/>
            </a:pPr>
            <a:r>
              <a:rPr lang="fr-FR"/>
              <a:t>Introduction à l'agilité</a:t>
            </a:r>
            <a:endParaRPr lang="fr-FR" dirty="0"/>
          </a:p>
        </p:txBody>
      </p:sp>
      <p:sp>
        <p:nvSpPr>
          <p:cNvPr id="4" name="Espace réservé du contenu 3"/>
          <p:cNvSpPr>
            <a:spLocks noGrp="1"/>
          </p:cNvSpPr>
          <p:nvPr>
            <p:ph sz="quarter" idx="12"/>
          </p:nvPr>
        </p:nvSpPr>
        <p:spPr>
          <a:xfrm>
            <a:off x="395288" y="1530929"/>
            <a:ext cx="8456725" cy="4752975"/>
          </a:xfrm>
        </p:spPr>
        <p:txBody>
          <a:bodyPr/>
          <a:lstStyle/>
          <a:p>
            <a:endParaRPr lang="fr-FR" sz="800" dirty="0"/>
          </a:p>
          <a:p>
            <a:r>
              <a:rPr lang="fr-FR" dirty="0"/>
              <a:t>Découvrir </a:t>
            </a:r>
            <a:r>
              <a:rPr lang="fr-FR" dirty="0">
                <a:solidFill>
                  <a:srgbClr val="C00000"/>
                </a:solidFill>
              </a:rPr>
              <a:t>les valeurs </a:t>
            </a:r>
            <a:r>
              <a:rPr lang="fr-FR" dirty="0"/>
              <a:t>et </a:t>
            </a:r>
            <a:r>
              <a:rPr lang="fr-FR" dirty="0">
                <a:solidFill>
                  <a:srgbClr val="C00000"/>
                </a:solidFill>
              </a:rPr>
              <a:t>les principes</a:t>
            </a:r>
            <a:br>
              <a:rPr lang="fr-FR" dirty="0"/>
            </a:br>
            <a:r>
              <a:rPr lang="fr-FR" dirty="0"/>
              <a:t>portés par </a:t>
            </a:r>
            <a:r>
              <a:rPr lang="fr-FR" dirty="0">
                <a:solidFill>
                  <a:srgbClr val="BE1218"/>
                </a:solidFill>
              </a:rPr>
              <a:t>l’agilité</a:t>
            </a:r>
            <a:br>
              <a:rPr lang="fr-FR" sz="800" dirty="0"/>
            </a:br>
            <a:endParaRPr lang="fr-FR" sz="800" dirty="0"/>
          </a:p>
          <a:p>
            <a:r>
              <a:rPr lang="fr-FR" dirty="0"/>
              <a:t>Découvrir comment l’agilité</a:t>
            </a:r>
            <a:br>
              <a:rPr lang="fr-FR" dirty="0"/>
            </a:br>
            <a:r>
              <a:rPr lang="fr-FR" dirty="0"/>
              <a:t>est mise en œuvre avec </a:t>
            </a:r>
            <a:r>
              <a:rPr lang="fr-FR" dirty="0">
                <a:solidFill>
                  <a:srgbClr val="BE1218"/>
                </a:solidFill>
              </a:rPr>
              <a:t>le framework Scrum</a:t>
            </a:r>
          </a:p>
          <a:p>
            <a:pPr lvl="1"/>
            <a:endParaRPr lang="fr-FR" dirty="0"/>
          </a:p>
        </p:txBody>
      </p:sp>
      <p:pic>
        <p:nvPicPr>
          <p:cNvPr id="5" name="Image 4"/>
          <p:cNvPicPr>
            <a:picLocks noChangeAspect="1"/>
          </p:cNvPicPr>
          <p:nvPr/>
        </p:nvPicPr>
        <p:blipFill rotWithShape="1">
          <a:blip r:embed="rId3" cstate="print">
            <a:extLst>
              <a:ext uri="{28A0092B-C50C-407E-A947-70E740481C1C}">
                <a14:useLocalDpi xmlns:a14="http://schemas.microsoft.com/office/drawing/2010/main" val="0"/>
              </a:ext>
            </a:extLst>
          </a:blip>
          <a:srcRect l="9052" t="27604" r="16563" b="23070"/>
          <a:stretch/>
        </p:blipFill>
        <p:spPr>
          <a:xfrm>
            <a:off x="7114717" y="1530929"/>
            <a:ext cx="1737296" cy="1152000"/>
          </a:xfrm>
          <a:prstGeom prst="rect">
            <a:avLst/>
          </a:prstGeom>
        </p:spPr>
      </p:pic>
    </p:spTree>
    <p:extLst>
      <p:ext uri="{BB962C8B-B14F-4D97-AF65-F5344CB8AC3E}">
        <p14:creationId xmlns:p14="http://schemas.microsoft.com/office/powerpoint/2010/main" val="72921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6FC952-4D8F-EE3D-A02F-C69228105915}"/>
              </a:ext>
            </a:extLst>
          </p:cNvPr>
          <p:cNvSpPr>
            <a:spLocks noGrp="1"/>
          </p:cNvSpPr>
          <p:nvPr>
            <p:ph type="title"/>
          </p:nvPr>
        </p:nvSpPr>
        <p:spPr/>
        <p:txBody>
          <a:bodyPr/>
          <a:lstStyle/>
          <a:p>
            <a:r>
              <a:rPr lang="fr-FR" dirty="0"/>
              <a:t>	Forces // risques du cycle en V</a:t>
            </a:r>
          </a:p>
        </p:txBody>
      </p:sp>
      <p:sp>
        <p:nvSpPr>
          <p:cNvPr id="3" name="Espace réservé du pied de page 2">
            <a:extLst>
              <a:ext uri="{FF2B5EF4-FFF2-40B4-BE49-F238E27FC236}">
                <a16:creationId xmlns:a16="http://schemas.microsoft.com/office/drawing/2014/main" id="{5839D042-4F31-E8A8-1FF1-89AC43D3725E}"/>
              </a:ext>
            </a:extLst>
          </p:cNvPr>
          <p:cNvSpPr>
            <a:spLocks noGrp="1"/>
          </p:cNvSpPr>
          <p:nvPr>
            <p:ph type="ftr" sz="quarter" idx="10"/>
          </p:nvPr>
        </p:nvSpPr>
        <p:spPr/>
        <p:txBody>
          <a:bodyPr/>
          <a:lstStyle/>
          <a:p>
            <a:pPr>
              <a:defRPr/>
            </a:pPr>
            <a:r>
              <a:rPr lang="fr-FR"/>
              <a:t>Introduction à l'agilité</a:t>
            </a:r>
            <a:endParaRPr lang="fr-FR" dirty="0"/>
          </a:p>
        </p:txBody>
      </p:sp>
      <p:sp>
        <p:nvSpPr>
          <p:cNvPr id="7" name="Espace réservé du contenu 6">
            <a:extLst>
              <a:ext uri="{FF2B5EF4-FFF2-40B4-BE49-F238E27FC236}">
                <a16:creationId xmlns:a16="http://schemas.microsoft.com/office/drawing/2014/main" id="{369121E1-3E5B-042F-1FC0-9E42AA6C3637}"/>
              </a:ext>
            </a:extLst>
          </p:cNvPr>
          <p:cNvSpPr>
            <a:spLocks noGrp="1"/>
          </p:cNvSpPr>
          <p:nvPr>
            <p:ph sz="quarter" idx="12"/>
          </p:nvPr>
        </p:nvSpPr>
        <p:spPr/>
        <p:txBody>
          <a:bodyPr/>
          <a:lstStyle/>
          <a:p>
            <a:r>
              <a:rPr lang="fr-FR" dirty="0"/>
              <a:t>Forces</a:t>
            </a:r>
          </a:p>
          <a:p>
            <a:pPr lvl="1"/>
            <a:r>
              <a:rPr lang="fr-FR" dirty="0"/>
              <a:t>Traite d’un bloc </a:t>
            </a:r>
            <a:r>
              <a:rPr lang="fr-FR" dirty="0">
                <a:solidFill>
                  <a:srgbClr val="BE1218"/>
                </a:solidFill>
              </a:rPr>
              <a:t>l’ensemble du périmètre </a:t>
            </a:r>
            <a:r>
              <a:rPr lang="fr-FR" dirty="0"/>
              <a:t>du projet (dimension système)</a:t>
            </a:r>
          </a:p>
          <a:p>
            <a:pPr lvl="1"/>
            <a:r>
              <a:rPr lang="fr-FR" dirty="0"/>
              <a:t>Des </a:t>
            </a:r>
            <a:r>
              <a:rPr lang="fr-FR" dirty="0">
                <a:solidFill>
                  <a:srgbClr val="BE1218"/>
                </a:solidFill>
              </a:rPr>
              <a:t>étapes bien jalonnées</a:t>
            </a:r>
          </a:p>
          <a:p>
            <a:pPr lvl="1"/>
            <a:r>
              <a:rPr lang="fr-FR" dirty="0"/>
              <a:t>Des gains d’échelle (planning, charges)</a:t>
            </a:r>
            <a:br>
              <a:rPr lang="fr-FR" sz="800" dirty="0"/>
            </a:br>
            <a:endParaRPr lang="fr-FR" altLang="fr-FR" sz="800" dirty="0"/>
          </a:p>
          <a:p>
            <a:r>
              <a:rPr lang="fr-FR" altLang="fr-FR" dirty="0"/>
              <a:t>Un risque : l’effet tunnel</a:t>
            </a:r>
          </a:p>
          <a:p>
            <a:pPr lvl="1"/>
            <a:r>
              <a:rPr lang="fr-FR" altLang="fr-FR" dirty="0"/>
              <a:t>La conception peut être longue</a:t>
            </a:r>
          </a:p>
          <a:p>
            <a:pPr lvl="1"/>
            <a:r>
              <a:rPr lang="fr-FR" dirty="0"/>
              <a:t>Les utilisateurs interviennent :</a:t>
            </a:r>
          </a:p>
          <a:p>
            <a:pPr lvl="2"/>
            <a:r>
              <a:rPr lang="fr-FR" dirty="0"/>
              <a:t>Au début du processus pour définir les besoins</a:t>
            </a:r>
          </a:p>
          <a:p>
            <a:pPr lvl="2"/>
            <a:r>
              <a:rPr lang="fr-FR" dirty="0"/>
              <a:t>A la fin pour valider le système / les besoins exprimés </a:t>
            </a:r>
          </a:p>
          <a:p>
            <a:pPr lvl="1"/>
            <a:r>
              <a:rPr lang="fr-FR" dirty="0"/>
              <a:t>Les livrables ne correspondent plus nécessairement</a:t>
            </a:r>
            <a:br>
              <a:rPr lang="fr-FR" dirty="0"/>
            </a:br>
            <a:r>
              <a:rPr lang="fr-FR" dirty="0"/>
              <a:t>aux besoins réels du client</a:t>
            </a:r>
          </a:p>
          <a:p>
            <a:endParaRPr lang="fr-FR" dirty="0"/>
          </a:p>
        </p:txBody>
      </p:sp>
    </p:spTree>
    <p:extLst>
      <p:ext uri="{BB962C8B-B14F-4D97-AF65-F5344CB8AC3E}">
        <p14:creationId xmlns:p14="http://schemas.microsoft.com/office/powerpoint/2010/main" val="1127563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6C6739-0D27-1B27-E37C-2500F1D07FA3}"/>
              </a:ext>
            </a:extLst>
          </p:cNvPr>
          <p:cNvSpPr>
            <a:spLocks noGrp="1"/>
          </p:cNvSpPr>
          <p:nvPr>
            <p:ph type="title"/>
          </p:nvPr>
        </p:nvSpPr>
        <p:spPr/>
        <p:txBody>
          <a:bodyPr/>
          <a:lstStyle/>
          <a:p>
            <a:r>
              <a:rPr lang="fr-FR" dirty="0"/>
              <a:t>	Constats sur le cycle en V</a:t>
            </a:r>
          </a:p>
        </p:txBody>
      </p:sp>
      <p:sp>
        <p:nvSpPr>
          <p:cNvPr id="3" name="Espace réservé du pied de page 2">
            <a:extLst>
              <a:ext uri="{FF2B5EF4-FFF2-40B4-BE49-F238E27FC236}">
                <a16:creationId xmlns:a16="http://schemas.microsoft.com/office/drawing/2014/main" id="{5F83C8D8-9CEB-BC3A-E259-BE759315E815}"/>
              </a:ext>
            </a:extLst>
          </p:cNvPr>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a:extLst>
              <a:ext uri="{FF2B5EF4-FFF2-40B4-BE49-F238E27FC236}">
                <a16:creationId xmlns:a16="http://schemas.microsoft.com/office/drawing/2014/main" id="{BD8B1350-D640-0D66-B0A1-F533C50531BD}"/>
              </a:ext>
            </a:extLst>
          </p:cNvPr>
          <p:cNvSpPr>
            <a:spLocks noGrp="1"/>
          </p:cNvSpPr>
          <p:nvPr>
            <p:ph sz="quarter" idx="12"/>
          </p:nvPr>
        </p:nvSpPr>
        <p:spPr>
          <a:xfrm>
            <a:off x="395288" y="1233642"/>
            <a:ext cx="8312709" cy="4752975"/>
          </a:xfrm>
        </p:spPr>
        <p:txBody>
          <a:bodyPr/>
          <a:lstStyle/>
          <a:p>
            <a:pPr>
              <a:tabLst>
                <a:tab pos="533400" algn="l"/>
              </a:tabLst>
            </a:pPr>
            <a:r>
              <a:rPr lang="fr-FR" dirty="0"/>
              <a:t>Les problèmes avec</a:t>
            </a:r>
            <a:r>
              <a:rPr lang="fr-FR" dirty="0">
                <a:solidFill>
                  <a:srgbClr val="3D64A9"/>
                </a:solidFill>
              </a:rPr>
              <a:t> </a:t>
            </a:r>
            <a:r>
              <a:rPr lang="fr-FR" dirty="0">
                <a:solidFill>
                  <a:srgbClr val="C00000"/>
                </a:solidFill>
              </a:rPr>
              <a:t>l’expression des besoins</a:t>
            </a:r>
          </a:p>
          <a:p>
            <a:pPr lvl="1">
              <a:tabLst>
                <a:tab pos="533400" algn="l"/>
              </a:tabLst>
            </a:pPr>
            <a:r>
              <a:rPr lang="fr-FR" dirty="0"/>
              <a:t>Les meilleures idées ne viennent pas forcément au début</a:t>
            </a:r>
          </a:p>
          <a:p>
            <a:pPr lvl="1"/>
            <a:r>
              <a:rPr lang="fr-FR" dirty="0"/>
              <a:t>Quelque soit le temps accordé à la conception, </a:t>
            </a:r>
            <a:br>
              <a:rPr lang="fr-FR" dirty="0"/>
            </a:br>
            <a:r>
              <a:rPr lang="fr-FR" dirty="0"/>
              <a:t>les besoins/priorités changeront en cours de projet   </a:t>
            </a:r>
          </a:p>
          <a:p>
            <a:pPr lvl="1">
              <a:tabLst>
                <a:tab pos="533400" algn="l"/>
              </a:tabLst>
            </a:pPr>
            <a:r>
              <a:rPr lang="fr-FR" dirty="0"/>
              <a:t>Des fonctionnalités développées peu ou pas utilisées</a:t>
            </a:r>
          </a:p>
          <a:p>
            <a:pPr lvl="1">
              <a:tabLst>
                <a:tab pos="533400" algn="l"/>
              </a:tabLst>
            </a:pPr>
            <a:r>
              <a:rPr lang="fr-FR" dirty="0"/>
              <a:t>On ne sait pas bien estimer le reste à faire</a:t>
            </a:r>
          </a:p>
        </p:txBody>
      </p:sp>
      <p:grpSp>
        <p:nvGrpSpPr>
          <p:cNvPr id="5" name="Groupe 4">
            <a:extLst>
              <a:ext uri="{FF2B5EF4-FFF2-40B4-BE49-F238E27FC236}">
                <a16:creationId xmlns:a16="http://schemas.microsoft.com/office/drawing/2014/main" id="{B63BF929-3254-37FA-3FF3-68196B9B345A}"/>
              </a:ext>
            </a:extLst>
          </p:cNvPr>
          <p:cNvGrpSpPr/>
          <p:nvPr/>
        </p:nvGrpSpPr>
        <p:grpSpPr>
          <a:xfrm>
            <a:off x="827584" y="3672506"/>
            <a:ext cx="4723885" cy="2470966"/>
            <a:chOff x="387985" y="2191965"/>
            <a:chExt cx="5767851" cy="3076782"/>
          </a:xfrm>
        </p:grpSpPr>
        <p:cxnSp>
          <p:nvCxnSpPr>
            <p:cNvPr id="6" name="Straight Connector 5">
              <a:extLst>
                <a:ext uri="{FF2B5EF4-FFF2-40B4-BE49-F238E27FC236}">
                  <a16:creationId xmlns:a16="http://schemas.microsoft.com/office/drawing/2014/main" id="{6AF52B75-7757-246E-9830-375840D7C453}"/>
                </a:ext>
              </a:extLst>
            </p:cNvPr>
            <p:cNvCxnSpPr/>
            <p:nvPr/>
          </p:nvCxnSpPr>
          <p:spPr>
            <a:xfrm rot="5400000">
              <a:off x="544865" y="3578140"/>
              <a:ext cx="22506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8">
              <a:extLst>
                <a:ext uri="{FF2B5EF4-FFF2-40B4-BE49-F238E27FC236}">
                  <a16:creationId xmlns:a16="http://schemas.microsoft.com/office/drawing/2014/main" id="{F5286982-F86B-D64C-DBF5-DDBAA0B90163}"/>
                </a:ext>
              </a:extLst>
            </p:cNvPr>
            <p:cNvCxnSpPr/>
            <p:nvPr/>
          </p:nvCxnSpPr>
          <p:spPr>
            <a:xfrm>
              <a:off x="1670215" y="4703488"/>
              <a:ext cx="39831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10">
              <a:extLst>
                <a:ext uri="{FF2B5EF4-FFF2-40B4-BE49-F238E27FC236}">
                  <a16:creationId xmlns:a16="http://schemas.microsoft.com/office/drawing/2014/main" id="{B3E3A14E-ABFF-3E73-E6A8-91904077031F}"/>
                </a:ext>
              </a:extLst>
            </p:cNvPr>
            <p:cNvCxnSpPr/>
            <p:nvPr/>
          </p:nvCxnSpPr>
          <p:spPr>
            <a:xfrm flipV="1">
              <a:off x="1670215" y="2946757"/>
              <a:ext cx="2897283" cy="1756732"/>
            </a:xfrm>
            <a:prstGeom prst="line">
              <a:avLst/>
            </a:prstGeom>
            <a:ln w="25400">
              <a:solidFill>
                <a:srgbClr val="F29400"/>
              </a:solidFill>
            </a:ln>
          </p:spPr>
          <p:style>
            <a:lnRef idx="1">
              <a:schemeClr val="accent1"/>
            </a:lnRef>
            <a:fillRef idx="0">
              <a:schemeClr val="accent1"/>
            </a:fillRef>
            <a:effectRef idx="0">
              <a:schemeClr val="accent1"/>
            </a:effectRef>
            <a:fontRef idx="minor">
              <a:schemeClr val="tx1"/>
            </a:fontRef>
          </p:style>
        </p:cxnSp>
        <p:sp>
          <p:nvSpPr>
            <p:cNvPr id="9" name="Oval 12">
              <a:extLst>
                <a:ext uri="{FF2B5EF4-FFF2-40B4-BE49-F238E27FC236}">
                  <a16:creationId xmlns:a16="http://schemas.microsoft.com/office/drawing/2014/main" id="{0F4DD762-C3DD-2F05-0A5D-8F06D01866E8}"/>
                </a:ext>
              </a:extLst>
            </p:cNvPr>
            <p:cNvSpPr/>
            <p:nvPr/>
          </p:nvSpPr>
          <p:spPr>
            <a:xfrm>
              <a:off x="5032888" y="2397097"/>
              <a:ext cx="155130" cy="164656"/>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b="0"/>
            </a:p>
          </p:txBody>
        </p:sp>
        <p:sp>
          <p:nvSpPr>
            <p:cNvPr id="10" name="Freeform 17">
              <a:extLst>
                <a:ext uri="{FF2B5EF4-FFF2-40B4-BE49-F238E27FC236}">
                  <a16:creationId xmlns:a16="http://schemas.microsoft.com/office/drawing/2014/main" id="{16D310D8-4AEA-D998-364E-D4F41E03A0B5}"/>
                </a:ext>
              </a:extLst>
            </p:cNvPr>
            <p:cNvSpPr/>
            <p:nvPr/>
          </p:nvSpPr>
          <p:spPr>
            <a:xfrm>
              <a:off x="4567498" y="2726411"/>
              <a:ext cx="1085910" cy="205513"/>
            </a:xfrm>
            <a:custGeom>
              <a:avLst/>
              <a:gdLst>
                <a:gd name="connsiteX0" fmla="*/ 0 w 3147935"/>
                <a:gd name="connsiteY0" fmla="*/ 689547 h 689547"/>
                <a:gd name="connsiteX1" fmla="*/ 1139253 w 3147935"/>
                <a:gd name="connsiteY1" fmla="*/ 314793 h 689547"/>
                <a:gd name="connsiteX2" fmla="*/ 3147935 w 3147935"/>
                <a:gd name="connsiteY2" fmla="*/ 0 h 689547"/>
                <a:gd name="connsiteX3" fmla="*/ 3147935 w 3147935"/>
                <a:gd name="connsiteY3" fmla="*/ 0 h 689547"/>
              </a:gdLst>
              <a:ahLst/>
              <a:cxnLst>
                <a:cxn ang="0">
                  <a:pos x="connsiteX0" y="connsiteY0"/>
                </a:cxn>
                <a:cxn ang="0">
                  <a:pos x="connsiteX1" y="connsiteY1"/>
                </a:cxn>
                <a:cxn ang="0">
                  <a:pos x="connsiteX2" y="connsiteY2"/>
                </a:cxn>
                <a:cxn ang="0">
                  <a:pos x="connsiteX3" y="connsiteY3"/>
                </a:cxn>
              </a:cxnLst>
              <a:rect l="l" t="t" r="r" b="b"/>
              <a:pathLst>
                <a:path w="3147935" h="689547">
                  <a:moveTo>
                    <a:pt x="0" y="689547"/>
                  </a:moveTo>
                  <a:cubicBezTo>
                    <a:pt x="307298" y="559632"/>
                    <a:pt x="614597" y="429717"/>
                    <a:pt x="1139253" y="314793"/>
                  </a:cubicBezTo>
                  <a:cubicBezTo>
                    <a:pt x="1663909" y="199869"/>
                    <a:pt x="3147935" y="0"/>
                    <a:pt x="3147935" y="0"/>
                  </a:cubicBezTo>
                  <a:lnTo>
                    <a:pt x="3147935" y="0"/>
                  </a:lnTo>
                </a:path>
              </a:pathLst>
            </a:custGeom>
            <a:ln w="25400" cmpd="sng">
              <a:solidFill>
                <a:srgbClr val="F29400"/>
              </a:solidFill>
              <a:prstDash val="sysDash"/>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GB" sz="1800" b="0"/>
            </a:p>
          </p:txBody>
        </p:sp>
        <p:sp>
          <p:nvSpPr>
            <p:cNvPr id="11" name="TextBox 19">
              <a:extLst>
                <a:ext uri="{FF2B5EF4-FFF2-40B4-BE49-F238E27FC236}">
                  <a16:creationId xmlns:a16="http://schemas.microsoft.com/office/drawing/2014/main" id="{0B469488-E781-C51C-97D9-D6BA3DA9813C}"/>
                </a:ext>
              </a:extLst>
            </p:cNvPr>
            <p:cNvSpPr txBox="1">
              <a:spLocks noChangeArrowheads="1"/>
            </p:cNvSpPr>
            <p:nvPr/>
          </p:nvSpPr>
          <p:spPr bwMode="auto">
            <a:xfrm>
              <a:off x="899592" y="2191965"/>
              <a:ext cx="780087" cy="437453"/>
            </a:xfrm>
            <a:prstGeom prst="rect">
              <a:avLst/>
            </a:prstGeom>
            <a:noFill/>
            <a:ln w="9525">
              <a:noFill/>
              <a:miter lim="800000"/>
              <a:headEnd/>
              <a:tailEnd/>
            </a:ln>
          </p:spPr>
          <p:txBody>
            <a:bodyPr wrap="square">
              <a:spAutoFit/>
            </a:bodyPr>
            <a:lstStyle/>
            <a:p>
              <a:r>
                <a:rPr lang="fr-FR" sz="1600" b="0" dirty="0">
                  <a:latin typeface="Candara" pitchFamily="34" charset="0"/>
                </a:rPr>
                <a:t>100</a:t>
              </a:r>
              <a:endParaRPr lang="en-GB" sz="1600" b="0" dirty="0">
                <a:latin typeface="Candara" pitchFamily="34" charset="0"/>
              </a:endParaRPr>
            </a:p>
          </p:txBody>
        </p:sp>
        <p:cxnSp>
          <p:nvCxnSpPr>
            <p:cNvPr id="12" name="Straight Connector 21">
              <a:extLst>
                <a:ext uri="{FF2B5EF4-FFF2-40B4-BE49-F238E27FC236}">
                  <a16:creationId xmlns:a16="http://schemas.microsoft.com/office/drawing/2014/main" id="{B1803256-29F0-732C-0A59-E2AD4E429B02}"/>
                </a:ext>
              </a:extLst>
            </p:cNvPr>
            <p:cNvCxnSpPr/>
            <p:nvPr/>
          </p:nvCxnSpPr>
          <p:spPr>
            <a:xfrm rot="5400000">
              <a:off x="5105690" y="4785816"/>
              <a:ext cx="1646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26">
              <a:extLst>
                <a:ext uri="{FF2B5EF4-FFF2-40B4-BE49-F238E27FC236}">
                  <a16:creationId xmlns:a16="http://schemas.microsoft.com/office/drawing/2014/main" id="{4B4244AC-C596-D6EB-0522-80C44738966A}"/>
                </a:ext>
              </a:extLst>
            </p:cNvPr>
            <p:cNvSpPr txBox="1">
              <a:spLocks noChangeArrowheads="1"/>
            </p:cNvSpPr>
            <p:nvPr/>
          </p:nvSpPr>
          <p:spPr bwMode="auto">
            <a:xfrm>
              <a:off x="5084218" y="4923835"/>
              <a:ext cx="1071618" cy="344912"/>
            </a:xfrm>
            <a:prstGeom prst="rect">
              <a:avLst/>
            </a:prstGeom>
            <a:noFill/>
            <a:ln w="9525">
              <a:noFill/>
              <a:miter lim="800000"/>
              <a:headEnd/>
              <a:tailEnd/>
            </a:ln>
          </p:spPr>
          <p:txBody>
            <a:bodyPr wrap="square">
              <a:spAutoFit/>
            </a:bodyPr>
            <a:lstStyle/>
            <a:p>
              <a:r>
                <a:rPr lang="fr-FR" sz="1200" b="0" dirty="0">
                  <a:latin typeface="Candara" pitchFamily="34" charset="0"/>
                </a:rPr>
                <a:t>Temps</a:t>
              </a:r>
              <a:endParaRPr lang="en-GB" sz="1200" b="0" dirty="0">
                <a:latin typeface="Candara" pitchFamily="34" charset="0"/>
              </a:endParaRPr>
            </a:p>
          </p:txBody>
        </p:sp>
        <p:sp>
          <p:nvSpPr>
            <p:cNvPr id="14" name="TextBox 18">
              <a:extLst>
                <a:ext uri="{FF2B5EF4-FFF2-40B4-BE49-F238E27FC236}">
                  <a16:creationId xmlns:a16="http://schemas.microsoft.com/office/drawing/2014/main" id="{7A94EC23-1C06-B4B1-3B63-687CE5989C2F}"/>
                </a:ext>
              </a:extLst>
            </p:cNvPr>
            <p:cNvSpPr txBox="1">
              <a:spLocks noChangeArrowheads="1"/>
            </p:cNvSpPr>
            <p:nvPr/>
          </p:nvSpPr>
          <p:spPr bwMode="auto">
            <a:xfrm>
              <a:off x="387985" y="2914106"/>
              <a:ext cx="1600496" cy="344912"/>
            </a:xfrm>
            <a:prstGeom prst="rect">
              <a:avLst/>
            </a:prstGeom>
            <a:noFill/>
            <a:ln w="9525">
              <a:noFill/>
              <a:miter lim="800000"/>
              <a:headEnd/>
              <a:tailEnd/>
            </a:ln>
          </p:spPr>
          <p:txBody>
            <a:bodyPr wrap="square">
              <a:spAutoFit/>
            </a:bodyPr>
            <a:lstStyle/>
            <a:p>
              <a:r>
                <a:rPr lang="fr-FR" sz="1200" b="0" dirty="0">
                  <a:latin typeface="+mj-lt"/>
                </a:rPr>
                <a:t>% Complété</a:t>
              </a:r>
              <a:endParaRPr lang="en-GB" sz="1200" b="0" dirty="0">
                <a:latin typeface="+mj-lt"/>
              </a:endParaRPr>
            </a:p>
          </p:txBody>
        </p:sp>
      </p:grpSp>
    </p:spTree>
    <p:extLst>
      <p:ext uri="{BB962C8B-B14F-4D97-AF65-F5344CB8AC3E}">
        <p14:creationId xmlns:p14="http://schemas.microsoft.com/office/powerpoint/2010/main" val="341971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6326CC-6B7D-0D61-C5B3-34B51C37A29D}"/>
              </a:ext>
            </a:extLst>
          </p:cNvPr>
          <p:cNvSpPr>
            <a:spLocks noGrp="1"/>
          </p:cNvSpPr>
          <p:nvPr>
            <p:ph type="title"/>
          </p:nvPr>
        </p:nvSpPr>
        <p:spPr/>
        <p:txBody>
          <a:bodyPr/>
          <a:lstStyle/>
          <a:p>
            <a:r>
              <a:rPr lang="fr-FR" dirty="0"/>
              <a:t>	A chacun son prisme</a:t>
            </a:r>
          </a:p>
        </p:txBody>
      </p:sp>
      <p:sp>
        <p:nvSpPr>
          <p:cNvPr id="3" name="Espace réservé du pied de page 2">
            <a:extLst>
              <a:ext uri="{FF2B5EF4-FFF2-40B4-BE49-F238E27FC236}">
                <a16:creationId xmlns:a16="http://schemas.microsoft.com/office/drawing/2014/main" id="{F6859C1F-538A-BD11-2350-0DEFFE7D8BE0}"/>
              </a:ext>
            </a:extLst>
          </p:cNvPr>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a:extLst>
              <a:ext uri="{FF2B5EF4-FFF2-40B4-BE49-F238E27FC236}">
                <a16:creationId xmlns:a16="http://schemas.microsoft.com/office/drawing/2014/main" id="{F9C99332-A757-B262-F84F-32D4F9CDA017}"/>
              </a:ext>
            </a:extLst>
          </p:cNvPr>
          <p:cNvSpPr>
            <a:spLocks noGrp="1"/>
          </p:cNvSpPr>
          <p:nvPr>
            <p:ph sz="quarter" idx="12"/>
          </p:nvPr>
        </p:nvSpPr>
        <p:spPr/>
        <p:txBody>
          <a:bodyPr/>
          <a:lstStyle/>
          <a:p>
            <a:r>
              <a:rPr lang="fr-FR" dirty="0"/>
              <a:t>La communication dans le projet n’est pas facilitée du fait du cloisonnement des rôles</a:t>
            </a:r>
          </a:p>
          <a:p>
            <a:r>
              <a:rPr lang="fr-FR" dirty="0"/>
              <a:t>Basée sur des écrits, manque de feedback </a:t>
            </a:r>
          </a:p>
        </p:txBody>
      </p:sp>
      <p:grpSp>
        <p:nvGrpSpPr>
          <p:cNvPr id="5" name="Group 4">
            <a:extLst>
              <a:ext uri="{FF2B5EF4-FFF2-40B4-BE49-F238E27FC236}">
                <a16:creationId xmlns:a16="http://schemas.microsoft.com/office/drawing/2014/main" id="{065F76A3-EC36-A97A-704E-FCF885CC561A}"/>
              </a:ext>
            </a:extLst>
          </p:cNvPr>
          <p:cNvGrpSpPr>
            <a:grpSpLocks/>
          </p:cNvGrpSpPr>
          <p:nvPr/>
        </p:nvGrpSpPr>
        <p:grpSpPr bwMode="auto">
          <a:xfrm>
            <a:off x="450213" y="2780928"/>
            <a:ext cx="8258032" cy="3028944"/>
            <a:chOff x="469" y="1839"/>
            <a:chExt cx="4593" cy="1448"/>
          </a:xfrm>
        </p:grpSpPr>
        <p:pic>
          <p:nvPicPr>
            <p:cNvPr id="6" name="Picture 5">
              <a:extLst>
                <a:ext uri="{FF2B5EF4-FFF2-40B4-BE49-F238E27FC236}">
                  <a16:creationId xmlns:a16="http://schemas.microsoft.com/office/drawing/2014/main" id="{43E3F388-DCC9-F537-9DA1-68A9EDA4CD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 y="1849"/>
              <a:ext cx="764" cy="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8DA7F90A-E3A4-8B10-1A1F-B435D724B7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7" y="1842"/>
              <a:ext cx="753" cy="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7153BB8F-7EDA-DCC4-2108-021C33A134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8" y="1842"/>
              <a:ext cx="757" cy="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C9DB5AEC-06C4-3BD9-52B9-C22DD1D3C4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9" y="1847"/>
              <a:ext cx="754"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a:extLst>
                <a:ext uri="{FF2B5EF4-FFF2-40B4-BE49-F238E27FC236}">
                  <a16:creationId xmlns:a16="http://schemas.microsoft.com/office/drawing/2014/main" id="{F6CCCB82-5FD7-C3A1-2724-9D3B960E36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0" y="1839"/>
              <a:ext cx="744" cy="1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63686D09-B09A-31D1-F759-5B7B4DBB7D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11" y="1849"/>
              <a:ext cx="751" cy="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344322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A vous de jouer !</a:t>
            </a:r>
          </a:p>
        </p:txBody>
      </p:sp>
      <p:sp>
        <p:nvSpPr>
          <p:cNvPr id="3" name="Espace réservé du pied de page 2"/>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p:cNvSpPr>
            <a:spLocks noGrp="1"/>
          </p:cNvSpPr>
          <p:nvPr>
            <p:ph sz="quarter" idx="12"/>
          </p:nvPr>
        </p:nvSpPr>
        <p:spPr/>
        <p:txBody>
          <a:bodyPr/>
          <a:lstStyle/>
          <a:p>
            <a:r>
              <a:rPr lang="fr-FR" dirty="0"/>
              <a:t>Le jeu des spécifieurs et des artistes</a:t>
            </a:r>
          </a:p>
          <a:p>
            <a:endParaRPr lang="fr-FR" dirty="0"/>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6888" y="2347913"/>
            <a:ext cx="5610225" cy="2162175"/>
          </a:xfrm>
          <a:prstGeom prst="rect">
            <a:avLst/>
          </a:prstGeom>
        </p:spPr>
      </p:pic>
    </p:spTree>
    <p:extLst>
      <p:ext uri="{BB962C8B-B14F-4D97-AF65-F5344CB8AC3E}">
        <p14:creationId xmlns:p14="http://schemas.microsoft.com/office/powerpoint/2010/main" val="3203253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59253C-AAF1-D21D-D8FB-F0B739EA2460}"/>
              </a:ext>
            </a:extLst>
          </p:cNvPr>
          <p:cNvSpPr>
            <a:spLocks noGrp="1"/>
          </p:cNvSpPr>
          <p:nvPr>
            <p:ph type="title"/>
          </p:nvPr>
        </p:nvSpPr>
        <p:spPr/>
        <p:txBody>
          <a:bodyPr/>
          <a:lstStyle/>
          <a:p>
            <a:r>
              <a:rPr lang="fr-FR" dirty="0"/>
              <a:t>	Vers l’approche agile</a:t>
            </a:r>
          </a:p>
        </p:txBody>
      </p:sp>
      <p:sp>
        <p:nvSpPr>
          <p:cNvPr id="3" name="Espace réservé du pied de page 2">
            <a:extLst>
              <a:ext uri="{FF2B5EF4-FFF2-40B4-BE49-F238E27FC236}">
                <a16:creationId xmlns:a16="http://schemas.microsoft.com/office/drawing/2014/main" id="{C8EA647F-3EB6-74AA-F766-77135D5846DF}"/>
              </a:ext>
            </a:extLst>
          </p:cNvPr>
          <p:cNvSpPr>
            <a:spLocks noGrp="1"/>
          </p:cNvSpPr>
          <p:nvPr>
            <p:ph type="ftr" sz="quarter" idx="10"/>
          </p:nvPr>
        </p:nvSpPr>
        <p:spPr/>
        <p:txBody>
          <a:bodyPr/>
          <a:lstStyle/>
          <a:p>
            <a:pPr>
              <a:defRPr/>
            </a:pPr>
            <a:r>
              <a:rPr lang="fr-FR"/>
              <a:t>Introduction à l'agilité</a:t>
            </a:r>
            <a:endParaRPr lang="fr-FR" dirty="0"/>
          </a:p>
        </p:txBody>
      </p:sp>
      <p:pic>
        <p:nvPicPr>
          <p:cNvPr id="5" name="4_agile.png">
            <a:extLst>
              <a:ext uri="{FF2B5EF4-FFF2-40B4-BE49-F238E27FC236}">
                <a16:creationId xmlns:a16="http://schemas.microsoft.com/office/drawing/2014/main" id="{C18E8AE2-AE4C-9C0E-6D5E-3D7D033C7962}"/>
              </a:ext>
            </a:extLst>
          </p:cNvPr>
          <p:cNvPicPr>
            <a:picLocks noGrp="1"/>
          </p:cNvPicPr>
          <p:nvPr>
            <p:ph sz="quarter" idx="12"/>
          </p:nvPr>
        </p:nvPicPr>
        <p:blipFill>
          <a:blip r:embed="rId3"/>
          <a:stretch>
            <a:fillRect/>
          </a:stretch>
        </p:blipFill>
        <p:spPr>
          <a:xfrm>
            <a:off x="1799692" y="1974625"/>
            <a:ext cx="5544616" cy="3528391"/>
          </a:xfrm>
          <a:prstGeom prst="rect">
            <a:avLst/>
          </a:prstGeom>
          <a:ln w="88900">
            <a:miter lim="400000"/>
          </a:ln>
        </p:spPr>
      </p:pic>
    </p:spTree>
    <p:extLst>
      <p:ext uri="{BB962C8B-B14F-4D97-AF65-F5344CB8AC3E}">
        <p14:creationId xmlns:p14="http://schemas.microsoft.com/office/powerpoint/2010/main" val="2215144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5F6C37-A6BB-B1B3-20CD-04D9627CE0C9}"/>
              </a:ext>
            </a:extLst>
          </p:cNvPr>
          <p:cNvSpPr>
            <a:spLocks noGrp="1"/>
          </p:cNvSpPr>
          <p:nvPr>
            <p:ph type="title"/>
          </p:nvPr>
        </p:nvSpPr>
        <p:spPr/>
        <p:txBody>
          <a:bodyPr/>
          <a:lstStyle/>
          <a:p>
            <a:r>
              <a:rPr lang="fr-FR" dirty="0"/>
              <a:t>	Dimensions d’un projet</a:t>
            </a:r>
          </a:p>
        </p:txBody>
      </p:sp>
      <p:sp>
        <p:nvSpPr>
          <p:cNvPr id="3" name="Espace réservé du pied de page 2">
            <a:extLst>
              <a:ext uri="{FF2B5EF4-FFF2-40B4-BE49-F238E27FC236}">
                <a16:creationId xmlns:a16="http://schemas.microsoft.com/office/drawing/2014/main" id="{F4AD504B-C1C2-62E6-0827-428314A69A02}"/>
              </a:ext>
            </a:extLst>
          </p:cNvPr>
          <p:cNvSpPr>
            <a:spLocks noGrp="1"/>
          </p:cNvSpPr>
          <p:nvPr>
            <p:ph type="ftr" sz="quarter" idx="10"/>
          </p:nvPr>
        </p:nvSpPr>
        <p:spPr/>
        <p:txBody>
          <a:bodyPr/>
          <a:lstStyle/>
          <a:p>
            <a:pPr>
              <a:defRPr/>
            </a:pPr>
            <a:r>
              <a:rPr lang="fr-FR"/>
              <a:t>Introduction à l'agilité</a:t>
            </a:r>
            <a:endParaRPr lang="fr-FR" dirty="0"/>
          </a:p>
        </p:txBody>
      </p:sp>
      <p:pic>
        <p:nvPicPr>
          <p:cNvPr id="5" name="Image 4">
            <a:extLst>
              <a:ext uri="{FF2B5EF4-FFF2-40B4-BE49-F238E27FC236}">
                <a16:creationId xmlns:a16="http://schemas.microsoft.com/office/drawing/2014/main" id="{DC97641C-8046-A298-FCD3-99FB73FFAC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763" y="1447835"/>
            <a:ext cx="7044141" cy="3962330"/>
          </a:xfrm>
          <a:prstGeom prst="rect">
            <a:avLst/>
          </a:prstGeom>
        </p:spPr>
      </p:pic>
      <p:grpSp>
        <p:nvGrpSpPr>
          <p:cNvPr id="6" name="Groupe 5">
            <a:extLst>
              <a:ext uri="{FF2B5EF4-FFF2-40B4-BE49-F238E27FC236}">
                <a16:creationId xmlns:a16="http://schemas.microsoft.com/office/drawing/2014/main" id="{9995A2B1-5E11-79A8-4A0E-F99E8BE634D3}"/>
              </a:ext>
            </a:extLst>
          </p:cNvPr>
          <p:cNvGrpSpPr/>
          <p:nvPr/>
        </p:nvGrpSpPr>
        <p:grpSpPr>
          <a:xfrm>
            <a:off x="395288" y="5237948"/>
            <a:ext cx="8397233" cy="936104"/>
            <a:chOff x="794363" y="4449580"/>
            <a:chExt cx="6859463" cy="469151"/>
          </a:xfrm>
        </p:grpSpPr>
        <p:sp>
          <p:nvSpPr>
            <p:cNvPr id="7" name="Flèche droite 9">
              <a:extLst>
                <a:ext uri="{FF2B5EF4-FFF2-40B4-BE49-F238E27FC236}">
                  <a16:creationId xmlns:a16="http://schemas.microsoft.com/office/drawing/2014/main" id="{ABF71FFD-38FC-5AB6-2701-59EEDF9A3DD8}"/>
                </a:ext>
              </a:extLst>
            </p:cNvPr>
            <p:cNvSpPr/>
            <p:nvPr/>
          </p:nvSpPr>
          <p:spPr>
            <a:xfrm>
              <a:off x="794363" y="4508461"/>
              <a:ext cx="443086" cy="288032"/>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C00000"/>
                </a:solidFill>
              </a:endParaRPr>
            </a:p>
          </p:txBody>
        </p:sp>
        <p:sp>
          <p:nvSpPr>
            <p:cNvPr id="8" name="Rectangle 10">
              <a:extLst>
                <a:ext uri="{FF2B5EF4-FFF2-40B4-BE49-F238E27FC236}">
                  <a16:creationId xmlns:a16="http://schemas.microsoft.com/office/drawing/2014/main" id="{F4C5ACD5-C416-BC6A-2AE1-7008A8735256}"/>
                </a:ext>
              </a:extLst>
            </p:cNvPr>
            <p:cNvSpPr/>
            <p:nvPr/>
          </p:nvSpPr>
          <p:spPr>
            <a:xfrm>
              <a:off x="1344245" y="4449580"/>
              <a:ext cx="6309581" cy="469151"/>
            </a:xfrm>
            <a:prstGeom prst="wedgeRectCallout">
              <a:avLst>
                <a:gd name="adj1" fmla="val -49844"/>
                <a:gd name="adj2" fmla="val -16805"/>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dirty="0">
                  <a:solidFill>
                    <a:srgbClr val="232F3F"/>
                  </a:solidFill>
                </a:rPr>
                <a:t>La qualité ne devrait jamais être la variable d’ajustement</a:t>
              </a:r>
            </a:p>
            <a:p>
              <a:r>
                <a:rPr lang="fr-FR" sz="2000" dirty="0">
                  <a:solidFill>
                    <a:srgbClr val="232F3F"/>
                  </a:solidFill>
                </a:rPr>
                <a:t>En approche agile, le projet est </a:t>
              </a:r>
              <a:r>
                <a:rPr lang="fr-FR" sz="2000" dirty="0">
                  <a:solidFill>
                    <a:srgbClr val="BE1218"/>
                  </a:solidFill>
                </a:rPr>
                <a:t>dirigé par la valeur métier</a:t>
              </a:r>
            </a:p>
          </p:txBody>
        </p:sp>
      </p:grpSp>
    </p:spTree>
    <p:extLst>
      <p:ext uri="{BB962C8B-B14F-4D97-AF65-F5344CB8AC3E}">
        <p14:creationId xmlns:p14="http://schemas.microsoft.com/office/powerpoint/2010/main" val="317914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652561-BAE3-6D5D-1F1A-317989DD43CF}"/>
              </a:ext>
            </a:extLst>
          </p:cNvPr>
          <p:cNvSpPr>
            <a:spLocks noGrp="1"/>
          </p:cNvSpPr>
          <p:nvPr>
            <p:ph type="title"/>
          </p:nvPr>
        </p:nvSpPr>
        <p:spPr/>
        <p:txBody>
          <a:bodyPr/>
          <a:lstStyle/>
          <a:p>
            <a:r>
              <a:rPr lang="fr-FR" dirty="0"/>
              <a:t>	Objectif</a:t>
            </a:r>
          </a:p>
        </p:txBody>
      </p:sp>
      <p:sp>
        <p:nvSpPr>
          <p:cNvPr id="3" name="Espace réservé du pied de page 2">
            <a:extLst>
              <a:ext uri="{FF2B5EF4-FFF2-40B4-BE49-F238E27FC236}">
                <a16:creationId xmlns:a16="http://schemas.microsoft.com/office/drawing/2014/main" id="{4635C113-D79D-35D4-B5BD-9DED007397CF}"/>
              </a:ext>
            </a:extLst>
          </p:cNvPr>
          <p:cNvSpPr>
            <a:spLocks noGrp="1"/>
          </p:cNvSpPr>
          <p:nvPr>
            <p:ph type="ftr" sz="quarter" idx="10"/>
          </p:nvPr>
        </p:nvSpPr>
        <p:spPr/>
        <p:txBody>
          <a:bodyPr/>
          <a:lstStyle/>
          <a:p>
            <a:pPr>
              <a:defRPr/>
            </a:pPr>
            <a:r>
              <a:rPr lang="fr-FR"/>
              <a:t>Introduction à l'agilité</a:t>
            </a:r>
            <a:endParaRPr lang="fr-FR" dirty="0"/>
          </a:p>
        </p:txBody>
      </p:sp>
      <p:sp>
        <p:nvSpPr>
          <p:cNvPr id="5" name="Espace réservé du contenu 3">
            <a:extLst>
              <a:ext uri="{FF2B5EF4-FFF2-40B4-BE49-F238E27FC236}">
                <a16:creationId xmlns:a16="http://schemas.microsoft.com/office/drawing/2014/main" id="{4EC08303-D622-19F9-7AA4-848466BC0C14}"/>
              </a:ext>
            </a:extLst>
          </p:cNvPr>
          <p:cNvSpPr txBox="1">
            <a:spLocks/>
          </p:cNvSpPr>
          <p:nvPr/>
        </p:nvSpPr>
        <p:spPr>
          <a:xfrm>
            <a:off x="172855" y="1480722"/>
            <a:ext cx="5493704" cy="4662623"/>
          </a:xfrm>
          <a:prstGeom prst="rect">
            <a:avLst/>
          </a:prstGeom>
        </p:spPr>
        <p:txBody>
          <a:bodyPr/>
          <a:lstStyle>
            <a:lvl1pPr marL="342900" indent="-342900" algn="l" rtl="0" eaLnBrk="1" fontAlgn="base" hangingPunct="1">
              <a:spcBef>
                <a:spcPct val="20000"/>
              </a:spcBef>
              <a:spcAft>
                <a:spcPct val="0"/>
              </a:spcAft>
              <a:buClr>
                <a:srgbClr val="C00000"/>
              </a:buClr>
              <a:buFont typeface="Wingdings 3" panose="05040102010807070707" pitchFamily="18" charset="2"/>
              <a:buChar char=""/>
              <a:defRPr sz="2400">
                <a:solidFill>
                  <a:srgbClr val="232F3F"/>
                </a:solidFill>
                <a:latin typeface="+mn-lt"/>
                <a:ea typeface="+mn-ea"/>
                <a:cs typeface="+mn-cs"/>
              </a:defRPr>
            </a:lvl1pPr>
            <a:lvl2pPr marL="742950" indent="-285750" algn="l" rtl="0" eaLnBrk="1" fontAlgn="base" hangingPunct="1">
              <a:spcBef>
                <a:spcPct val="20000"/>
              </a:spcBef>
              <a:spcAft>
                <a:spcPct val="0"/>
              </a:spcAft>
              <a:buClr>
                <a:srgbClr val="00B0F0"/>
              </a:buClr>
              <a:buFont typeface="Wingdings" panose="05000000000000000000" pitchFamily="2" charset="2"/>
              <a:buChar char="ð"/>
              <a:defRPr sz="2000">
                <a:solidFill>
                  <a:srgbClr val="232F3F"/>
                </a:solidFill>
                <a:latin typeface="+mn-lt"/>
              </a:defRPr>
            </a:lvl2pPr>
            <a:lvl3pPr marL="1143000" indent="-228600" algn="l" rtl="0" eaLnBrk="1" fontAlgn="base" hangingPunct="1">
              <a:spcBef>
                <a:spcPct val="20000"/>
              </a:spcBef>
              <a:spcAft>
                <a:spcPct val="0"/>
              </a:spcAft>
              <a:buClr>
                <a:srgbClr val="C00000"/>
              </a:buClr>
              <a:buFont typeface="Wingdings" panose="05000000000000000000" pitchFamily="2" charset="2"/>
              <a:buChar char="ü"/>
              <a:defRPr i="1">
                <a:solidFill>
                  <a:schemeClr val="accent3">
                    <a:lumMod val="50000"/>
                  </a:schemeClr>
                </a:solidFill>
                <a:latin typeface="+mn-lt"/>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pPr marL="0" indent="0" algn="ctr">
              <a:buFont typeface="Wingdings 3" panose="05040102010807070707" pitchFamily="18" charset="2"/>
              <a:buNone/>
            </a:pPr>
            <a:r>
              <a:rPr lang="fr-FR" kern="0" dirty="0"/>
              <a:t>Centré sur la réalisation</a:t>
            </a:r>
          </a:p>
          <a:p>
            <a:pPr marL="0" indent="0" algn="ctr">
              <a:buFont typeface="Wingdings 3" panose="05040102010807070707" pitchFamily="18" charset="2"/>
              <a:buNone/>
            </a:pPr>
            <a:r>
              <a:rPr lang="fr-FR" kern="0" dirty="0"/>
              <a:t> d’un </a:t>
            </a:r>
            <a:r>
              <a:rPr lang="fr-FR" kern="0" dirty="0">
                <a:solidFill>
                  <a:srgbClr val="BE1218"/>
                </a:solidFill>
              </a:rPr>
              <a:t>produit fonctionnel utile</a:t>
            </a:r>
          </a:p>
          <a:p>
            <a:pPr marL="0" indent="0" algn="ctr">
              <a:buFont typeface="Wingdings 3" panose="05040102010807070707" pitchFamily="18" charset="2"/>
              <a:buNone/>
            </a:pPr>
            <a:r>
              <a:rPr lang="fr-FR" kern="0" dirty="0"/>
              <a:t>aux utilisateurs finaux</a:t>
            </a:r>
            <a:endParaRPr lang="fr-FR" kern="0" dirty="0">
              <a:solidFill>
                <a:srgbClr val="F29400"/>
              </a:solidFill>
            </a:endParaRPr>
          </a:p>
          <a:p>
            <a:pPr marL="0" indent="0" algn="ctr">
              <a:buFont typeface="Wingdings 3" panose="05040102010807070707" pitchFamily="18" charset="2"/>
              <a:buNone/>
            </a:pPr>
            <a:br>
              <a:rPr lang="fr-FR" kern="0" dirty="0">
                <a:solidFill>
                  <a:srgbClr val="F29400"/>
                </a:solidFill>
              </a:rPr>
            </a:br>
            <a:r>
              <a:rPr lang="fr-FR" kern="0" dirty="0"/>
              <a:t>Avec un processus</a:t>
            </a:r>
          </a:p>
          <a:p>
            <a:pPr marL="0" indent="0" algn="ctr">
              <a:buFont typeface="Wingdings 3" panose="05040102010807070707" pitchFamily="18" charset="2"/>
              <a:buNone/>
            </a:pPr>
            <a:r>
              <a:rPr lang="fr-FR" kern="0" dirty="0">
                <a:solidFill>
                  <a:srgbClr val="BE1218"/>
                </a:solidFill>
              </a:rPr>
              <a:t>itératif </a:t>
            </a:r>
            <a:r>
              <a:rPr lang="fr-FR" kern="0" dirty="0"/>
              <a:t>et</a:t>
            </a:r>
            <a:r>
              <a:rPr lang="fr-FR" kern="0" dirty="0">
                <a:solidFill>
                  <a:srgbClr val="F29400"/>
                </a:solidFill>
              </a:rPr>
              <a:t> </a:t>
            </a:r>
            <a:r>
              <a:rPr lang="fr-FR" kern="0" dirty="0">
                <a:solidFill>
                  <a:srgbClr val="BE1218"/>
                </a:solidFill>
              </a:rPr>
              <a:t>incrémental</a:t>
            </a:r>
            <a:br>
              <a:rPr lang="fr-FR" kern="0" dirty="0">
                <a:solidFill>
                  <a:srgbClr val="F29400"/>
                </a:solidFill>
              </a:rPr>
            </a:br>
            <a:endParaRPr lang="fr-FR" kern="0" dirty="0">
              <a:solidFill>
                <a:srgbClr val="F29400"/>
              </a:solidFill>
            </a:endParaRPr>
          </a:p>
          <a:p>
            <a:pPr marL="0" indent="0" algn="ctr">
              <a:buFont typeface="Wingdings 3" panose="05040102010807070707" pitchFamily="18" charset="2"/>
              <a:buNone/>
            </a:pPr>
            <a:r>
              <a:rPr lang="fr-FR" kern="0" dirty="0"/>
              <a:t>Pour produire </a:t>
            </a:r>
            <a:r>
              <a:rPr lang="fr-FR" kern="0" dirty="0">
                <a:solidFill>
                  <a:srgbClr val="BE1218"/>
                </a:solidFill>
              </a:rPr>
              <a:t>au plus tôt</a:t>
            </a:r>
            <a:br>
              <a:rPr lang="fr-FR" kern="0" dirty="0">
                <a:solidFill>
                  <a:srgbClr val="DC911A"/>
                </a:solidFill>
              </a:rPr>
            </a:br>
            <a:r>
              <a:rPr lang="fr-FR" kern="0" dirty="0"/>
              <a:t>le</a:t>
            </a:r>
            <a:r>
              <a:rPr lang="fr-FR" kern="0" dirty="0">
                <a:solidFill>
                  <a:srgbClr val="5166A9"/>
                </a:solidFill>
              </a:rPr>
              <a:t> </a:t>
            </a:r>
            <a:r>
              <a:rPr lang="fr-FR" kern="0" dirty="0">
                <a:solidFill>
                  <a:srgbClr val="BE1218"/>
                </a:solidFill>
              </a:rPr>
              <a:t>maximum de valeur métier</a:t>
            </a:r>
          </a:p>
          <a:p>
            <a:pPr marL="0" indent="0" algn="ctr">
              <a:buFont typeface="Wingdings 3" panose="05040102010807070707" pitchFamily="18" charset="2"/>
              <a:buNone/>
            </a:pPr>
            <a:endParaRPr lang="fr-FR" kern="0" dirty="0">
              <a:solidFill>
                <a:srgbClr val="DC911A"/>
              </a:solidFill>
            </a:endParaRPr>
          </a:p>
          <a:p>
            <a:pPr marL="0" indent="0" algn="ctr">
              <a:buFont typeface="Wingdings 3" panose="05040102010807070707" pitchFamily="18" charset="2"/>
              <a:buNone/>
            </a:pPr>
            <a:endParaRPr lang="fr-FR" kern="0" dirty="0">
              <a:solidFill>
                <a:srgbClr val="DC911A"/>
              </a:solidFill>
            </a:endParaRPr>
          </a:p>
          <a:p>
            <a:pPr marL="0" indent="0" algn="ctr">
              <a:buFont typeface="Wingdings 3" panose="05040102010807070707" pitchFamily="18" charset="2"/>
              <a:buNone/>
            </a:pPr>
            <a:endParaRPr lang="fr-FR" kern="0" dirty="0">
              <a:solidFill>
                <a:srgbClr val="DC911A"/>
              </a:solidFill>
            </a:endParaRPr>
          </a:p>
          <a:p>
            <a:pPr marL="0" indent="0" algn="ctr">
              <a:buFont typeface="Wingdings 3" panose="05040102010807070707" pitchFamily="18" charset="2"/>
              <a:buNone/>
            </a:pPr>
            <a:endParaRPr lang="fr-FR" kern="0" dirty="0">
              <a:solidFill>
                <a:srgbClr val="F29400"/>
              </a:solidFill>
            </a:endParaRPr>
          </a:p>
          <a:p>
            <a:pPr marL="0" indent="0" algn="ctr">
              <a:buFont typeface="Wingdings 3" panose="05040102010807070707" pitchFamily="18" charset="2"/>
              <a:buNone/>
            </a:pPr>
            <a:endParaRPr lang="fr-FR" kern="0" dirty="0">
              <a:solidFill>
                <a:srgbClr val="F29400"/>
              </a:solidFill>
            </a:endParaRPr>
          </a:p>
          <a:p>
            <a:pPr marL="0" indent="0" algn="ctr">
              <a:buFont typeface="Wingdings 3" panose="05040102010807070707" pitchFamily="18" charset="2"/>
              <a:buNone/>
            </a:pPr>
            <a:endParaRPr lang="fr-FR" kern="0" dirty="0">
              <a:solidFill>
                <a:srgbClr val="F29400"/>
              </a:solidFill>
            </a:endParaRPr>
          </a:p>
          <a:p>
            <a:pPr marL="0" indent="0" algn="ctr">
              <a:buFont typeface="Wingdings 3" panose="05040102010807070707" pitchFamily="18" charset="2"/>
              <a:buNone/>
            </a:pPr>
            <a:endParaRPr lang="fr-FR" kern="0" dirty="0">
              <a:solidFill>
                <a:srgbClr val="F29400"/>
              </a:solidFill>
            </a:endParaRPr>
          </a:p>
        </p:txBody>
      </p:sp>
      <p:sp>
        <p:nvSpPr>
          <p:cNvPr id="7" name="Ellipse 6">
            <a:extLst>
              <a:ext uri="{FF2B5EF4-FFF2-40B4-BE49-F238E27FC236}">
                <a16:creationId xmlns:a16="http://schemas.microsoft.com/office/drawing/2014/main" id="{2039B3B6-DF90-C522-086E-548FADA636D3}"/>
              </a:ext>
            </a:extLst>
          </p:cNvPr>
          <p:cNvSpPr/>
          <p:nvPr/>
        </p:nvSpPr>
        <p:spPr>
          <a:xfrm>
            <a:off x="6671176" y="1441698"/>
            <a:ext cx="1944000" cy="1944000"/>
          </a:xfrm>
          <a:prstGeom prst="ellipse">
            <a:avLst/>
          </a:prstGeom>
          <a:solidFill>
            <a:srgbClr val="A1C03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t>4 valeurs</a:t>
            </a:r>
          </a:p>
        </p:txBody>
      </p:sp>
      <p:sp>
        <p:nvSpPr>
          <p:cNvPr id="8" name="Ellipse 7">
            <a:extLst>
              <a:ext uri="{FF2B5EF4-FFF2-40B4-BE49-F238E27FC236}">
                <a16:creationId xmlns:a16="http://schemas.microsoft.com/office/drawing/2014/main" id="{33DE1846-E6EE-5674-CDA9-6E03A8733A31}"/>
              </a:ext>
            </a:extLst>
          </p:cNvPr>
          <p:cNvSpPr/>
          <p:nvPr/>
        </p:nvSpPr>
        <p:spPr>
          <a:xfrm>
            <a:off x="6001431" y="2695341"/>
            <a:ext cx="1944000" cy="1944000"/>
          </a:xfrm>
          <a:prstGeom prst="ellipse">
            <a:avLst/>
          </a:prstGeom>
          <a:solidFill>
            <a:srgbClr val="DC911A"/>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bg1"/>
                </a:solidFill>
              </a:rPr>
              <a:t>12 principes</a:t>
            </a:r>
          </a:p>
        </p:txBody>
      </p:sp>
      <p:sp>
        <p:nvSpPr>
          <p:cNvPr id="9" name="Ellipse 8">
            <a:extLst>
              <a:ext uri="{FF2B5EF4-FFF2-40B4-BE49-F238E27FC236}">
                <a16:creationId xmlns:a16="http://schemas.microsoft.com/office/drawing/2014/main" id="{B6D91D2F-7827-2919-2800-07D3DB4994A7}"/>
              </a:ext>
            </a:extLst>
          </p:cNvPr>
          <p:cNvSpPr/>
          <p:nvPr/>
        </p:nvSpPr>
        <p:spPr>
          <a:xfrm>
            <a:off x="6671176" y="4063605"/>
            <a:ext cx="1944000" cy="1908000"/>
          </a:xfrm>
          <a:prstGeom prst="ellipse">
            <a:avLst/>
          </a:prstGeom>
          <a:solidFill>
            <a:srgbClr val="3D64A9"/>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t>Des pratiques</a:t>
            </a:r>
          </a:p>
        </p:txBody>
      </p:sp>
    </p:spTree>
    <p:extLst>
      <p:ext uri="{BB962C8B-B14F-4D97-AF65-F5344CB8AC3E}">
        <p14:creationId xmlns:p14="http://schemas.microsoft.com/office/powerpoint/2010/main" val="382850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4C2F9A9-C45A-FC18-6F5B-EEDF0802276C}"/>
              </a:ext>
            </a:extLst>
          </p:cNvPr>
          <p:cNvSpPr>
            <a:spLocks noGrp="1"/>
          </p:cNvSpPr>
          <p:nvPr>
            <p:ph type="ftr" sz="quarter" idx="10"/>
          </p:nvPr>
        </p:nvSpPr>
        <p:spPr/>
        <p:txBody>
          <a:bodyPr/>
          <a:lstStyle/>
          <a:p>
            <a:pPr>
              <a:defRPr/>
            </a:pPr>
            <a:r>
              <a:rPr lang="fr-FR"/>
              <a:t>Introduction à l'agilité</a:t>
            </a:r>
            <a:endParaRPr lang="fr-FR" dirty="0"/>
          </a:p>
        </p:txBody>
      </p:sp>
      <p:pic>
        <p:nvPicPr>
          <p:cNvPr id="5" name="Image 4">
            <a:extLst>
              <a:ext uri="{FF2B5EF4-FFF2-40B4-BE49-F238E27FC236}">
                <a16:creationId xmlns:a16="http://schemas.microsoft.com/office/drawing/2014/main" id="{A4DE3CA3-3711-4CC7-251B-D5F885DE9C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12" y="97669"/>
            <a:ext cx="8807905" cy="6228207"/>
          </a:xfrm>
          <a:prstGeom prst="rect">
            <a:avLst/>
          </a:prstGeom>
        </p:spPr>
      </p:pic>
    </p:spTree>
    <p:extLst>
      <p:ext uri="{BB962C8B-B14F-4D97-AF65-F5344CB8AC3E}">
        <p14:creationId xmlns:p14="http://schemas.microsoft.com/office/powerpoint/2010/main" val="1356171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DF4CB9-7EB6-894E-6122-E3EFDD909C2E}"/>
              </a:ext>
            </a:extLst>
          </p:cNvPr>
          <p:cNvSpPr>
            <a:spLocks noGrp="1"/>
          </p:cNvSpPr>
          <p:nvPr>
            <p:ph type="title"/>
          </p:nvPr>
        </p:nvSpPr>
        <p:spPr/>
        <p:txBody>
          <a:bodyPr/>
          <a:lstStyle/>
          <a:p>
            <a:r>
              <a:rPr lang="fr-FR" dirty="0"/>
              <a:t>	Faire petit et complet</a:t>
            </a:r>
          </a:p>
        </p:txBody>
      </p:sp>
      <p:sp>
        <p:nvSpPr>
          <p:cNvPr id="3" name="Espace réservé du pied de page 2">
            <a:extLst>
              <a:ext uri="{FF2B5EF4-FFF2-40B4-BE49-F238E27FC236}">
                <a16:creationId xmlns:a16="http://schemas.microsoft.com/office/drawing/2014/main" id="{F7119D1C-C100-8F41-2F73-50FD76B0DCDC}"/>
              </a:ext>
            </a:extLst>
          </p:cNvPr>
          <p:cNvSpPr>
            <a:spLocks noGrp="1"/>
          </p:cNvSpPr>
          <p:nvPr>
            <p:ph type="ftr" sz="quarter" idx="10"/>
          </p:nvPr>
        </p:nvSpPr>
        <p:spPr/>
        <p:txBody>
          <a:bodyPr/>
          <a:lstStyle/>
          <a:p>
            <a:pPr>
              <a:defRPr/>
            </a:pPr>
            <a:r>
              <a:rPr lang="fr-FR"/>
              <a:t>Introduction à l'agilité</a:t>
            </a:r>
            <a:endParaRPr lang="fr-FR" dirty="0"/>
          </a:p>
        </p:txBody>
      </p:sp>
      <p:pic>
        <p:nvPicPr>
          <p:cNvPr id="5" name="Picture 3">
            <a:extLst>
              <a:ext uri="{FF2B5EF4-FFF2-40B4-BE49-F238E27FC236}">
                <a16:creationId xmlns:a16="http://schemas.microsoft.com/office/drawing/2014/main" id="{C99DC959-3FDD-3785-8369-3D526183D2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196752"/>
            <a:ext cx="7560840" cy="4276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Groupe 5">
            <a:extLst>
              <a:ext uri="{FF2B5EF4-FFF2-40B4-BE49-F238E27FC236}">
                <a16:creationId xmlns:a16="http://schemas.microsoft.com/office/drawing/2014/main" id="{E30D2429-BDE5-0849-3264-8D7F98936CC0}"/>
              </a:ext>
            </a:extLst>
          </p:cNvPr>
          <p:cNvGrpSpPr/>
          <p:nvPr/>
        </p:nvGrpSpPr>
        <p:grpSpPr>
          <a:xfrm>
            <a:off x="683568" y="5610800"/>
            <a:ext cx="7992888" cy="560283"/>
            <a:chOff x="794363" y="4449580"/>
            <a:chExt cx="6859463" cy="469151"/>
          </a:xfrm>
        </p:grpSpPr>
        <p:sp>
          <p:nvSpPr>
            <p:cNvPr id="7" name="Flèche droite 9">
              <a:extLst>
                <a:ext uri="{FF2B5EF4-FFF2-40B4-BE49-F238E27FC236}">
                  <a16:creationId xmlns:a16="http://schemas.microsoft.com/office/drawing/2014/main" id="{91E4A63B-D547-BA05-B02C-498A5E6AEFF0}"/>
                </a:ext>
              </a:extLst>
            </p:cNvPr>
            <p:cNvSpPr/>
            <p:nvPr/>
          </p:nvSpPr>
          <p:spPr>
            <a:xfrm>
              <a:off x="794363" y="4508461"/>
              <a:ext cx="443086" cy="288032"/>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C00000"/>
                </a:solidFill>
              </a:endParaRPr>
            </a:p>
          </p:txBody>
        </p:sp>
        <p:sp>
          <p:nvSpPr>
            <p:cNvPr id="8" name="Rectangle 10">
              <a:extLst>
                <a:ext uri="{FF2B5EF4-FFF2-40B4-BE49-F238E27FC236}">
                  <a16:creationId xmlns:a16="http://schemas.microsoft.com/office/drawing/2014/main" id="{9DD61513-E8E4-6877-6A76-DBD178A022E9}"/>
                </a:ext>
              </a:extLst>
            </p:cNvPr>
            <p:cNvSpPr/>
            <p:nvPr/>
          </p:nvSpPr>
          <p:spPr>
            <a:xfrm>
              <a:off x="1344245" y="4449580"/>
              <a:ext cx="6309581" cy="469151"/>
            </a:xfrm>
            <a:prstGeom prst="wedgeRectCallout">
              <a:avLst>
                <a:gd name="adj1" fmla="val -49844"/>
                <a:gd name="adj2" fmla="val -16805"/>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dirty="0">
                  <a:solidFill>
                    <a:srgbClr val="232F3F"/>
                  </a:solidFill>
                </a:rPr>
                <a:t>Des itérations courtes avec des objectifs à court terme,</a:t>
              </a:r>
            </a:p>
            <a:p>
              <a:r>
                <a:rPr lang="fr-FR" sz="2000" dirty="0">
                  <a:solidFill>
                    <a:srgbClr val="232F3F"/>
                  </a:solidFill>
                </a:rPr>
                <a:t>feedback immédiat pour </a:t>
              </a:r>
              <a:r>
                <a:rPr lang="fr-FR" sz="2000" dirty="0">
                  <a:solidFill>
                    <a:srgbClr val="BE1218"/>
                  </a:solidFill>
                </a:rPr>
                <a:t>apprendre en marchant</a:t>
              </a:r>
            </a:p>
          </p:txBody>
        </p:sp>
      </p:grpSp>
    </p:spTree>
    <p:extLst>
      <p:ext uri="{BB962C8B-B14F-4D97-AF65-F5344CB8AC3E}">
        <p14:creationId xmlns:p14="http://schemas.microsoft.com/office/powerpoint/2010/main" val="326228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3C5FD9-2EF9-52E1-27EC-392608A1932F}"/>
              </a:ext>
            </a:extLst>
          </p:cNvPr>
          <p:cNvSpPr>
            <a:spLocks noGrp="1"/>
          </p:cNvSpPr>
          <p:nvPr>
            <p:ph type="title"/>
          </p:nvPr>
        </p:nvSpPr>
        <p:spPr/>
        <p:txBody>
          <a:bodyPr/>
          <a:lstStyle/>
          <a:p>
            <a:r>
              <a:rPr lang="fr-FR" dirty="0"/>
              <a:t>	Automatisation des tests</a:t>
            </a:r>
          </a:p>
        </p:txBody>
      </p:sp>
      <p:sp>
        <p:nvSpPr>
          <p:cNvPr id="3" name="Espace réservé du pied de page 2">
            <a:extLst>
              <a:ext uri="{FF2B5EF4-FFF2-40B4-BE49-F238E27FC236}">
                <a16:creationId xmlns:a16="http://schemas.microsoft.com/office/drawing/2014/main" id="{7704EE52-5680-6CA9-88C4-661D04B75ABA}"/>
              </a:ext>
            </a:extLst>
          </p:cNvPr>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a:extLst>
              <a:ext uri="{FF2B5EF4-FFF2-40B4-BE49-F238E27FC236}">
                <a16:creationId xmlns:a16="http://schemas.microsoft.com/office/drawing/2014/main" id="{21B6650C-4C60-0678-65DC-F191AC6C5E07}"/>
              </a:ext>
            </a:extLst>
          </p:cNvPr>
          <p:cNvSpPr>
            <a:spLocks noGrp="1"/>
          </p:cNvSpPr>
          <p:nvPr>
            <p:ph sz="quarter" idx="12"/>
          </p:nvPr>
        </p:nvSpPr>
        <p:spPr>
          <a:xfrm>
            <a:off x="440921" y="1353107"/>
            <a:ext cx="8262158" cy="4752975"/>
          </a:xfrm>
        </p:spPr>
        <p:txBody>
          <a:bodyPr/>
          <a:lstStyle/>
          <a:p>
            <a:r>
              <a:rPr lang="fr-FR" dirty="0"/>
              <a:t>Simplement indispensable !</a:t>
            </a:r>
          </a:p>
        </p:txBody>
      </p:sp>
      <p:pic>
        <p:nvPicPr>
          <p:cNvPr id="76" name="Image 75">
            <a:extLst>
              <a:ext uri="{FF2B5EF4-FFF2-40B4-BE49-F238E27FC236}">
                <a16:creationId xmlns:a16="http://schemas.microsoft.com/office/drawing/2014/main" id="{CC115674-5593-A948-DE37-ED459CA4F240}"/>
              </a:ext>
            </a:extLst>
          </p:cNvPr>
          <p:cNvPicPr>
            <a:picLocks noChangeAspect="1"/>
          </p:cNvPicPr>
          <p:nvPr/>
        </p:nvPicPr>
        <p:blipFill rotWithShape="1">
          <a:blip r:embed="rId3"/>
          <a:srcRect r="1157"/>
          <a:stretch/>
        </p:blipFill>
        <p:spPr>
          <a:xfrm>
            <a:off x="899592" y="2060848"/>
            <a:ext cx="7416824" cy="3782574"/>
          </a:xfrm>
          <a:prstGeom prst="rect">
            <a:avLst/>
          </a:prstGeom>
        </p:spPr>
      </p:pic>
    </p:spTree>
    <p:extLst>
      <p:ext uri="{BB962C8B-B14F-4D97-AF65-F5344CB8AC3E}">
        <p14:creationId xmlns:p14="http://schemas.microsoft.com/office/powerpoint/2010/main" val="40498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A vous de jouer !</a:t>
            </a:r>
          </a:p>
        </p:txBody>
      </p:sp>
      <p:sp>
        <p:nvSpPr>
          <p:cNvPr id="3" name="Espace réservé du pied de page 2"/>
          <p:cNvSpPr>
            <a:spLocks noGrp="1"/>
          </p:cNvSpPr>
          <p:nvPr>
            <p:ph type="ftr" sz="quarter" idx="10"/>
          </p:nvPr>
        </p:nvSpPr>
        <p:spPr/>
        <p:txBody>
          <a:bodyPr/>
          <a:lstStyle/>
          <a:p>
            <a:pPr>
              <a:defRPr/>
            </a:pPr>
            <a:r>
              <a:rPr lang="fr-FR"/>
              <a:t>Introduction à l'agilité</a:t>
            </a:r>
            <a:endParaRPr lang="fr-FR" dirty="0"/>
          </a:p>
        </p:txBody>
      </p:sp>
      <p:sp>
        <p:nvSpPr>
          <p:cNvPr id="5" name="Espace réservé du contenu 4">
            <a:extLst>
              <a:ext uri="{FF2B5EF4-FFF2-40B4-BE49-F238E27FC236}">
                <a16:creationId xmlns:a16="http://schemas.microsoft.com/office/drawing/2014/main" id="{35195BDC-BC91-DC50-3C6C-243236B2815B}"/>
              </a:ext>
            </a:extLst>
          </p:cNvPr>
          <p:cNvSpPr>
            <a:spLocks noGrp="1"/>
          </p:cNvSpPr>
          <p:nvPr>
            <p:ph sz="quarter" idx="12"/>
          </p:nvPr>
        </p:nvSpPr>
        <p:spPr/>
        <p:txBody>
          <a:bodyPr/>
          <a:lstStyle/>
          <a:p>
            <a:r>
              <a:rPr lang="fr-FR" dirty="0"/>
              <a:t>Jeu de la vision</a:t>
            </a:r>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2306616"/>
            <a:ext cx="3080904" cy="2728990"/>
          </a:xfrm>
          <a:prstGeom prst="rect">
            <a:avLst/>
          </a:prstGeom>
        </p:spPr>
      </p:pic>
    </p:spTree>
    <p:extLst>
      <p:ext uri="{BB962C8B-B14F-4D97-AF65-F5344CB8AC3E}">
        <p14:creationId xmlns:p14="http://schemas.microsoft.com/office/powerpoint/2010/main" val="3171061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404461-963D-9FB2-5F3B-ABC5E04933FD}"/>
              </a:ext>
            </a:extLst>
          </p:cNvPr>
          <p:cNvSpPr>
            <a:spLocks noGrp="1"/>
          </p:cNvSpPr>
          <p:nvPr>
            <p:ph type="title"/>
          </p:nvPr>
        </p:nvSpPr>
        <p:spPr/>
        <p:txBody>
          <a:bodyPr/>
          <a:lstStyle/>
          <a:p>
            <a:r>
              <a:rPr lang="fr-FR" dirty="0"/>
              <a:t>	Scrum : l’agilité en pratique</a:t>
            </a:r>
          </a:p>
        </p:txBody>
      </p:sp>
      <p:sp>
        <p:nvSpPr>
          <p:cNvPr id="3" name="Espace réservé du pied de page 2">
            <a:extLst>
              <a:ext uri="{FF2B5EF4-FFF2-40B4-BE49-F238E27FC236}">
                <a16:creationId xmlns:a16="http://schemas.microsoft.com/office/drawing/2014/main" id="{F3ED0AAD-CAF4-25C2-4C0D-979776D4A839}"/>
              </a:ext>
            </a:extLst>
          </p:cNvPr>
          <p:cNvSpPr>
            <a:spLocks noGrp="1"/>
          </p:cNvSpPr>
          <p:nvPr>
            <p:ph type="ftr" sz="quarter" idx="10"/>
          </p:nvPr>
        </p:nvSpPr>
        <p:spPr/>
        <p:txBody>
          <a:bodyPr/>
          <a:lstStyle/>
          <a:p>
            <a:pPr>
              <a:defRPr/>
            </a:pPr>
            <a:r>
              <a:rPr lang="fr-FR"/>
              <a:t>Introduction à l'agilité</a:t>
            </a:r>
            <a:endParaRPr lang="fr-FR" dirty="0"/>
          </a:p>
        </p:txBody>
      </p:sp>
      <p:pic>
        <p:nvPicPr>
          <p:cNvPr id="5" name="Picture 4" descr="Mélée_st_ASM_clermont">
            <a:extLst>
              <a:ext uri="{FF2B5EF4-FFF2-40B4-BE49-F238E27FC236}">
                <a16:creationId xmlns:a16="http://schemas.microsoft.com/office/drawing/2014/main" id="{509EB799-0932-D8D8-EB17-74FE62EBAD40}"/>
              </a:ext>
            </a:extLst>
          </p:cNvPr>
          <p:cNvPicPr>
            <a:picLocks noChangeAspect="1" noChangeArrowheads="1"/>
          </p:cNvPicPr>
          <p:nvPr/>
        </p:nvPicPr>
        <p:blipFill rotWithShape="1">
          <a:blip r:embed="rId3" cstate="print"/>
          <a:srcRect l="6554" r="5869" b="20132"/>
          <a:stretch/>
        </p:blipFill>
        <p:spPr bwMode="auto">
          <a:xfrm>
            <a:off x="395536" y="1152000"/>
            <a:ext cx="8312481" cy="5071497"/>
          </a:xfrm>
          <a:prstGeom prst="rect">
            <a:avLst/>
          </a:prstGeom>
          <a:noFill/>
          <a:ln w="9525">
            <a:noFill/>
            <a:miter lim="800000"/>
            <a:headEnd/>
            <a:tailEnd/>
          </a:ln>
        </p:spPr>
      </p:pic>
    </p:spTree>
    <p:extLst>
      <p:ext uri="{BB962C8B-B14F-4D97-AF65-F5344CB8AC3E}">
        <p14:creationId xmlns:p14="http://schemas.microsoft.com/office/powerpoint/2010/main" val="2280354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DD1FAE-E27C-B289-8F8B-A0A1395B6AC0}"/>
              </a:ext>
            </a:extLst>
          </p:cNvPr>
          <p:cNvSpPr>
            <a:spLocks noGrp="1"/>
          </p:cNvSpPr>
          <p:nvPr>
            <p:ph type="title"/>
          </p:nvPr>
        </p:nvSpPr>
        <p:spPr/>
        <p:txBody>
          <a:bodyPr/>
          <a:lstStyle/>
          <a:p>
            <a:r>
              <a:rPr lang="fr-FR" dirty="0"/>
              <a:t>	Scrum – Le </a:t>
            </a:r>
            <a:r>
              <a:rPr lang="fr-FR" dirty="0" err="1"/>
              <a:t>framework</a:t>
            </a:r>
            <a:endParaRPr lang="fr-FR" dirty="0"/>
          </a:p>
        </p:txBody>
      </p:sp>
      <p:sp>
        <p:nvSpPr>
          <p:cNvPr id="3" name="Espace réservé du pied de page 2">
            <a:extLst>
              <a:ext uri="{FF2B5EF4-FFF2-40B4-BE49-F238E27FC236}">
                <a16:creationId xmlns:a16="http://schemas.microsoft.com/office/drawing/2014/main" id="{0C63A2CB-46FC-51BF-2019-11E1B9A40AAA}"/>
              </a:ext>
            </a:extLst>
          </p:cNvPr>
          <p:cNvSpPr>
            <a:spLocks noGrp="1"/>
          </p:cNvSpPr>
          <p:nvPr>
            <p:ph type="ftr" sz="quarter" idx="10"/>
          </p:nvPr>
        </p:nvSpPr>
        <p:spPr/>
        <p:txBody>
          <a:bodyPr/>
          <a:lstStyle/>
          <a:p>
            <a:pPr>
              <a:defRPr/>
            </a:pPr>
            <a:r>
              <a:rPr lang="fr-FR"/>
              <a:t>Introduction à l'agilité</a:t>
            </a:r>
            <a:endParaRPr lang="fr-FR" dirty="0"/>
          </a:p>
        </p:txBody>
      </p:sp>
      <p:grpSp>
        <p:nvGrpSpPr>
          <p:cNvPr id="56" name="Groupe 55">
            <a:extLst>
              <a:ext uri="{FF2B5EF4-FFF2-40B4-BE49-F238E27FC236}">
                <a16:creationId xmlns:a16="http://schemas.microsoft.com/office/drawing/2014/main" id="{72FE3CD0-74C3-ABDD-83A8-8375525FDE98}"/>
              </a:ext>
            </a:extLst>
          </p:cNvPr>
          <p:cNvGrpSpPr/>
          <p:nvPr/>
        </p:nvGrpSpPr>
        <p:grpSpPr>
          <a:xfrm>
            <a:off x="734701" y="1439849"/>
            <a:ext cx="7674598" cy="4689028"/>
            <a:chOff x="539552" y="1439849"/>
            <a:chExt cx="7674598" cy="4689028"/>
          </a:xfrm>
        </p:grpSpPr>
        <p:sp>
          <p:nvSpPr>
            <p:cNvPr id="5" name="AutoShape 18">
              <a:extLst>
                <a:ext uri="{FF2B5EF4-FFF2-40B4-BE49-F238E27FC236}">
                  <a16:creationId xmlns:a16="http://schemas.microsoft.com/office/drawing/2014/main" id="{27AEBD0B-3E5B-AC6C-B947-83D51D74714B}"/>
                </a:ext>
              </a:extLst>
            </p:cNvPr>
            <p:cNvSpPr>
              <a:spLocks noChangeArrowheads="1"/>
            </p:cNvSpPr>
            <p:nvPr/>
          </p:nvSpPr>
          <p:spPr bwMode="auto">
            <a:xfrm>
              <a:off x="574675" y="3032608"/>
              <a:ext cx="7610475" cy="1473200"/>
            </a:xfrm>
            <a:prstGeom prst="roundRect">
              <a:avLst>
                <a:gd name="adj" fmla="val 16667"/>
              </a:avLst>
            </a:prstGeom>
            <a:noFill/>
            <a:ln w="9525">
              <a:solidFill>
                <a:srgbClr val="232F3F"/>
              </a:solidFill>
              <a:round/>
              <a:headEnd/>
              <a:tailEnd/>
            </a:ln>
          </p:spPr>
          <p:txBody>
            <a:bodyPr wrap="none" anchor="ctr"/>
            <a:lstStyle/>
            <a:p>
              <a:endParaRPr lang="fr-FR" altLang="fr-FR"/>
            </a:p>
          </p:txBody>
        </p:sp>
        <p:sp>
          <p:nvSpPr>
            <p:cNvPr id="6" name="AutoShape 19">
              <a:extLst>
                <a:ext uri="{FF2B5EF4-FFF2-40B4-BE49-F238E27FC236}">
                  <a16:creationId xmlns:a16="http://schemas.microsoft.com/office/drawing/2014/main" id="{64AB02CD-EED7-152D-4411-BA1BBA92E43F}"/>
                </a:ext>
              </a:extLst>
            </p:cNvPr>
            <p:cNvSpPr>
              <a:spLocks noChangeArrowheads="1"/>
            </p:cNvSpPr>
            <p:nvPr/>
          </p:nvSpPr>
          <p:spPr bwMode="auto">
            <a:xfrm>
              <a:off x="574675" y="3032608"/>
              <a:ext cx="815975" cy="1473200"/>
            </a:xfrm>
            <a:prstGeom prst="roundRect">
              <a:avLst>
                <a:gd name="adj" fmla="val 16667"/>
              </a:avLst>
            </a:prstGeom>
            <a:solidFill>
              <a:srgbClr val="232F3F"/>
            </a:solidFill>
            <a:ln w="9525">
              <a:solidFill>
                <a:schemeClr val="tx1"/>
              </a:solidFill>
              <a:round/>
              <a:headEnd/>
              <a:tailEnd/>
            </a:ln>
          </p:spPr>
          <p:txBody>
            <a:bodyPr wrap="none" anchor="ctr"/>
            <a:lstStyle/>
            <a:p>
              <a:endParaRPr lang="fr-FR" altLang="fr-FR"/>
            </a:p>
          </p:txBody>
        </p:sp>
        <p:sp>
          <p:nvSpPr>
            <p:cNvPr id="7" name="Text Box 20">
              <a:extLst>
                <a:ext uri="{FF2B5EF4-FFF2-40B4-BE49-F238E27FC236}">
                  <a16:creationId xmlns:a16="http://schemas.microsoft.com/office/drawing/2014/main" id="{EDD89AC4-FAB0-9C1D-DA07-330EC66F1D10}"/>
                </a:ext>
              </a:extLst>
            </p:cNvPr>
            <p:cNvSpPr txBox="1">
              <a:spLocks noChangeArrowheads="1"/>
            </p:cNvSpPr>
            <p:nvPr/>
          </p:nvSpPr>
          <p:spPr bwMode="auto">
            <a:xfrm rot="16200000">
              <a:off x="484188" y="3521558"/>
              <a:ext cx="1027112" cy="331787"/>
            </a:xfrm>
            <a:prstGeom prst="rect">
              <a:avLst/>
            </a:prstGeom>
            <a:noFill/>
            <a:ln w="9525">
              <a:noFill/>
              <a:miter lim="800000"/>
              <a:headEnd/>
              <a:tailEnd/>
            </a:ln>
          </p:spPr>
          <p:txBody>
            <a:bodyPr wrap="none" lIns="84664" tIns="42332" rIns="84664" bIns="42332">
              <a:spAutoFit/>
            </a:bodyPr>
            <a:lstStyle/>
            <a:p>
              <a:r>
                <a:rPr lang="fr-FR" altLang="fr-FR" sz="1600" b="1" dirty="0">
                  <a:solidFill>
                    <a:schemeClr val="bg1"/>
                  </a:solidFill>
                  <a:latin typeface="Helvetica 55 Roman" pitchFamily="2" charset="0"/>
                </a:rPr>
                <a:t>artéfacts</a:t>
              </a:r>
            </a:p>
          </p:txBody>
        </p:sp>
        <p:grpSp>
          <p:nvGrpSpPr>
            <p:cNvPr id="8" name="Groupe 48">
              <a:extLst>
                <a:ext uri="{FF2B5EF4-FFF2-40B4-BE49-F238E27FC236}">
                  <a16:creationId xmlns:a16="http://schemas.microsoft.com/office/drawing/2014/main" id="{4DB0C625-1937-860F-7102-E4FAB4DCDFA3}"/>
                </a:ext>
              </a:extLst>
            </p:cNvPr>
            <p:cNvGrpSpPr>
              <a:grpSpLocks/>
            </p:cNvGrpSpPr>
            <p:nvPr/>
          </p:nvGrpSpPr>
          <p:grpSpPr bwMode="auto">
            <a:xfrm>
              <a:off x="2028826" y="3237395"/>
              <a:ext cx="716003" cy="1090611"/>
              <a:chOff x="2008483" y="3325851"/>
              <a:chExt cx="715622" cy="1091190"/>
            </a:xfrm>
          </p:grpSpPr>
          <p:pic>
            <p:nvPicPr>
              <p:cNvPr id="9" name="Picture 21" descr="S SIMPLICITY">
                <a:extLst>
                  <a:ext uri="{FF2B5EF4-FFF2-40B4-BE49-F238E27FC236}">
                    <a16:creationId xmlns:a16="http://schemas.microsoft.com/office/drawing/2014/main" id="{030F95DB-A808-A621-6CAC-17B77E2DDC2E}"/>
                  </a:ext>
                </a:extLst>
              </p:cNvPr>
              <p:cNvPicPr>
                <a:picLocks noChangeAspect="1" noChangeArrowheads="1"/>
              </p:cNvPicPr>
              <p:nvPr/>
            </p:nvPicPr>
            <p:blipFill>
              <a:blip r:embed="rId3" cstate="print"/>
              <a:srcRect/>
              <a:stretch>
                <a:fillRect/>
              </a:stretch>
            </p:blipFill>
            <p:spPr bwMode="auto">
              <a:xfrm>
                <a:off x="2024323" y="3325851"/>
                <a:ext cx="682581" cy="832985"/>
              </a:xfrm>
              <a:prstGeom prst="rect">
                <a:avLst/>
              </a:prstGeom>
              <a:noFill/>
              <a:ln w="9525">
                <a:noFill/>
                <a:miter lim="800000"/>
                <a:headEnd/>
                <a:tailEnd/>
              </a:ln>
            </p:spPr>
          </p:pic>
          <p:sp>
            <p:nvSpPr>
              <p:cNvPr id="10" name="Text Box 22">
                <a:extLst>
                  <a:ext uri="{FF2B5EF4-FFF2-40B4-BE49-F238E27FC236}">
                    <a16:creationId xmlns:a16="http://schemas.microsoft.com/office/drawing/2014/main" id="{E1DCBA1C-D924-4EE5-D322-1F37CEB3A415}"/>
                  </a:ext>
                </a:extLst>
              </p:cNvPr>
              <p:cNvSpPr txBox="1">
                <a:spLocks noChangeArrowheads="1"/>
              </p:cNvSpPr>
              <p:nvPr/>
            </p:nvSpPr>
            <p:spPr bwMode="auto">
              <a:xfrm>
                <a:off x="2008483" y="4146741"/>
                <a:ext cx="715622" cy="270300"/>
              </a:xfrm>
              <a:prstGeom prst="rect">
                <a:avLst/>
              </a:prstGeom>
              <a:noFill/>
              <a:ln w="9525">
                <a:noFill/>
                <a:miter lim="800000"/>
                <a:headEnd/>
                <a:tailEnd/>
              </a:ln>
            </p:spPr>
            <p:txBody>
              <a:bodyPr wrap="none" lIns="84664" tIns="42332" rIns="84664" bIns="42332">
                <a:spAutoFit/>
              </a:bodyPr>
              <a:lstStyle/>
              <a:p>
                <a:r>
                  <a:rPr lang="fr-FR" altLang="fr-FR" sz="1200" dirty="0">
                    <a:solidFill>
                      <a:srgbClr val="BE1218"/>
                    </a:solidFill>
                    <a:latin typeface="Helvetica 55 Roman" pitchFamily="2" charset="0"/>
                  </a:rPr>
                  <a:t>Backlog</a:t>
                </a:r>
              </a:p>
            </p:txBody>
          </p:sp>
        </p:grpSp>
        <p:grpSp>
          <p:nvGrpSpPr>
            <p:cNvPr id="11" name="Groupe 49">
              <a:extLst>
                <a:ext uri="{FF2B5EF4-FFF2-40B4-BE49-F238E27FC236}">
                  <a16:creationId xmlns:a16="http://schemas.microsoft.com/office/drawing/2014/main" id="{ADD6AAB3-D853-55A7-BE24-F0CA158A488D}"/>
                </a:ext>
              </a:extLst>
            </p:cNvPr>
            <p:cNvGrpSpPr>
              <a:grpSpLocks/>
            </p:cNvGrpSpPr>
            <p:nvPr/>
          </p:nvGrpSpPr>
          <p:grpSpPr bwMode="auto">
            <a:xfrm>
              <a:off x="3417887" y="3237396"/>
              <a:ext cx="1600200" cy="1127064"/>
              <a:chOff x="3396686" y="3325851"/>
              <a:chExt cx="1601329" cy="1127414"/>
            </a:xfrm>
          </p:grpSpPr>
          <p:sp>
            <p:nvSpPr>
              <p:cNvPr id="12" name="Text Box 23">
                <a:extLst>
                  <a:ext uri="{FF2B5EF4-FFF2-40B4-BE49-F238E27FC236}">
                    <a16:creationId xmlns:a16="http://schemas.microsoft.com/office/drawing/2014/main" id="{0EA38F00-D660-C4DD-ECDE-852B6AF2E752}"/>
                  </a:ext>
                </a:extLst>
              </p:cNvPr>
              <p:cNvSpPr txBox="1">
                <a:spLocks noChangeArrowheads="1"/>
              </p:cNvSpPr>
              <p:nvPr/>
            </p:nvSpPr>
            <p:spPr bwMode="auto">
              <a:xfrm>
                <a:off x="3690455" y="4183024"/>
                <a:ext cx="1245872" cy="270241"/>
              </a:xfrm>
              <a:prstGeom prst="rect">
                <a:avLst/>
              </a:prstGeom>
              <a:noFill/>
              <a:ln w="9525">
                <a:noFill/>
                <a:miter lim="800000"/>
                <a:headEnd/>
                <a:tailEnd/>
              </a:ln>
            </p:spPr>
            <p:txBody>
              <a:bodyPr wrap="none" lIns="84664" tIns="42332" rIns="84664" bIns="42332">
                <a:spAutoFit/>
              </a:bodyPr>
              <a:lstStyle/>
              <a:p>
                <a:r>
                  <a:rPr lang="fr-FR" altLang="fr-FR" sz="1200" dirty="0" err="1">
                    <a:solidFill>
                      <a:srgbClr val="BE1218"/>
                    </a:solidFill>
                    <a:latin typeface="Helvetica 55 Roman" pitchFamily="2" charset="0"/>
                  </a:rPr>
                  <a:t>Burndown</a:t>
                </a:r>
                <a:r>
                  <a:rPr lang="fr-FR" altLang="fr-FR" sz="1200" dirty="0">
                    <a:solidFill>
                      <a:srgbClr val="BE1218"/>
                    </a:solidFill>
                    <a:latin typeface="Helvetica 55 Roman" pitchFamily="2" charset="0"/>
                  </a:rPr>
                  <a:t> chart</a:t>
                </a:r>
              </a:p>
            </p:txBody>
          </p:sp>
          <p:pic>
            <p:nvPicPr>
              <p:cNvPr id="13" name="Picture 26">
                <a:extLst>
                  <a:ext uri="{FF2B5EF4-FFF2-40B4-BE49-F238E27FC236}">
                    <a16:creationId xmlns:a16="http://schemas.microsoft.com/office/drawing/2014/main" id="{61DF52E1-1315-357E-A46A-5B557D77EB9A}"/>
                  </a:ext>
                </a:extLst>
              </p:cNvPr>
              <p:cNvPicPr>
                <a:picLocks noChangeAspect="1" noChangeArrowheads="1"/>
              </p:cNvPicPr>
              <p:nvPr/>
            </p:nvPicPr>
            <p:blipFill>
              <a:blip r:embed="rId4" cstate="print"/>
              <a:srcRect/>
              <a:stretch>
                <a:fillRect/>
              </a:stretch>
            </p:blipFill>
            <p:spPr bwMode="auto">
              <a:xfrm>
                <a:off x="3396686" y="3325851"/>
                <a:ext cx="1601329" cy="789143"/>
              </a:xfrm>
              <a:prstGeom prst="rect">
                <a:avLst/>
              </a:prstGeom>
              <a:noFill/>
              <a:ln w="9525">
                <a:noFill/>
                <a:miter lim="800000"/>
                <a:headEnd/>
                <a:tailEnd/>
              </a:ln>
            </p:spPr>
          </p:pic>
        </p:grpSp>
        <p:grpSp>
          <p:nvGrpSpPr>
            <p:cNvPr id="14" name="Groupe 50">
              <a:extLst>
                <a:ext uri="{FF2B5EF4-FFF2-40B4-BE49-F238E27FC236}">
                  <a16:creationId xmlns:a16="http://schemas.microsoft.com/office/drawing/2014/main" id="{93C0A8BF-1282-441C-7178-434C815A7A5B}"/>
                </a:ext>
              </a:extLst>
            </p:cNvPr>
            <p:cNvGrpSpPr>
              <a:grpSpLocks/>
            </p:cNvGrpSpPr>
            <p:nvPr/>
          </p:nvGrpSpPr>
          <p:grpSpPr bwMode="auto">
            <a:xfrm>
              <a:off x="5572128" y="3510445"/>
              <a:ext cx="666757" cy="853854"/>
              <a:chOff x="5550992" y="3599481"/>
              <a:chExt cx="667797" cy="853628"/>
            </a:xfrm>
          </p:grpSpPr>
          <p:sp>
            <p:nvSpPr>
              <p:cNvPr id="15" name="Text Box 24">
                <a:extLst>
                  <a:ext uri="{FF2B5EF4-FFF2-40B4-BE49-F238E27FC236}">
                    <a16:creationId xmlns:a16="http://schemas.microsoft.com/office/drawing/2014/main" id="{D6D53714-89FF-0BB8-DEF9-95D66C2B03EF}"/>
                  </a:ext>
                </a:extLst>
              </p:cNvPr>
              <p:cNvSpPr txBox="1">
                <a:spLocks noChangeArrowheads="1"/>
              </p:cNvSpPr>
              <p:nvPr/>
            </p:nvSpPr>
            <p:spPr bwMode="auto">
              <a:xfrm>
                <a:off x="5561072" y="4183024"/>
                <a:ext cx="657717" cy="270085"/>
              </a:xfrm>
              <a:prstGeom prst="rect">
                <a:avLst/>
              </a:prstGeom>
              <a:noFill/>
              <a:ln w="9525">
                <a:noFill/>
                <a:miter lim="800000"/>
                <a:headEnd/>
                <a:tailEnd/>
              </a:ln>
            </p:spPr>
            <p:txBody>
              <a:bodyPr wrap="none" lIns="84664" tIns="42332" rIns="84664" bIns="42332">
                <a:spAutoFit/>
              </a:bodyPr>
              <a:lstStyle/>
              <a:p>
                <a:r>
                  <a:rPr lang="fr-FR" altLang="fr-FR" sz="1200" dirty="0">
                    <a:solidFill>
                      <a:srgbClr val="BE1218"/>
                    </a:solidFill>
                    <a:latin typeface="Helvetica 55 Roman" pitchFamily="2" charset="0"/>
                  </a:rPr>
                  <a:t>Produit</a:t>
                </a:r>
              </a:p>
            </p:txBody>
          </p:sp>
          <p:pic>
            <p:nvPicPr>
              <p:cNvPr id="16" name="Picture 27" descr="C PACKET SWITCH">
                <a:extLst>
                  <a:ext uri="{FF2B5EF4-FFF2-40B4-BE49-F238E27FC236}">
                    <a16:creationId xmlns:a16="http://schemas.microsoft.com/office/drawing/2014/main" id="{D65594D6-6F6C-DD77-577B-37D3026C61C9}"/>
                  </a:ext>
                </a:extLst>
              </p:cNvPr>
              <p:cNvPicPr>
                <a:picLocks noChangeAspect="1" noChangeArrowheads="1"/>
              </p:cNvPicPr>
              <p:nvPr/>
            </p:nvPicPr>
            <p:blipFill>
              <a:blip r:embed="rId5" cstate="print"/>
              <a:srcRect/>
              <a:stretch>
                <a:fillRect/>
              </a:stretch>
            </p:blipFill>
            <p:spPr bwMode="auto">
              <a:xfrm>
                <a:off x="5550992" y="3599481"/>
                <a:ext cx="626419" cy="520048"/>
              </a:xfrm>
              <a:prstGeom prst="rect">
                <a:avLst/>
              </a:prstGeom>
              <a:noFill/>
              <a:ln w="9525">
                <a:noFill/>
                <a:miter lim="800000"/>
                <a:headEnd/>
                <a:tailEnd/>
              </a:ln>
            </p:spPr>
          </p:pic>
        </p:grpSp>
        <p:grpSp>
          <p:nvGrpSpPr>
            <p:cNvPr id="17" name="Groupe 51">
              <a:extLst>
                <a:ext uri="{FF2B5EF4-FFF2-40B4-BE49-F238E27FC236}">
                  <a16:creationId xmlns:a16="http://schemas.microsoft.com/office/drawing/2014/main" id="{D7F18EED-2924-B221-BC9C-AF2F2A487C94}"/>
                </a:ext>
              </a:extLst>
            </p:cNvPr>
            <p:cNvGrpSpPr>
              <a:grpSpLocks/>
            </p:cNvGrpSpPr>
            <p:nvPr/>
          </p:nvGrpSpPr>
          <p:grpSpPr bwMode="auto">
            <a:xfrm>
              <a:off x="6777037" y="3204058"/>
              <a:ext cx="1058863" cy="1193800"/>
              <a:chOff x="6756164" y="3292014"/>
              <a:chExt cx="1058433" cy="1194297"/>
            </a:xfrm>
          </p:grpSpPr>
          <p:sp>
            <p:nvSpPr>
              <p:cNvPr id="18" name="Text Box 25">
                <a:extLst>
                  <a:ext uri="{FF2B5EF4-FFF2-40B4-BE49-F238E27FC236}">
                    <a16:creationId xmlns:a16="http://schemas.microsoft.com/office/drawing/2014/main" id="{D4EFA072-1C8F-627A-ACD6-945E6596A327}"/>
                  </a:ext>
                </a:extLst>
              </p:cNvPr>
              <p:cNvSpPr txBox="1">
                <a:spLocks noChangeArrowheads="1"/>
              </p:cNvSpPr>
              <p:nvPr/>
            </p:nvSpPr>
            <p:spPr bwMode="auto">
              <a:xfrm>
                <a:off x="6756164" y="4217216"/>
                <a:ext cx="1058433" cy="269095"/>
              </a:xfrm>
              <a:prstGeom prst="rect">
                <a:avLst/>
              </a:prstGeom>
              <a:solidFill>
                <a:schemeClr val="bg1"/>
              </a:solidFill>
              <a:ln w="9525">
                <a:noFill/>
                <a:miter lim="800000"/>
                <a:headEnd/>
                <a:tailEnd/>
              </a:ln>
            </p:spPr>
            <p:txBody>
              <a:bodyPr wrap="none" lIns="84664" tIns="42332" rIns="84664" bIns="42332">
                <a:spAutoFit/>
              </a:bodyPr>
              <a:lstStyle/>
              <a:p>
                <a:r>
                  <a:rPr lang="fr-FR" altLang="fr-FR" sz="1200" dirty="0">
                    <a:solidFill>
                      <a:srgbClr val="BE1218"/>
                    </a:solidFill>
                    <a:latin typeface="Helvetica 55 Roman" pitchFamily="2" charset="0"/>
                  </a:rPr>
                  <a:t>Scrum </a:t>
                </a:r>
                <a:r>
                  <a:rPr lang="fr-FR" altLang="fr-FR" sz="1200" dirty="0" err="1">
                    <a:solidFill>
                      <a:srgbClr val="BE1218"/>
                    </a:solidFill>
                    <a:latin typeface="Helvetica 55 Roman" pitchFamily="2" charset="0"/>
                  </a:rPr>
                  <a:t>board</a:t>
                </a:r>
                <a:endParaRPr lang="fr-FR" altLang="fr-FR" sz="1200" dirty="0">
                  <a:solidFill>
                    <a:srgbClr val="BE1218"/>
                  </a:solidFill>
                  <a:latin typeface="Helvetica 55 Roman" pitchFamily="2" charset="0"/>
                </a:endParaRPr>
              </a:p>
            </p:txBody>
          </p:sp>
          <p:pic>
            <p:nvPicPr>
              <p:cNvPr id="19" name="Picture 28" descr="P BOARD">
                <a:extLst>
                  <a:ext uri="{FF2B5EF4-FFF2-40B4-BE49-F238E27FC236}">
                    <a16:creationId xmlns:a16="http://schemas.microsoft.com/office/drawing/2014/main" id="{BA7C1F75-A800-D5C9-ADD6-5348B02E3041}"/>
                  </a:ext>
                </a:extLst>
              </p:cNvPr>
              <p:cNvPicPr>
                <a:picLocks noChangeAspect="1" noChangeArrowheads="1"/>
              </p:cNvPicPr>
              <p:nvPr/>
            </p:nvPicPr>
            <p:blipFill>
              <a:blip r:embed="rId6" cstate="print"/>
              <a:srcRect/>
              <a:stretch>
                <a:fillRect/>
              </a:stretch>
            </p:blipFill>
            <p:spPr bwMode="auto">
              <a:xfrm>
                <a:off x="6985131" y="3292014"/>
                <a:ext cx="518416" cy="904038"/>
              </a:xfrm>
              <a:prstGeom prst="rect">
                <a:avLst/>
              </a:prstGeom>
              <a:noFill/>
              <a:ln w="9525">
                <a:noFill/>
                <a:miter lim="800000"/>
                <a:headEnd/>
                <a:tailEnd/>
              </a:ln>
            </p:spPr>
          </p:pic>
        </p:grpSp>
        <p:sp>
          <p:nvSpPr>
            <p:cNvPr id="20" name="AutoShape 16">
              <a:extLst>
                <a:ext uri="{FF2B5EF4-FFF2-40B4-BE49-F238E27FC236}">
                  <a16:creationId xmlns:a16="http://schemas.microsoft.com/office/drawing/2014/main" id="{AE11CECC-D66B-148D-ABAD-2647D7BF2562}"/>
                </a:ext>
              </a:extLst>
            </p:cNvPr>
            <p:cNvSpPr>
              <a:spLocks noChangeArrowheads="1"/>
            </p:cNvSpPr>
            <p:nvPr/>
          </p:nvSpPr>
          <p:spPr bwMode="auto">
            <a:xfrm>
              <a:off x="608012" y="4657265"/>
              <a:ext cx="7577138" cy="1471612"/>
            </a:xfrm>
            <a:prstGeom prst="roundRect">
              <a:avLst>
                <a:gd name="adj" fmla="val 16667"/>
              </a:avLst>
            </a:prstGeom>
            <a:noFill/>
            <a:ln w="9525">
              <a:solidFill>
                <a:srgbClr val="232F3F"/>
              </a:solidFill>
              <a:round/>
              <a:headEnd/>
              <a:tailEnd/>
            </a:ln>
          </p:spPr>
          <p:txBody>
            <a:bodyPr wrap="none" anchor="ctr"/>
            <a:lstStyle/>
            <a:p>
              <a:endParaRPr lang="fr-FR" altLang="fr-FR"/>
            </a:p>
          </p:txBody>
        </p:sp>
        <p:sp>
          <p:nvSpPr>
            <p:cNvPr id="21" name="AutoShape 31">
              <a:extLst>
                <a:ext uri="{FF2B5EF4-FFF2-40B4-BE49-F238E27FC236}">
                  <a16:creationId xmlns:a16="http://schemas.microsoft.com/office/drawing/2014/main" id="{6DD77F26-E2EB-709A-83BA-7F3DEB0CA96D}"/>
                </a:ext>
              </a:extLst>
            </p:cNvPr>
            <p:cNvSpPr>
              <a:spLocks noChangeArrowheads="1"/>
            </p:cNvSpPr>
            <p:nvPr/>
          </p:nvSpPr>
          <p:spPr bwMode="auto">
            <a:xfrm>
              <a:off x="608012" y="4657265"/>
              <a:ext cx="815975" cy="1471612"/>
            </a:xfrm>
            <a:prstGeom prst="roundRect">
              <a:avLst>
                <a:gd name="adj" fmla="val 16667"/>
              </a:avLst>
            </a:prstGeom>
            <a:solidFill>
              <a:srgbClr val="232F3F"/>
            </a:solidFill>
            <a:ln w="9525">
              <a:solidFill>
                <a:schemeClr val="tx1"/>
              </a:solidFill>
              <a:round/>
              <a:headEnd/>
              <a:tailEnd/>
            </a:ln>
          </p:spPr>
          <p:txBody>
            <a:bodyPr wrap="none" anchor="ctr"/>
            <a:lstStyle/>
            <a:p>
              <a:endParaRPr lang="fr-FR" altLang="fr-FR"/>
            </a:p>
          </p:txBody>
        </p:sp>
        <p:sp>
          <p:nvSpPr>
            <p:cNvPr id="22" name="Text Box 38">
              <a:extLst>
                <a:ext uri="{FF2B5EF4-FFF2-40B4-BE49-F238E27FC236}">
                  <a16:creationId xmlns:a16="http://schemas.microsoft.com/office/drawing/2014/main" id="{0975646E-45D9-468D-81D8-DDABA10B3C89}"/>
                </a:ext>
              </a:extLst>
            </p:cNvPr>
            <p:cNvSpPr txBox="1">
              <a:spLocks noChangeArrowheads="1"/>
            </p:cNvSpPr>
            <p:nvPr/>
          </p:nvSpPr>
          <p:spPr bwMode="auto">
            <a:xfrm rot="16200000">
              <a:off x="403224" y="5257340"/>
              <a:ext cx="1304925" cy="330200"/>
            </a:xfrm>
            <a:prstGeom prst="rect">
              <a:avLst/>
            </a:prstGeom>
            <a:noFill/>
            <a:ln w="9525">
              <a:noFill/>
              <a:miter lim="800000"/>
              <a:headEnd/>
              <a:tailEnd/>
            </a:ln>
          </p:spPr>
          <p:txBody>
            <a:bodyPr wrap="none" lIns="84664" tIns="42332" rIns="84664" bIns="42332">
              <a:spAutoFit/>
            </a:bodyPr>
            <a:lstStyle/>
            <a:p>
              <a:r>
                <a:rPr lang="fr-FR" altLang="fr-FR" sz="1600" b="1" dirty="0">
                  <a:solidFill>
                    <a:schemeClr val="bg1"/>
                  </a:solidFill>
                  <a:latin typeface="Helvetica 55 Roman" pitchFamily="2" charset="0"/>
                </a:rPr>
                <a:t>cérémonies</a:t>
              </a:r>
            </a:p>
          </p:txBody>
        </p:sp>
        <p:grpSp>
          <p:nvGrpSpPr>
            <p:cNvPr id="23" name="Groupe 53">
              <a:extLst>
                <a:ext uri="{FF2B5EF4-FFF2-40B4-BE49-F238E27FC236}">
                  <a16:creationId xmlns:a16="http://schemas.microsoft.com/office/drawing/2014/main" id="{62EE1527-27AC-FF23-CB57-F4DA1E0BC65C}"/>
                </a:ext>
              </a:extLst>
            </p:cNvPr>
            <p:cNvGrpSpPr>
              <a:grpSpLocks/>
            </p:cNvGrpSpPr>
            <p:nvPr/>
          </p:nvGrpSpPr>
          <p:grpSpPr bwMode="auto">
            <a:xfrm>
              <a:off x="5312044" y="4827127"/>
              <a:ext cx="1244994" cy="1170270"/>
              <a:chOff x="5104082" y="5073650"/>
              <a:chExt cx="1244994" cy="1170270"/>
            </a:xfrm>
          </p:grpSpPr>
          <p:sp>
            <p:nvSpPr>
              <p:cNvPr id="24" name="Text Box 36">
                <a:extLst>
                  <a:ext uri="{FF2B5EF4-FFF2-40B4-BE49-F238E27FC236}">
                    <a16:creationId xmlns:a16="http://schemas.microsoft.com/office/drawing/2014/main" id="{193D12A3-878E-B800-873E-3DE8A3FAA185}"/>
                  </a:ext>
                </a:extLst>
              </p:cNvPr>
              <p:cNvSpPr txBox="1">
                <a:spLocks noChangeArrowheads="1"/>
              </p:cNvSpPr>
              <p:nvPr/>
            </p:nvSpPr>
            <p:spPr bwMode="auto">
              <a:xfrm>
                <a:off x="5104082" y="5973763"/>
                <a:ext cx="1244994" cy="270157"/>
              </a:xfrm>
              <a:prstGeom prst="rect">
                <a:avLst/>
              </a:prstGeom>
              <a:noFill/>
              <a:ln w="9525">
                <a:noFill/>
                <a:miter lim="800000"/>
                <a:headEnd/>
                <a:tailEnd/>
              </a:ln>
            </p:spPr>
            <p:txBody>
              <a:bodyPr wrap="none" lIns="84664" tIns="42332" rIns="84664" bIns="42332">
                <a:spAutoFit/>
              </a:bodyPr>
              <a:lstStyle/>
              <a:p>
                <a:r>
                  <a:rPr lang="fr-FR" altLang="fr-FR" sz="1200" dirty="0">
                    <a:solidFill>
                      <a:srgbClr val="BE1218"/>
                    </a:solidFill>
                    <a:latin typeface="Helvetica 55 Roman" pitchFamily="2" charset="0"/>
                  </a:rPr>
                  <a:t>Revue de sprint</a:t>
                </a:r>
              </a:p>
            </p:txBody>
          </p:sp>
          <p:pic>
            <p:nvPicPr>
              <p:cNvPr id="25" name="Picture 39" descr="D ONROAD SOLUTIONS">
                <a:extLst>
                  <a:ext uri="{FF2B5EF4-FFF2-40B4-BE49-F238E27FC236}">
                    <a16:creationId xmlns:a16="http://schemas.microsoft.com/office/drawing/2014/main" id="{766C28AE-5A45-C553-11D0-1EAF0ACEE5AF}"/>
                  </a:ext>
                </a:extLst>
              </p:cNvPr>
              <p:cNvPicPr>
                <a:picLocks noChangeAspect="1" noChangeArrowheads="1"/>
              </p:cNvPicPr>
              <p:nvPr/>
            </p:nvPicPr>
            <p:blipFill>
              <a:blip r:embed="rId7" cstate="print"/>
              <a:srcRect/>
              <a:stretch>
                <a:fillRect/>
              </a:stretch>
            </p:blipFill>
            <p:spPr bwMode="auto">
              <a:xfrm>
                <a:off x="5376863" y="5073650"/>
                <a:ext cx="657225" cy="854075"/>
              </a:xfrm>
              <a:prstGeom prst="rect">
                <a:avLst/>
              </a:prstGeom>
              <a:noFill/>
              <a:ln w="9525">
                <a:noFill/>
                <a:miter lim="800000"/>
                <a:headEnd/>
                <a:tailEnd/>
              </a:ln>
            </p:spPr>
          </p:pic>
        </p:grpSp>
        <p:grpSp>
          <p:nvGrpSpPr>
            <p:cNvPr id="26" name="Groupe 55">
              <a:extLst>
                <a:ext uri="{FF2B5EF4-FFF2-40B4-BE49-F238E27FC236}">
                  <a16:creationId xmlns:a16="http://schemas.microsoft.com/office/drawing/2014/main" id="{D22DAE23-8D47-0D50-1612-A92FAFECEB9D}"/>
                </a:ext>
              </a:extLst>
            </p:cNvPr>
            <p:cNvGrpSpPr>
              <a:grpSpLocks/>
            </p:cNvGrpSpPr>
            <p:nvPr/>
          </p:nvGrpSpPr>
          <p:grpSpPr bwMode="auto">
            <a:xfrm>
              <a:off x="1750218" y="4769977"/>
              <a:ext cx="1628112" cy="1294095"/>
              <a:chOff x="2243138" y="5006975"/>
              <a:chExt cx="1628112" cy="1294095"/>
            </a:xfrm>
          </p:grpSpPr>
          <p:sp>
            <p:nvSpPr>
              <p:cNvPr id="27" name="Text Box 35">
                <a:extLst>
                  <a:ext uri="{FF2B5EF4-FFF2-40B4-BE49-F238E27FC236}">
                    <a16:creationId xmlns:a16="http://schemas.microsoft.com/office/drawing/2014/main" id="{227A1D03-90C5-CD3E-E17E-B47BBD5197D8}"/>
                  </a:ext>
                </a:extLst>
              </p:cNvPr>
              <p:cNvSpPr txBox="1">
                <a:spLocks noChangeArrowheads="1"/>
              </p:cNvSpPr>
              <p:nvPr/>
            </p:nvSpPr>
            <p:spPr bwMode="auto">
              <a:xfrm>
                <a:off x="2243138" y="6030913"/>
                <a:ext cx="1628112" cy="270157"/>
              </a:xfrm>
              <a:prstGeom prst="rect">
                <a:avLst/>
              </a:prstGeom>
              <a:noFill/>
              <a:ln w="9525">
                <a:noFill/>
                <a:miter lim="800000"/>
                <a:headEnd/>
                <a:tailEnd/>
              </a:ln>
            </p:spPr>
            <p:txBody>
              <a:bodyPr wrap="none" lIns="84664" tIns="42332" rIns="84664" bIns="42332">
                <a:spAutoFit/>
              </a:bodyPr>
              <a:lstStyle/>
              <a:p>
                <a:r>
                  <a:rPr lang="fr-FR" altLang="fr-FR" sz="1200" dirty="0">
                    <a:solidFill>
                      <a:srgbClr val="BE1218"/>
                    </a:solidFill>
                    <a:latin typeface="Helvetica 55 Roman" pitchFamily="2" charset="0"/>
                  </a:rPr>
                  <a:t>Planification de sprint</a:t>
                </a:r>
              </a:p>
            </p:txBody>
          </p:sp>
          <p:pic>
            <p:nvPicPr>
              <p:cNvPr id="28" name="Picture 40" descr="S FILTERING">
                <a:extLst>
                  <a:ext uri="{FF2B5EF4-FFF2-40B4-BE49-F238E27FC236}">
                    <a16:creationId xmlns:a16="http://schemas.microsoft.com/office/drawing/2014/main" id="{CE4CAA98-BB1D-0EEF-6B7F-64C58B454B57}"/>
                  </a:ext>
                </a:extLst>
              </p:cNvPr>
              <p:cNvPicPr>
                <a:picLocks noChangeAspect="1" noChangeArrowheads="1"/>
              </p:cNvPicPr>
              <p:nvPr/>
            </p:nvPicPr>
            <p:blipFill>
              <a:blip r:embed="rId8" cstate="print"/>
              <a:srcRect/>
              <a:stretch>
                <a:fillRect/>
              </a:stretch>
            </p:blipFill>
            <p:spPr bwMode="auto">
              <a:xfrm>
                <a:off x="2563813" y="5006975"/>
                <a:ext cx="723900" cy="957263"/>
              </a:xfrm>
              <a:prstGeom prst="rect">
                <a:avLst/>
              </a:prstGeom>
              <a:noFill/>
              <a:ln w="9525">
                <a:noFill/>
                <a:miter lim="800000"/>
                <a:headEnd/>
                <a:tailEnd/>
              </a:ln>
            </p:spPr>
          </p:pic>
        </p:grpSp>
        <p:grpSp>
          <p:nvGrpSpPr>
            <p:cNvPr id="29" name="Groupe 52">
              <a:extLst>
                <a:ext uri="{FF2B5EF4-FFF2-40B4-BE49-F238E27FC236}">
                  <a16:creationId xmlns:a16="http://schemas.microsoft.com/office/drawing/2014/main" id="{F8CCF32B-C536-EB1A-FAAE-7629A74A879F}"/>
                </a:ext>
              </a:extLst>
            </p:cNvPr>
            <p:cNvGrpSpPr>
              <a:grpSpLocks/>
            </p:cNvGrpSpPr>
            <p:nvPr/>
          </p:nvGrpSpPr>
          <p:grpSpPr bwMode="auto">
            <a:xfrm>
              <a:off x="6880218" y="4792202"/>
              <a:ext cx="1108739" cy="1196726"/>
              <a:chOff x="6672256" y="5038725"/>
              <a:chExt cx="1108739" cy="1196726"/>
            </a:xfrm>
          </p:grpSpPr>
          <p:sp>
            <p:nvSpPr>
              <p:cNvPr id="30" name="Text Box 34">
                <a:extLst>
                  <a:ext uri="{FF2B5EF4-FFF2-40B4-BE49-F238E27FC236}">
                    <a16:creationId xmlns:a16="http://schemas.microsoft.com/office/drawing/2014/main" id="{C4643A49-DE2B-3E5C-446B-E8D1F557CE74}"/>
                  </a:ext>
                </a:extLst>
              </p:cNvPr>
              <p:cNvSpPr txBox="1">
                <a:spLocks noChangeArrowheads="1"/>
              </p:cNvSpPr>
              <p:nvPr/>
            </p:nvSpPr>
            <p:spPr bwMode="auto">
              <a:xfrm>
                <a:off x="6672256" y="5965294"/>
                <a:ext cx="1108739" cy="270157"/>
              </a:xfrm>
              <a:prstGeom prst="rect">
                <a:avLst/>
              </a:prstGeom>
              <a:noFill/>
              <a:ln w="9525">
                <a:noFill/>
                <a:miter lim="800000"/>
                <a:headEnd/>
                <a:tailEnd/>
              </a:ln>
            </p:spPr>
            <p:txBody>
              <a:bodyPr wrap="none" lIns="84664" tIns="42332" rIns="84664" bIns="42332">
                <a:spAutoFit/>
              </a:bodyPr>
              <a:lstStyle/>
              <a:p>
                <a:r>
                  <a:rPr lang="fr-FR" altLang="fr-FR" sz="1200" dirty="0">
                    <a:solidFill>
                      <a:srgbClr val="BE1218"/>
                    </a:solidFill>
                    <a:latin typeface="Helvetica 55 Roman" pitchFamily="2" charset="0"/>
                  </a:rPr>
                  <a:t>Rétrospective</a:t>
                </a:r>
              </a:p>
            </p:txBody>
          </p:sp>
          <p:pic>
            <p:nvPicPr>
              <p:cNvPr id="31" name="Picture 41" descr="S COST CONTR">
                <a:extLst>
                  <a:ext uri="{FF2B5EF4-FFF2-40B4-BE49-F238E27FC236}">
                    <a16:creationId xmlns:a16="http://schemas.microsoft.com/office/drawing/2014/main" id="{4EB21956-DBAD-7A22-2B44-28AEE61322FD}"/>
                  </a:ext>
                </a:extLst>
              </p:cNvPr>
              <p:cNvPicPr>
                <a:picLocks noChangeAspect="1" noChangeArrowheads="1"/>
              </p:cNvPicPr>
              <p:nvPr/>
            </p:nvPicPr>
            <p:blipFill>
              <a:blip r:embed="rId9" cstate="print"/>
              <a:srcRect/>
              <a:stretch>
                <a:fillRect/>
              </a:stretch>
            </p:blipFill>
            <p:spPr bwMode="auto">
              <a:xfrm>
                <a:off x="6699250" y="5038725"/>
                <a:ext cx="881063" cy="836613"/>
              </a:xfrm>
              <a:prstGeom prst="rect">
                <a:avLst/>
              </a:prstGeom>
              <a:noFill/>
              <a:ln w="9525">
                <a:noFill/>
                <a:miter lim="800000"/>
                <a:headEnd/>
                <a:tailEnd/>
              </a:ln>
            </p:spPr>
          </p:pic>
        </p:grpSp>
        <p:grpSp>
          <p:nvGrpSpPr>
            <p:cNvPr id="32" name="Groupe 54">
              <a:extLst>
                <a:ext uri="{FF2B5EF4-FFF2-40B4-BE49-F238E27FC236}">
                  <a16:creationId xmlns:a16="http://schemas.microsoft.com/office/drawing/2014/main" id="{EA9F9B3A-E4EB-BD76-349A-E75881C40AD7}"/>
                </a:ext>
              </a:extLst>
            </p:cNvPr>
            <p:cNvGrpSpPr>
              <a:grpSpLocks/>
            </p:cNvGrpSpPr>
            <p:nvPr/>
          </p:nvGrpSpPr>
          <p:grpSpPr bwMode="auto">
            <a:xfrm>
              <a:off x="3893344" y="4918972"/>
              <a:ext cx="998131" cy="1108034"/>
              <a:chOff x="3861591" y="5176838"/>
              <a:chExt cx="997459" cy="1108351"/>
            </a:xfrm>
          </p:grpSpPr>
          <p:sp>
            <p:nvSpPr>
              <p:cNvPr id="33" name="Text Box 37">
                <a:extLst>
                  <a:ext uri="{FF2B5EF4-FFF2-40B4-BE49-F238E27FC236}">
                    <a16:creationId xmlns:a16="http://schemas.microsoft.com/office/drawing/2014/main" id="{DFD8BE9E-8E26-C914-05AA-5680776F8B10}"/>
                  </a:ext>
                </a:extLst>
              </p:cNvPr>
              <p:cNvSpPr txBox="1">
                <a:spLocks noChangeArrowheads="1"/>
              </p:cNvSpPr>
              <p:nvPr/>
            </p:nvSpPr>
            <p:spPr bwMode="auto">
              <a:xfrm>
                <a:off x="3861591" y="6014955"/>
                <a:ext cx="997459" cy="270234"/>
              </a:xfrm>
              <a:prstGeom prst="rect">
                <a:avLst/>
              </a:prstGeom>
              <a:noFill/>
              <a:ln w="9525">
                <a:noFill/>
                <a:miter lim="800000"/>
                <a:headEnd/>
                <a:tailEnd/>
              </a:ln>
            </p:spPr>
            <p:txBody>
              <a:bodyPr wrap="none" lIns="84664" tIns="42332" rIns="84664" bIns="42332">
                <a:spAutoFit/>
              </a:bodyPr>
              <a:lstStyle/>
              <a:p>
                <a:r>
                  <a:rPr lang="fr-FR" altLang="fr-FR" sz="1200" dirty="0">
                    <a:solidFill>
                      <a:srgbClr val="BE1218"/>
                    </a:solidFill>
                    <a:latin typeface="Helvetica 55 Roman" pitchFamily="2" charset="0"/>
                  </a:rPr>
                  <a:t>Daily Scrum</a:t>
                </a:r>
              </a:p>
            </p:txBody>
          </p:sp>
          <p:pic>
            <p:nvPicPr>
              <p:cNvPr id="34" name="Picture 42" descr="S PROXY">
                <a:extLst>
                  <a:ext uri="{FF2B5EF4-FFF2-40B4-BE49-F238E27FC236}">
                    <a16:creationId xmlns:a16="http://schemas.microsoft.com/office/drawing/2014/main" id="{8443CD77-0B69-F638-6D3C-2EB6E7624FF2}"/>
                  </a:ext>
                </a:extLst>
              </p:cNvPr>
              <p:cNvPicPr>
                <a:picLocks noChangeAspect="1" noChangeArrowheads="1"/>
              </p:cNvPicPr>
              <p:nvPr/>
            </p:nvPicPr>
            <p:blipFill>
              <a:blip r:embed="rId10" cstate="print"/>
              <a:srcRect/>
              <a:stretch>
                <a:fillRect/>
              </a:stretch>
            </p:blipFill>
            <p:spPr bwMode="auto">
              <a:xfrm>
                <a:off x="3956050" y="5176838"/>
                <a:ext cx="784225" cy="661987"/>
              </a:xfrm>
              <a:prstGeom prst="rect">
                <a:avLst/>
              </a:prstGeom>
              <a:noFill/>
              <a:ln w="9525">
                <a:noFill/>
                <a:miter lim="800000"/>
                <a:headEnd/>
                <a:tailEnd/>
              </a:ln>
            </p:spPr>
          </p:pic>
        </p:grpSp>
        <p:sp>
          <p:nvSpPr>
            <p:cNvPr id="35" name="AutoShape 13">
              <a:extLst>
                <a:ext uri="{FF2B5EF4-FFF2-40B4-BE49-F238E27FC236}">
                  <a16:creationId xmlns:a16="http://schemas.microsoft.com/office/drawing/2014/main" id="{43E43745-EC14-B1AE-B821-56F24C73A14E}"/>
                </a:ext>
              </a:extLst>
            </p:cNvPr>
            <p:cNvSpPr>
              <a:spLocks noChangeArrowheads="1"/>
            </p:cNvSpPr>
            <p:nvPr/>
          </p:nvSpPr>
          <p:spPr bwMode="auto">
            <a:xfrm>
              <a:off x="595738" y="1439849"/>
              <a:ext cx="7577137" cy="1474787"/>
            </a:xfrm>
            <a:prstGeom prst="roundRect">
              <a:avLst>
                <a:gd name="adj" fmla="val 16667"/>
              </a:avLst>
            </a:prstGeom>
            <a:noFill/>
            <a:ln w="9525">
              <a:solidFill>
                <a:srgbClr val="232F3F"/>
              </a:solidFill>
              <a:round/>
              <a:headEnd/>
              <a:tailEnd/>
            </a:ln>
          </p:spPr>
          <p:txBody>
            <a:bodyPr wrap="none" anchor="ctr"/>
            <a:lstStyle/>
            <a:p>
              <a:endParaRPr lang="fr-FR" altLang="fr-FR"/>
            </a:p>
          </p:txBody>
        </p:sp>
        <p:sp>
          <p:nvSpPr>
            <p:cNvPr id="36" name="AutoShape 14">
              <a:extLst>
                <a:ext uri="{FF2B5EF4-FFF2-40B4-BE49-F238E27FC236}">
                  <a16:creationId xmlns:a16="http://schemas.microsoft.com/office/drawing/2014/main" id="{5F453CE3-05B9-E247-DA09-A81FE27D9961}"/>
                </a:ext>
              </a:extLst>
            </p:cNvPr>
            <p:cNvSpPr>
              <a:spLocks noChangeArrowheads="1"/>
            </p:cNvSpPr>
            <p:nvPr/>
          </p:nvSpPr>
          <p:spPr bwMode="auto">
            <a:xfrm>
              <a:off x="539552" y="1439849"/>
              <a:ext cx="815975" cy="1474787"/>
            </a:xfrm>
            <a:prstGeom prst="roundRect">
              <a:avLst>
                <a:gd name="adj" fmla="val 16667"/>
              </a:avLst>
            </a:prstGeom>
            <a:solidFill>
              <a:srgbClr val="232F3F"/>
            </a:solidFill>
            <a:ln w="9525">
              <a:solidFill>
                <a:schemeClr val="tx1"/>
              </a:solidFill>
              <a:round/>
              <a:headEnd/>
              <a:tailEnd/>
            </a:ln>
          </p:spPr>
          <p:txBody>
            <a:bodyPr wrap="none" anchor="ctr"/>
            <a:lstStyle/>
            <a:p>
              <a:endParaRPr lang="fr-FR" altLang="fr-FR"/>
            </a:p>
          </p:txBody>
        </p:sp>
        <p:sp>
          <p:nvSpPr>
            <p:cNvPr id="37" name="Text Box 15">
              <a:extLst>
                <a:ext uri="{FF2B5EF4-FFF2-40B4-BE49-F238E27FC236}">
                  <a16:creationId xmlns:a16="http://schemas.microsoft.com/office/drawing/2014/main" id="{8F831643-6205-A239-7BD7-81780B58BF88}"/>
                </a:ext>
              </a:extLst>
            </p:cNvPr>
            <p:cNvSpPr txBox="1">
              <a:spLocks noChangeArrowheads="1"/>
            </p:cNvSpPr>
            <p:nvPr/>
          </p:nvSpPr>
          <p:spPr bwMode="auto">
            <a:xfrm rot="16200000">
              <a:off x="662485" y="1974836"/>
              <a:ext cx="660400" cy="330200"/>
            </a:xfrm>
            <a:prstGeom prst="rect">
              <a:avLst/>
            </a:prstGeom>
            <a:noFill/>
            <a:ln w="9525">
              <a:noFill/>
              <a:miter lim="800000"/>
              <a:headEnd/>
              <a:tailEnd/>
            </a:ln>
          </p:spPr>
          <p:txBody>
            <a:bodyPr wrap="none" lIns="84664" tIns="42332" rIns="84664" bIns="42332">
              <a:spAutoFit/>
            </a:bodyPr>
            <a:lstStyle/>
            <a:p>
              <a:r>
                <a:rPr lang="fr-FR" altLang="fr-FR" sz="1600" b="1" dirty="0">
                  <a:solidFill>
                    <a:schemeClr val="bg1"/>
                  </a:solidFill>
                  <a:latin typeface="Helvetica 55 Roman" pitchFamily="2" charset="0"/>
                </a:rPr>
                <a:t>rôles</a:t>
              </a:r>
            </a:p>
          </p:txBody>
        </p:sp>
        <p:grpSp>
          <p:nvGrpSpPr>
            <p:cNvPr id="38" name="Groupe 45">
              <a:extLst>
                <a:ext uri="{FF2B5EF4-FFF2-40B4-BE49-F238E27FC236}">
                  <a16:creationId xmlns:a16="http://schemas.microsoft.com/office/drawing/2014/main" id="{5D902C62-1082-B2E2-A0F3-0E0E91158CDD}"/>
                </a:ext>
              </a:extLst>
            </p:cNvPr>
            <p:cNvGrpSpPr>
              <a:grpSpLocks/>
            </p:cNvGrpSpPr>
            <p:nvPr/>
          </p:nvGrpSpPr>
          <p:grpSpPr bwMode="auto">
            <a:xfrm>
              <a:off x="4037438" y="1477949"/>
              <a:ext cx="1544754" cy="1421096"/>
              <a:chOff x="3995738" y="1341438"/>
              <a:chExt cx="1544755" cy="1421095"/>
            </a:xfrm>
          </p:grpSpPr>
          <p:sp>
            <p:nvSpPr>
              <p:cNvPr id="39" name="Text Box 9">
                <a:extLst>
                  <a:ext uri="{FF2B5EF4-FFF2-40B4-BE49-F238E27FC236}">
                    <a16:creationId xmlns:a16="http://schemas.microsoft.com/office/drawing/2014/main" id="{EAB6BF76-BAB6-A96F-EE7F-01FEE06DA8FC}"/>
                  </a:ext>
                </a:extLst>
              </p:cNvPr>
              <p:cNvSpPr txBox="1">
                <a:spLocks noChangeArrowheads="1"/>
              </p:cNvSpPr>
              <p:nvPr/>
            </p:nvSpPr>
            <p:spPr bwMode="auto">
              <a:xfrm>
                <a:off x="3995738" y="2492376"/>
                <a:ext cx="1544755" cy="270157"/>
              </a:xfrm>
              <a:prstGeom prst="rect">
                <a:avLst/>
              </a:prstGeom>
              <a:noFill/>
              <a:ln w="9525">
                <a:noFill/>
                <a:miter lim="800000"/>
                <a:headEnd/>
                <a:tailEnd/>
              </a:ln>
            </p:spPr>
            <p:txBody>
              <a:bodyPr wrap="square" lIns="84664" tIns="42332" rIns="84664" bIns="42332">
                <a:spAutoFit/>
              </a:bodyPr>
              <a:lstStyle/>
              <a:p>
                <a:pPr algn="ctr"/>
                <a:r>
                  <a:rPr lang="fr-FR" altLang="fr-FR" sz="1200" dirty="0">
                    <a:solidFill>
                      <a:srgbClr val="BE1218"/>
                    </a:solidFill>
                    <a:latin typeface="Helvetica 55 Roman" pitchFamily="2" charset="0"/>
                  </a:rPr>
                  <a:t>Scrum Master</a:t>
                </a:r>
              </a:p>
            </p:txBody>
          </p:sp>
          <p:pic>
            <p:nvPicPr>
              <p:cNvPr id="40" name="Picture 6" descr="j0434904">
                <a:extLst>
                  <a:ext uri="{FF2B5EF4-FFF2-40B4-BE49-F238E27FC236}">
                    <a16:creationId xmlns:a16="http://schemas.microsoft.com/office/drawing/2014/main" id="{93C945B9-C094-C7F3-86B0-A51E382B2F96}"/>
                  </a:ext>
                </a:extLst>
              </p:cNvPr>
              <p:cNvPicPr>
                <a:picLocks noChangeAspect="1" noChangeArrowheads="1"/>
              </p:cNvPicPr>
              <p:nvPr/>
            </p:nvPicPr>
            <p:blipFill>
              <a:blip r:embed="rId11" cstate="print"/>
              <a:srcRect/>
              <a:stretch>
                <a:fillRect/>
              </a:stretch>
            </p:blipFill>
            <p:spPr bwMode="auto">
              <a:xfrm>
                <a:off x="4211638" y="1341438"/>
                <a:ext cx="1296988" cy="1296987"/>
              </a:xfrm>
              <a:prstGeom prst="rect">
                <a:avLst/>
              </a:prstGeom>
              <a:noFill/>
              <a:ln w="9525">
                <a:noFill/>
                <a:miter lim="800000"/>
                <a:headEnd/>
                <a:tailEnd/>
              </a:ln>
            </p:spPr>
          </p:pic>
        </p:grpSp>
        <p:grpSp>
          <p:nvGrpSpPr>
            <p:cNvPr id="41" name="Groupe 46">
              <a:extLst>
                <a:ext uri="{FF2B5EF4-FFF2-40B4-BE49-F238E27FC236}">
                  <a16:creationId xmlns:a16="http://schemas.microsoft.com/office/drawing/2014/main" id="{7B10F48F-B314-D7E7-9905-CFDFB05048FF}"/>
                </a:ext>
              </a:extLst>
            </p:cNvPr>
            <p:cNvGrpSpPr>
              <a:grpSpLocks/>
            </p:cNvGrpSpPr>
            <p:nvPr/>
          </p:nvGrpSpPr>
          <p:grpSpPr bwMode="auto">
            <a:xfrm>
              <a:off x="6053563" y="1549386"/>
              <a:ext cx="2160587" cy="1347788"/>
              <a:chOff x="6011863" y="1412875"/>
              <a:chExt cx="2160588" cy="1347787"/>
            </a:xfrm>
          </p:grpSpPr>
          <p:sp>
            <p:nvSpPr>
              <p:cNvPr id="42" name="Text Box 12">
                <a:extLst>
                  <a:ext uri="{FF2B5EF4-FFF2-40B4-BE49-F238E27FC236}">
                    <a16:creationId xmlns:a16="http://schemas.microsoft.com/office/drawing/2014/main" id="{7C5F3800-4D60-B194-035B-911B8CD9DB9A}"/>
                  </a:ext>
                </a:extLst>
              </p:cNvPr>
              <p:cNvSpPr txBox="1">
                <a:spLocks noChangeArrowheads="1"/>
              </p:cNvSpPr>
              <p:nvPr/>
            </p:nvSpPr>
            <p:spPr bwMode="auto">
              <a:xfrm>
                <a:off x="6011863" y="2492375"/>
                <a:ext cx="2160588" cy="268287"/>
              </a:xfrm>
              <a:prstGeom prst="rect">
                <a:avLst/>
              </a:prstGeom>
              <a:noFill/>
              <a:ln w="9525">
                <a:noFill/>
                <a:miter lim="800000"/>
                <a:headEnd/>
                <a:tailEnd/>
              </a:ln>
            </p:spPr>
            <p:txBody>
              <a:bodyPr lIns="84664" tIns="42332" rIns="84664" bIns="42332">
                <a:spAutoFit/>
              </a:bodyPr>
              <a:lstStyle/>
              <a:p>
                <a:r>
                  <a:rPr lang="fr-FR" altLang="fr-FR" sz="1200" dirty="0">
                    <a:solidFill>
                      <a:srgbClr val="BE1218"/>
                    </a:solidFill>
                    <a:latin typeface="Helvetica 55 Roman" pitchFamily="2" charset="0"/>
                  </a:rPr>
                  <a:t>L’équipe de développement</a:t>
                </a:r>
              </a:p>
            </p:txBody>
          </p:sp>
          <p:grpSp>
            <p:nvGrpSpPr>
              <p:cNvPr id="43" name="Group 4">
                <a:extLst>
                  <a:ext uri="{FF2B5EF4-FFF2-40B4-BE49-F238E27FC236}">
                    <a16:creationId xmlns:a16="http://schemas.microsoft.com/office/drawing/2014/main" id="{E45A5719-BF69-E794-4DAD-0E75A4958FA9}"/>
                  </a:ext>
                </a:extLst>
              </p:cNvPr>
              <p:cNvGrpSpPr>
                <a:grpSpLocks/>
              </p:cNvGrpSpPr>
              <p:nvPr/>
            </p:nvGrpSpPr>
            <p:grpSpPr bwMode="auto">
              <a:xfrm>
                <a:off x="6227763" y="1412875"/>
                <a:ext cx="1368425" cy="1158875"/>
                <a:chOff x="113" y="2976"/>
                <a:chExt cx="1478" cy="1252"/>
              </a:xfrm>
            </p:grpSpPr>
            <p:pic>
              <p:nvPicPr>
                <p:cNvPr id="44" name="Picture 5" descr="j0433949">
                  <a:extLst>
                    <a:ext uri="{FF2B5EF4-FFF2-40B4-BE49-F238E27FC236}">
                      <a16:creationId xmlns:a16="http://schemas.microsoft.com/office/drawing/2014/main" id="{7294C1F5-3C08-3921-ABA5-B19E07289D26}"/>
                    </a:ext>
                  </a:extLst>
                </p:cNvPr>
                <p:cNvPicPr>
                  <a:picLocks noChangeAspect="1" noChangeArrowheads="1"/>
                </p:cNvPicPr>
                <p:nvPr/>
              </p:nvPicPr>
              <p:blipFill>
                <a:blip r:embed="rId12" cstate="print"/>
                <a:srcRect/>
                <a:stretch>
                  <a:fillRect/>
                </a:stretch>
              </p:blipFill>
              <p:spPr bwMode="auto">
                <a:xfrm>
                  <a:off x="158" y="2976"/>
                  <a:ext cx="749" cy="749"/>
                </a:xfrm>
                <a:prstGeom prst="rect">
                  <a:avLst/>
                </a:prstGeom>
                <a:noFill/>
                <a:ln w="9525">
                  <a:noFill/>
                  <a:miter lim="800000"/>
                  <a:headEnd/>
                  <a:tailEnd/>
                </a:ln>
              </p:spPr>
            </p:pic>
            <p:pic>
              <p:nvPicPr>
                <p:cNvPr id="45" name="Picture 6" descr="j0433936">
                  <a:extLst>
                    <a:ext uri="{FF2B5EF4-FFF2-40B4-BE49-F238E27FC236}">
                      <a16:creationId xmlns:a16="http://schemas.microsoft.com/office/drawing/2014/main" id="{0759132D-C50A-71B8-990A-2F81454AD2D9}"/>
                    </a:ext>
                  </a:extLst>
                </p:cNvPr>
                <p:cNvPicPr>
                  <a:picLocks noChangeAspect="1" noChangeArrowheads="1"/>
                </p:cNvPicPr>
                <p:nvPr/>
              </p:nvPicPr>
              <p:blipFill>
                <a:blip r:embed="rId13" cstate="print"/>
                <a:srcRect/>
                <a:stretch>
                  <a:fillRect/>
                </a:stretch>
              </p:blipFill>
              <p:spPr bwMode="auto">
                <a:xfrm>
                  <a:off x="748" y="3022"/>
                  <a:ext cx="633" cy="633"/>
                </a:xfrm>
                <a:prstGeom prst="rect">
                  <a:avLst/>
                </a:prstGeom>
                <a:noFill/>
                <a:ln w="9525">
                  <a:noFill/>
                  <a:miter lim="800000"/>
                  <a:headEnd/>
                  <a:tailEnd/>
                </a:ln>
              </p:spPr>
            </p:pic>
            <p:pic>
              <p:nvPicPr>
                <p:cNvPr id="46" name="Picture 7" descr="j0433928">
                  <a:extLst>
                    <a:ext uri="{FF2B5EF4-FFF2-40B4-BE49-F238E27FC236}">
                      <a16:creationId xmlns:a16="http://schemas.microsoft.com/office/drawing/2014/main" id="{D97FD383-CB8C-589C-9CD7-A4C0A8301B5B}"/>
                    </a:ext>
                  </a:extLst>
                </p:cNvPr>
                <p:cNvPicPr>
                  <a:picLocks noChangeAspect="1" noChangeArrowheads="1"/>
                </p:cNvPicPr>
                <p:nvPr/>
              </p:nvPicPr>
              <p:blipFill>
                <a:blip r:embed="rId14" cstate="print"/>
                <a:srcRect/>
                <a:stretch>
                  <a:fillRect/>
                </a:stretch>
              </p:blipFill>
              <p:spPr bwMode="auto">
                <a:xfrm>
                  <a:off x="930" y="3430"/>
                  <a:ext cx="661" cy="661"/>
                </a:xfrm>
                <a:prstGeom prst="rect">
                  <a:avLst/>
                </a:prstGeom>
                <a:noFill/>
                <a:ln w="9525">
                  <a:noFill/>
                  <a:miter lim="800000"/>
                  <a:headEnd/>
                  <a:tailEnd/>
                </a:ln>
              </p:spPr>
            </p:pic>
            <p:pic>
              <p:nvPicPr>
                <p:cNvPr id="47" name="Picture 8" descr="j0434881">
                  <a:extLst>
                    <a:ext uri="{FF2B5EF4-FFF2-40B4-BE49-F238E27FC236}">
                      <a16:creationId xmlns:a16="http://schemas.microsoft.com/office/drawing/2014/main" id="{0BD10AAA-7FD7-611D-C01D-6DB9390421F8}"/>
                    </a:ext>
                  </a:extLst>
                </p:cNvPr>
                <p:cNvPicPr>
                  <a:picLocks noChangeAspect="1" noChangeArrowheads="1"/>
                </p:cNvPicPr>
                <p:nvPr/>
              </p:nvPicPr>
              <p:blipFill>
                <a:blip r:embed="rId15" cstate="print"/>
                <a:srcRect/>
                <a:stretch>
                  <a:fillRect/>
                </a:stretch>
              </p:blipFill>
              <p:spPr bwMode="auto">
                <a:xfrm>
                  <a:off x="113" y="3385"/>
                  <a:ext cx="723" cy="723"/>
                </a:xfrm>
                <a:prstGeom prst="rect">
                  <a:avLst/>
                </a:prstGeom>
                <a:noFill/>
                <a:ln w="9525">
                  <a:noFill/>
                  <a:miter lim="800000"/>
                  <a:headEnd/>
                  <a:tailEnd/>
                </a:ln>
              </p:spPr>
            </p:pic>
            <p:pic>
              <p:nvPicPr>
                <p:cNvPr id="48" name="Picture 9" descr="j0433932">
                  <a:extLst>
                    <a:ext uri="{FF2B5EF4-FFF2-40B4-BE49-F238E27FC236}">
                      <a16:creationId xmlns:a16="http://schemas.microsoft.com/office/drawing/2014/main" id="{BF91FCCE-3647-1641-BE5B-65F9982EA8D9}"/>
                    </a:ext>
                  </a:extLst>
                </p:cNvPr>
                <p:cNvPicPr>
                  <a:picLocks noChangeAspect="1" noChangeArrowheads="1"/>
                </p:cNvPicPr>
                <p:nvPr/>
              </p:nvPicPr>
              <p:blipFill>
                <a:blip r:embed="rId16" cstate="print"/>
                <a:srcRect/>
                <a:stretch>
                  <a:fillRect/>
                </a:stretch>
              </p:blipFill>
              <p:spPr bwMode="auto">
                <a:xfrm>
                  <a:off x="476" y="3475"/>
                  <a:ext cx="753" cy="753"/>
                </a:xfrm>
                <a:prstGeom prst="rect">
                  <a:avLst/>
                </a:prstGeom>
                <a:noFill/>
                <a:ln w="9525">
                  <a:noFill/>
                  <a:miter lim="800000"/>
                  <a:headEnd/>
                  <a:tailEnd/>
                </a:ln>
              </p:spPr>
            </p:pic>
          </p:grpSp>
        </p:grpSp>
        <p:grpSp>
          <p:nvGrpSpPr>
            <p:cNvPr id="49" name="Groupe 44">
              <a:extLst>
                <a:ext uri="{FF2B5EF4-FFF2-40B4-BE49-F238E27FC236}">
                  <a16:creationId xmlns:a16="http://schemas.microsoft.com/office/drawing/2014/main" id="{C1210DE6-9884-67F9-0B6F-DB9E957F4650}"/>
                </a:ext>
              </a:extLst>
            </p:cNvPr>
            <p:cNvGrpSpPr>
              <a:grpSpLocks/>
            </p:cNvGrpSpPr>
            <p:nvPr/>
          </p:nvGrpSpPr>
          <p:grpSpPr bwMode="auto">
            <a:xfrm>
              <a:off x="1907431" y="1549386"/>
              <a:ext cx="1337844" cy="1349657"/>
              <a:chOff x="1865732" y="1412875"/>
              <a:chExt cx="1337844" cy="1349657"/>
            </a:xfrm>
          </p:grpSpPr>
          <p:pic>
            <p:nvPicPr>
              <p:cNvPr id="50" name="Picture 5" descr="j0434888">
                <a:extLst>
                  <a:ext uri="{FF2B5EF4-FFF2-40B4-BE49-F238E27FC236}">
                    <a16:creationId xmlns:a16="http://schemas.microsoft.com/office/drawing/2014/main" id="{A223AA4A-9A22-5558-02C2-0BF8AD87BBD2}"/>
                  </a:ext>
                </a:extLst>
              </p:cNvPr>
              <p:cNvPicPr>
                <a:picLocks noChangeAspect="1" noChangeArrowheads="1"/>
              </p:cNvPicPr>
              <p:nvPr/>
            </p:nvPicPr>
            <p:blipFill>
              <a:blip r:embed="rId17" cstate="print"/>
              <a:srcRect/>
              <a:stretch>
                <a:fillRect/>
              </a:stretch>
            </p:blipFill>
            <p:spPr bwMode="auto">
              <a:xfrm>
                <a:off x="2051051" y="1412875"/>
                <a:ext cx="1152525" cy="1152525"/>
              </a:xfrm>
              <a:prstGeom prst="rect">
                <a:avLst/>
              </a:prstGeom>
              <a:noFill/>
              <a:ln w="9525">
                <a:noFill/>
                <a:miter lim="800000"/>
                <a:headEnd/>
                <a:tailEnd/>
              </a:ln>
            </p:spPr>
          </p:pic>
          <p:sp>
            <p:nvSpPr>
              <p:cNvPr id="51" name="Text Box 6">
                <a:extLst>
                  <a:ext uri="{FF2B5EF4-FFF2-40B4-BE49-F238E27FC236}">
                    <a16:creationId xmlns:a16="http://schemas.microsoft.com/office/drawing/2014/main" id="{57C22DA8-60F7-E190-2BB0-24F5652562C3}"/>
                  </a:ext>
                </a:extLst>
              </p:cNvPr>
              <p:cNvSpPr txBox="1">
                <a:spLocks noChangeArrowheads="1"/>
              </p:cNvSpPr>
              <p:nvPr/>
            </p:nvSpPr>
            <p:spPr bwMode="auto">
              <a:xfrm>
                <a:off x="1865732" y="2492375"/>
                <a:ext cx="1281862" cy="270157"/>
              </a:xfrm>
              <a:prstGeom prst="rect">
                <a:avLst/>
              </a:prstGeom>
              <a:noFill/>
              <a:ln w="9525">
                <a:noFill/>
                <a:miter lim="800000"/>
                <a:headEnd/>
                <a:tailEnd/>
              </a:ln>
            </p:spPr>
            <p:txBody>
              <a:bodyPr wrap="none" lIns="84664" tIns="42332" rIns="84664" bIns="42332">
                <a:spAutoFit/>
              </a:bodyPr>
              <a:lstStyle/>
              <a:p>
                <a:pPr algn="ctr"/>
                <a:r>
                  <a:rPr lang="fr-FR" altLang="fr-FR" sz="1200" dirty="0">
                    <a:latin typeface="Helvetica 55 Roman" pitchFamily="2" charset="0"/>
                  </a:rPr>
                  <a:t> </a:t>
                </a:r>
                <a:r>
                  <a:rPr lang="fr-FR" altLang="fr-FR" sz="1200" dirty="0">
                    <a:solidFill>
                      <a:srgbClr val="BE1218"/>
                    </a:solidFill>
                    <a:latin typeface="Helvetica 55 Roman" pitchFamily="2" charset="0"/>
                  </a:rPr>
                  <a:t>Product </a:t>
                </a:r>
                <a:r>
                  <a:rPr lang="fr-FR" altLang="fr-FR" sz="1200" dirty="0" err="1">
                    <a:solidFill>
                      <a:srgbClr val="BE1218"/>
                    </a:solidFill>
                    <a:latin typeface="Helvetica 55 Roman" pitchFamily="2" charset="0"/>
                  </a:rPr>
                  <a:t>Owner</a:t>
                </a:r>
                <a:endParaRPr lang="fr-FR" altLang="fr-FR" sz="1200" dirty="0">
                  <a:solidFill>
                    <a:srgbClr val="BE1218"/>
                  </a:solidFill>
                  <a:latin typeface="Helvetica 55 Roman" pitchFamily="2" charset="0"/>
                </a:endParaRPr>
              </a:p>
            </p:txBody>
          </p:sp>
        </p:grpSp>
      </p:grpSp>
    </p:spTree>
    <p:extLst>
      <p:ext uri="{BB962C8B-B14F-4D97-AF65-F5344CB8AC3E}">
        <p14:creationId xmlns:p14="http://schemas.microsoft.com/office/powerpoint/2010/main" val="3675658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Scrum – Framework </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graphicFrame>
        <p:nvGraphicFramePr>
          <p:cNvPr id="35" name="Content Placeholder 6">
            <a:extLst>
              <a:ext uri="{FF2B5EF4-FFF2-40B4-BE49-F238E27FC236}">
                <a16:creationId xmlns:a16="http://schemas.microsoft.com/office/drawing/2014/main" id="{8F589C53-AB7B-4D2F-9FCF-9482B20968B1}"/>
              </a:ext>
            </a:extLst>
          </p:cNvPr>
          <p:cNvGraphicFramePr>
            <a:graphicFrameLocks/>
          </p:cNvGraphicFramePr>
          <p:nvPr>
            <p:extLst>
              <p:ext uri="{D42A27DB-BD31-4B8C-83A1-F6EECF244321}">
                <p14:modId xmlns:p14="http://schemas.microsoft.com/office/powerpoint/2010/main" val="2290023645"/>
              </p:ext>
            </p:extLst>
          </p:nvPr>
        </p:nvGraphicFramePr>
        <p:xfrm>
          <a:off x="434975" y="1312863"/>
          <a:ext cx="8262938" cy="4752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8042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BAEB4D-AB56-E407-6F4D-FA39FF8D07B7}"/>
              </a:ext>
            </a:extLst>
          </p:cNvPr>
          <p:cNvSpPr>
            <a:spLocks noGrp="1"/>
          </p:cNvSpPr>
          <p:nvPr>
            <p:ph type="title"/>
          </p:nvPr>
        </p:nvSpPr>
        <p:spPr/>
        <p:txBody>
          <a:bodyPr/>
          <a:lstStyle/>
          <a:p>
            <a:r>
              <a:rPr lang="fr-FR" dirty="0"/>
              <a:t>	Scrum – Process</a:t>
            </a:r>
          </a:p>
        </p:txBody>
      </p:sp>
      <p:sp>
        <p:nvSpPr>
          <p:cNvPr id="3" name="Espace réservé du pied de page 2">
            <a:extLst>
              <a:ext uri="{FF2B5EF4-FFF2-40B4-BE49-F238E27FC236}">
                <a16:creationId xmlns:a16="http://schemas.microsoft.com/office/drawing/2014/main" id="{24E474C4-4351-F225-6990-D03BD38985A2}"/>
              </a:ext>
            </a:extLst>
          </p:cNvPr>
          <p:cNvSpPr>
            <a:spLocks noGrp="1"/>
          </p:cNvSpPr>
          <p:nvPr>
            <p:ph type="ftr" sz="quarter" idx="10"/>
          </p:nvPr>
        </p:nvSpPr>
        <p:spPr/>
        <p:txBody>
          <a:bodyPr/>
          <a:lstStyle/>
          <a:p>
            <a:pPr>
              <a:defRPr/>
            </a:pPr>
            <a:r>
              <a:rPr lang="fr-FR"/>
              <a:t>Introduction à l'agilité</a:t>
            </a:r>
            <a:endParaRPr lang="fr-FR" dirty="0"/>
          </a:p>
        </p:txBody>
      </p:sp>
      <p:pic>
        <p:nvPicPr>
          <p:cNvPr id="5" name="Espace réservé du contenu 4">
            <a:extLst>
              <a:ext uri="{FF2B5EF4-FFF2-40B4-BE49-F238E27FC236}">
                <a16:creationId xmlns:a16="http://schemas.microsoft.com/office/drawing/2014/main" id="{5019EDA6-634E-E9FF-2972-9D8E853D6AFC}"/>
              </a:ext>
            </a:extLst>
          </p:cNvPr>
          <p:cNvPicPr>
            <a:picLocks noGrp="1" noChangeAspect="1"/>
          </p:cNvPicPr>
          <p:nvPr>
            <p:ph sz="quarter" idx="12"/>
          </p:nvPr>
        </p:nvPicPr>
        <p:blipFill>
          <a:blip r:embed="rId3" cstate="print">
            <a:extLst>
              <a:ext uri="{28A0092B-C50C-407E-A947-70E740481C1C}">
                <a14:useLocalDpi xmlns:a14="http://schemas.microsoft.com/office/drawing/2010/main" val="0"/>
              </a:ext>
            </a:extLst>
          </a:blip>
          <a:stretch>
            <a:fillRect/>
          </a:stretch>
        </p:blipFill>
        <p:spPr>
          <a:xfrm>
            <a:off x="611560" y="1484784"/>
            <a:ext cx="8091909" cy="4162482"/>
          </a:xfrm>
        </p:spPr>
      </p:pic>
    </p:spTree>
    <p:extLst>
      <p:ext uri="{BB962C8B-B14F-4D97-AF65-F5344CB8AC3E}">
        <p14:creationId xmlns:p14="http://schemas.microsoft.com/office/powerpoint/2010/main" val="899412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a:extLst>
              <a:ext uri="{FF2B5EF4-FFF2-40B4-BE49-F238E27FC236}">
                <a16:creationId xmlns:a16="http://schemas.microsoft.com/office/drawing/2014/main" id="{01128000-3249-D351-BBB6-192E42AAC9E7}"/>
              </a:ext>
            </a:extLst>
          </p:cNvPr>
          <p:cNvPicPr>
            <a:picLocks noChangeAspect="1"/>
          </p:cNvPicPr>
          <p:nvPr/>
        </p:nvPicPr>
        <p:blipFill>
          <a:blip r:embed="rId3"/>
          <a:stretch>
            <a:fillRect/>
          </a:stretch>
        </p:blipFill>
        <p:spPr>
          <a:xfrm>
            <a:off x="1193810" y="1170927"/>
            <a:ext cx="928864" cy="924772"/>
          </a:xfrm>
          <a:prstGeom prst="rect">
            <a:avLst/>
          </a:prstGeom>
        </p:spPr>
      </p:pic>
      <p:pic>
        <p:nvPicPr>
          <p:cNvPr id="21" name="Image 20">
            <a:extLst>
              <a:ext uri="{FF2B5EF4-FFF2-40B4-BE49-F238E27FC236}">
                <a16:creationId xmlns:a16="http://schemas.microsoft.com/office/drawing/2014/main" id="{1687B952-B2CD-73D8-9C55-D04DB2027958}"/>
              </a:ext>
            </a:extLst>
          </p:cNvPr>
          <p:cNvPicPr>
            <a:picLocks noChangeAspect="1"/>
          </p:cNvPicPr>
          <p:nvPr/>
        </p:nvPicPr>
        <p:blipFill>
          <a:blip r:embed="rId4"/>
          <a:stretch>
            <a:fillRect/>
          </a:stretch>
        </p:blipFill>
        <p:spPr>
          <a:xfrm>
            <a:off x="1563763" y="4894029"/>
            <a:ext cx="1248660" cy="1058734"/>
          </a:xfrm>
          <a:prstGeom prst="rect">
            <a:avLst/>
          </a:prstGeom>
        </p:spPr>
      </p:pic>
      <p:pic>
        <p:nvPicPr>
          <p:cNvPr id="4" name="Image 3">
            <a:extLst>
              <a:ext uri="{FF2B5EF4-FFF2-40B4-BE49-F238E27FC236}">
                <a16:creationId xmlns:a16="http://schemas.microsoft.com/office/drawing/2014/main" id="{04259A14-6062-7E14-60D4-E61DB9A7C4CF}"/>
              </a:ext>
            </a:extLst>
          </p:cNvPr>
          <p:cNvPicPr>
            <a:picLocks noChangeAspect="1"/>
          </p:cNvPicPr>
          <p:nvPr/>
        </p:nvPicPr>
        <p:blipFill>
          <a:blip r:embed="rId5"/>
          <a:stretch>
            <a:fillRect/>
          </a:stretch>
        </p:blipFill>
        <p:spPr>
          <a:xfrm>
            <a:off x="6468867" y="1188662"/>
            <a:ext cx="901210" cy="897547"/>
          </a:xfrm>
          <a:prstGeom prst="rect">
            <a:avLst/>
          </a:prstGeom>
        </p:spPr>
      </p:pic>
      <p:sp>
        <p:nvSpPr>
          <p:cNvPr id="2" name="Titre 1">
            <a:extLst>
              <a:ext uri="{FF2B5EF4-FFF2-40B4-BE49-F238E27FC236}">
                <a16:creationId xmlns:a16="http://schemas.microsoft.com/office/drawing/2014/main" id="{CA0232C6-5758-7ED3-E784-C65BC7503CC5}"/>
              </a:ext>
            </a:extLst>
          </p:cNvPr>
          <p:cNvSpPr>
            <a:spLocks noGrp="1"/>
          </p:cNvSpPr>
          <p:nvPr>
            <p:ph type="title"/>
          </p:nvPr>
        </p:nvSpPr>
        <p:spPr/>
        <p:txBody>
          <a:bodyPr/>
          <a:lstStyle/>
          <a:p>
            <a:r>
              <a:rPr lang="fr-FR" dirty="0"/>
              <a:t>	Scrum - Rôles</a:t>
            </a:r>
          </a:p>
        </p:txBody>
      </p:sp>
      <p:sp>
        <p:nvSpPr>
          <p:cNvPr id="3" name="Espace réservé du pied de page 2">
            <a:extLst>
              <a:ext uri="{FF2B5EF4-FFF2-40B4-BE49-F238E27FC236}">
                <a16:creationId xmlns:a16="http://schemas.microsoft.com/office/drawing/2014/main" id="{1DF4C6B8-89ED-4254-24AA-87DEBA0138B5}"/>
              </a:ext>
            </a:extLst>
          </p:cNvPr>
          <p:cNvSpPr>
            <a:spLocks noGrp="1"/>
          </p:cNvSpPr>
          <p:nvPr>
            <p:ph type="ftr" sz="quarter" idx="10"/>
          </p:nvPr>
        </p:nvSpPr>
        <p:spPr/>
        <p:txBody>
          <a:bodyPr/>
          <a:lstStyle/>
          <a:p>
            <a:pPr>
              <a:defRPr/>
            </a:pPr>
            <a:r>
              <a:rPr lang="fr-FR"/>
              <a:t>Introduction à l'agilité</a:t>
            </a:r>
            <a:endParaRPr lang="fr-FR" dirty="0"/>
          </a:p>
        </p:txBody>
      </p:sp>
      <p:grpSp>
        <p:nvGrpSpPr>
          <p:cNvPr id="5" name="Groupe 4">
            <a:extLst>
              <a:ext uri="{FF2B5EF4-FFF2-40B4-BE49-F238E27FC236}">
                <a16:creationId xmlns:a16="http://schemas.microsoft.com/office/drawing/2014/main" id="{95232C51-2825-AB78-1EC6-3635F5A7129A}"/>
              </a:ext>
            </a:extLst>
          </p:cNvPr>
          <p:cNvGrpSpPr/>
          <p:nvPr/>
        </p:nvGrpSpPr>
        <p:grpSpPr>
          <a:xfrm>
            <a:off x="89667" y="1554035"/>
            <a:ext cx="9154532" cy="4115303"/>
            <a:chOff x="-822911" y="1446389"/>
            <a:chExt cx="10827795" cy="5358147"/>
          </a:xfrm>
        </p:grpSpPr>
        <p:sp>
          <p:nvSpPr>
            <p:cNvPr id="6" name="Ellipse 5">
              <a:extLst>
                <a:ext uri="{FF2B5EF4-FFF2-40B4-BE49-F238E27FC236}">
                  <a16:creationId xmlns:a16="http://schemas.microsoft.com/office/drawing/2014/main" id="{5F54E30F-EA91-28F1-3081-270A4DE95BC2}"/>
                </a:ext>
              </a:extLst>
            </p:cNvPr>
            <p:cNvSpPr/>
            <p:nvPr/>
          </p:nvSpPr>
          <p:spPr>
            <a:xfrm>
              <a:off x="1547812" y="1573641"/>
              <a:ext cx="1788363" cy="1968633"/>
            </a:xfrm>
            <a:prstGeom prst="ellipse">
              <a:avLst/>
            </a:prstGeom>
            <a:solidFill>
              <a:srgbClr val="3D64A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Scrum</a:t>
              </a:r>
            </a:p>
            <a:p>
              <a:pPr algn="ctr"/>
              <a:r>
                <a:rPr lang="fr-FR" dirty="0">
                  <a:solidFill>
                    <a:schemeClr val="bg1"/>
                  </a:solidFill>
                </a:rPr>
                <a:t>Master</a:t>
              </a:r>
            </a:p>
          </p:txBody>
        </p:sp>
        <p:sp>
          <p:nvSpPr>
            <p:cNvPr id="7" name="Ellipse 6">
              <a:extLst>
                <a:ext uri="{FF2B5EF4-FFF2-40B4-BE49-F238E27FC236}">
                  <a16:creationId xmlns:a16="http://schemas.microsoft.com/office/drawing/2014/main" id="{4812B5CE-2DBC-F850-61D3-62BFCA98EE24}"/>
                </a:ext>
              </a:extLst>
            </p:cNvPr>
            <p:cNvSpPr/>
            <p:nvPr/>
          </p:nvSpPr>
          <p:spPr>
            <a:xfrm>
              <a:off x="5395519" y="1743968"/>
              <a:ext cx="1788363" cy="1968633"/>
            </a:xfrm>
            <a:prstGeom prst="ellipse">
              <a:avLst/>
            </a:prstGeom>
            <a:solidFill>
              <a:srgbClr val="3D64A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Product</a:t>
              </a:r>
            </a:p>
            <a:p>
              <a:pPr algn="ctr"/>
              <a:r>
                <a:rPr lang="fr-FR" dirty="0">
                  <a:solidFill>
                    <a:schemeClr val="bg1"/>
                  </a:solidFill>
                </a:rPr>
                <a:t>Owner</a:t>
              </a:r>
            </a:p>
          </p:txBody>
        </p:sp>
        <p:sp>
          <p:nvSpPr>
            <p:cNvPr id="8" name="Ellipse 7">
              <a:extLst>
                <a:ext uri="{FF2B5EF4-FFF2-40B4-BE49-F238E27FC236}">
                  <a16:creationId xmlns:a16="http://schemas.microsoft.com/office/drawing/2014/main" id="{77B8EF26-8458-BA42-3797-DF3615DF4A84}"/>
                </a:ext>
              </a:extLst>
            </p:cNvPr>
            <p:cNvSpPr/>
            <p:nvPr/>
          </p:nvSpPr>
          <p:spPr>
            <a:xfrm>
              <a:off x="3340620" y="4118907"/>
              <a:ext cx="1788363" cy="1968633"/>
            </a:xfrm>
            <a:prstGeom prst="ellipse">
              <a:avLst/>
            </a:prstGeom>
            <a:solidFill>
              <a:srgbClr val="3D64A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Team</a:t>
              </a:r>
            </a:p>
          </p:txBody>
        </p:sp>
        <p:sp>
          <p:nvSpPr>
            <p:cNvPr id="9" name="Arc 8">
              <a:extLst>
                <a:ext uri="{FF2B5EF4-FFF2-40B4-BE49-F238E27FC236}">
                  <a16:creationId xmlns:a16="http://schemas.microsoft.com/office/drawing/2014/main" id="{3EB6E4E3-90E3-CA1F-0CB2-9F7F6FC9BDFA}"/>
                </a:ext>
              </a:extLst>
            </p:cNvPr>
            <p:cNvSpPr/>
            <p:nvPr/>
          </p:nvSpPr>
          <p:spPr>
            <a:xfrm>
              <a:off x="3083303" y="1446389"/>
              <a:ext cx="2613368" cy="1197580"/>
            </a:xfrm>
            <a:prstGeom prst="arc">
              <a:avLst>
                <a:gd name="adj1" fmla="val 12144585"/>
                <a:gd name="adj2" fmla="val 20503204"/>
              </a:avLst>
            </a:prstGeom>
            <a:ln w="25400">
              <a:solidFill>
                <a:srgbClr val="3D64A9">
                  <a:alpha val="85000"/>
                </a:srgbClr>
              </a:solidFill>
              <a:headEnd type="none" w="lg" len="lg"/>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0" name="Arc 9">
              <a:extLst>
                <a:ext uri="{FF2B5EF4-FFF2-40B4-BE49-F238E27FC236}">
                  <a16:creationId xmlns:a16="http://schemas.microsoft.com/office/drawing/2014/main" id="{2C10502B-E093-5539-678E-D3CFC04FCE68}"/>
                </a:ext>
              </a:extLst>
            </p:cNvPr>
            <p:cNvSpPr/>
            <p:nvPr/>
          </p:nvSpPr>
          <p:spPr>
            <a:xfrm rot="7482598">
              <a:off x="4564902" y="3927051"/>
              <a:ext cx="2260466" cy="1183173"/>
            </a:xfrm>
            <a:prstGeom prst="arc">
              <a:avLst>
                <a:gd name="adj1" fmla="val 12144585"/>
                <a:gd name="adj2" fmla="val 20503204"/>
              </a:avLst>
            </a:prstGeom>
            <a:ln w="25400">
              <a:solidFill>
                <a:srgbClr val="3D64A9">
                  <a:alpha val="85000"/>
                </a:srgb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1" name="Arc 10">
              <a:extLst>
                <a:ext uri="{FF2B5EF4-FFF2-40B4-BE49-F238E27FC236}">
                  <a16:creationId xmlns:a16="http://schemas.microsoft.com/office/drawing/2014/main" id="{03EBF69F-C6F2-8351-C582-513ECB4BDC9F}"/>
                </a:ext>
              </a:extLst>
            </p:cNvPr>
            <p:cNvSpPr/>
            <p:nvPr/>
          </p:nvSpPr>
          <p:spPr>
            <a:xfrm rot="14308311">
              <a:off x="1561026" y="3789700"/>
              <a:ext cx="2555037" cy="1048240"/>
            </a:xfrm>
            <a:prstGeom prst="arc">
              <a:avLst>
                <a:gd name="adj1" fmla="val 12144585"/>
                <a:gd name="adj2" fmla="val 20503204"/>
              </a:avLst>
            </a:prstGeom>
            <a:ln w="25400">
              <a:solidFill>
                <a:srgbClr val="3D64A9">
                  <a:alpha val="85000"/>
                </a:srgbClr>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2" name="ZoneTexte 11">
              <a:extLst>
                <a:ext uri="{FF2B5EF4-FFF2-40B4-BE49-F238E27FC236}">
                  <a16:creationId xmlns:a16="http://schemas.microsoft.com/office/drawing/2014/main" id="{FC2A1A0D-0D3A-291B-C854-426B7DB1F71F}"/>
                </a:ext>
              </a:extLst>
            </p:cNvPr>
            <p:cNvSpPr txBox="1"/>
            <p:nvPr/>
          </p:nvSpPr>
          <p:spPr>
            <a:xfrm>
              <a:off x="5716691" y="4529024"/>
              <a:ext cx="1391699" cy="480873"/>
            </a:xfrm>
            <a:prstGeom prst="rect">
              <a:avLst/>
            </a:prstGeom>
            <a:solidFill>
              <a:schemeClr val="bg1"/>
            </a:solidFill>
          </p:spPr>
          <p:txBody>
            <a:bodyPr wrap="square" rtlCol="0">
              <a:spAutoFit/>
            </a:bodyPr>
            <a:lstStyle/>
            <a:p>
              <a:r>
                <a:rPr lang="fr-FR" dirty="0">
                  <a:solidFill>
                    <a:srgbClr val="BE1218"/>
                  </a:solidFill>
                </a:rPr>
                <a:t>feedback</a:t>
              </a:r>
            </a:p>
          </p:txBody>
        </p:sp>
        <p:sp>
          <p:nvSpPr>
            <p:cNvPr id="13" name="ZoneTexte 12">
              <a:extLst>
                <a:ext uri="{FF2B5EF4-FFF2-40B4-BE49-F238E27FC236}">
                  <a16:creationId xmlns:a16="http://schemas.microsoft.com/office/drawing/2014/main" id="{962B0BD5-AE1B-640A-B7DB-D2982D601C8D}"/>
                </a:ext>
              </a:extLst>
            </p:cNvPr>
            <p:cNvSpPr txBox="1"/>
            <p:nvPr/>
          </p:nvSpPr>
          <p:spPr>
            <a:xfrm>
              <a:off x="521975" y="3996714"/>
              <a:ext cx="2743340" cy="841527"/>
            </a:xfrm>
            <a:prstGeom prst="rect">
              <a:avLst/>
            </a:prstGeom>
            <a:solidFill>
              <a:schemeClr val="bg1"/>
            </a:solidFill>
          </p:spPr>
          <p:txBody>
            <a:bodyPr wrap="square" rtlCol="0">
              <a:spAutoFit/>
            </a:bodyPr>
            <a:lstStyle/>
            <a:p>
              <a:r>
                <a:rPr lang="fr-FR" dirty="0">
                  <a:solidFill>
                    <a:srgbClr val="BE1218"/>
                  </a:solidFill>
                </a:rPr>
                <a:t>encourage / protège</a:t>
              </a:r>
            </a:p>
            <a:p>
              <a:r>
                <a:rPr lang="fr-FR" dirty="0">
                  <a:solidFill>
                    <a:srgbClr val="BE1218"/>
                  </a:solidFill>
                </a:rPr>
                <a:t>résout les problèmes</a:t>
              </a:r>
            </a:p>
          </p:txBody>
        </p:sp>
        <p:sp>
          <p:nvSpPr>
            <p:cNvPr id="14" name="ZoneTexte 13">
              <a:extLst>
                <a:ext uri="{FF2B5EF4-FFF2-40B4-BE49-F238E27FC236}">
                  <a16:creationId xmlns:a16="http://schemas.microsoft.com/office/drawing/2014/main" id="{3F81826F-EB8A-C338-639C-1F235AB2D85A}"/>
                </a:ext>
              </a:extLst>
            </p:cNvPr>
            <p:cNvSpPr txBox="1"/>
            <p:nvPr/>
          </p:nvSpPr>
          <p:spPr>
            <a:xfrm>
              <a:off x="3493531" y="1792757"/>
              <a:ext cx="1798075" cy="480872"/>
            </a:xfrm>
            <a:prstGeom prst="rect">
              <a:avLst/>
            </a:prstGeom>
            <a:solidFill>
              <a:schemeClr val="bg1"/>
            </a:solidFill>
          </p:spPr>
          <p:txBody>
            <a:bodyPr wrap="square" rtlCol="0">
              <a:spAutoFit/>
            </a:bodyPr>
            <a:lstStyle/>
            <a:p>
              <a:r>
                <a:rPr lang="fr-FR" dirty="0">
                  <a:solidFill>
                    <a:srgbClr val="BE1218"/>
                  </a:solidFill>
                </a:rPr>
                <a:t>accompagne</a:t>
              </a:r>
            </a:p>
          </p:txBody>
        </p:sp>
        <p:sp>
          <p:nvSpPr>
            <p:cNvPr id="15" name="ZoneTexte 14">
              <a:extLst>
                <a:ext uri="{FF2B5EF4-FFF2-40B4-BE49-F238E27FC236}">
                  <a16:creationId xmlns:a16="http://schemas.microsoft.com/office/drawing/2014/main" id="{DF2737F2-8289-DF31-B91F-6E9A7CA47DD5}"/>
                </a:ext>
              </a:extLst>
            </p:cNvPr>
            <p:cNvSpPr txBox="1"/>
            <p:nvPr/>
          </p:nvSpPr>
          <p:spPr>
            <a:xfrm>
              <a:off x="7579155" y="1998986"/>
              <a:ext cx="2425729" cy="1562835"/>
            </a:xfrm>
            <a:prstGeom prst="rect">
              <a:avLst/>
            </a:prstGeom>
            <a:noFill/>
          </p:spPr>
          <p:txBody>
            <a:bodyPr wrap="square" rtlCol="0">
              <a:spAutoFit/>
            </a:bodyPr>
            <a:lstStyle/>
            <a:p>
              <a:r>
                <a:rPr lang="fr-FR" dirty="0">
                  <a:solidFill>
                    <a:srgbClr val="232F3F"/>
                  </a:solidFill>
                </a:rPr>
                <a:t>Vision du produit</a:t>
              </a:r>
            </a:p>
            <a:p>
              <a:r>
                <a:rPr lang="fr-FR" dirty="0">
                  <a:solidFill>
                    <a:srgbClr val="232F3F"/>
                  </a:solidFill>
                </a:rPr>
                <a:t>Besoins</a:t>
              </a:r>
            </a:p>
            <a:p>
              <a:r>
                <a:rPr lang="fr-FR" dirty="0">
                  <a:solidFill>
                    <a:srgbClr val="232F3F"/>
                  </a:solidFill>
                </a:rPr>
                <a:t>Priorisation</a:t>
              </a:r>
            </a:p>
            <a:p>
              <a:r>
                <a:rPr lang="fr-FR" dirty="0">
                  <a:solidFill>
                    <a:srgbClr val="232F3F"/>
                  </a:solidFill>
                </a:rPr>
                <a:t>Validation</a:t>
              </a:r>
            </a:p>
          </p:txBody>
        </p:sp>
        <p:sp>
          <p:nvSpPr>
            <p:cNvPr id="16" name="ZoneTexte 15">
              <a:extLst>
                <a:ext uri="{FF2B5EF4-FFF2-40B4-BE49-F238E27FC236}">
                  <a16:creationId xmlns:a16="http://schemas.microsoft.com/office/drawing/2014/main" id="{B8AD61B3-0EC4-2A77-79EE-6CA50046E3BA}"/>
                </a:ext>
              </a:extLst>
            </p:cNvPr>
            <p:cNvSpPr txBox="1"/>
            <p:nvPr/>
          </p:nvSpPr>
          <p:spPr>
            <a:xfrm>
              <a:off x="-822911" y="2173717"/>
              <a:ext cx="2370724" cy="841526"/>
            </a:xfrm>
            <a:prstGeom prst="rect">
              <a:avLst/>
            </a:prstGeom>
            <a:noFill/>
          </p:spPr>
          <p:txBody>
            <a:bodyPr wrap="square" rtlCol="0">
              <a:spAutoFit/>
            </a:bodyPr>
            <a:lstStyle/>
            <a:p>
              <a:r>
                <a:rPr lang="fr-FR" dirty="0">
                  <a:solidFill>
                    <a:srgbClr val="232F3F"/>
                  </a:solidFill>
                </a:rPr>
                <a:t>Facilitateur</a:t>
              </a:r>
            </a:p>
            <a:p>
              <a:r>
                <a:rPr lang="fr-FR" dirty="0">
                  <a:solidFill>
                    <a:srgbClr val="232F3F"/>
                  </a:solidFill>
                </a:rPr>
                <a:t>Garant de l’agilité</a:t>
              </a:r>
            </a:p>
          </p:txBody>
        </p:sp>
        <p:sp>
          <p:nvSpPr>
            <p:cNvPr id="17" name="ZoneTexte 16">
              <a:extLst>
                <a:ext uri="{FF2B5EF4-FFF2-40B4-BE49-F238E27FC236}">
                  <a16:creationId xmlns:a16="http://schemas.microsoft.com/office/drawing/2014/main" id="{EA72D94E-C7FD-522E-0AD1-5AA82B7694F4}"/>
                </a:ext>
              </a:extLst>
            </p:cNvPr>
            <p:cNvSpPr txBox="1"/>
            <p:nvPr/>
          </p:nvSpPr>
          <p:spPr>
            <a:xfrm>
              <a:off x="2465852" y="6323664"/>
              <a:ext cx="3848268" cy="480872"/>
            </a:xfrm>
            <a:prstGeom prst="rect">
              <a:avLst/>
            </a:prstGeom>
            <a:noFill/>
          </p:spPr>
          <p:txBody>
            <a:bodyPr wrap="square" rtlCol="0">
              <a:spAutoFit/>
            </a:bodyPr>
            <a:lstStyle/>
            <a:p>
              <a:r>
                <a:rPr lang="fr-FR" dirty="0">
                  <a:solidFill>
                    <a:srgbClr val="232F3F"/>
                  </a:solidFill>
                </a:rPr>
                <a:t>Estimation &amp; développement</a:t>
              </a:r>
            </a:p>
          </p:txBody>
        </p:sp>
        <p:sp>
          <p:nvSpPr>
            <p:cNvPr id="18" name="ZoneTexte 17">
              <a:extLst>
                <a:ext uri="{FF2B5EF4-FFF2-40B4-BE49-F238E27FC236}">
                  <a16:creationId xmlns:a16="http://schemas.microsoft.com/office/drawing/2014/main" id="{45F926A9-2755-80AC-FC32-57F7379FE5B6}"/>
                </a:ext>
              </a:extLst>
            </p:cNvPr>
            <p:cNvSpPr txBox="1"/>
            <p:nvPr/>
          </p:nvSpPr>
          <p:spPr>
            <a:xfrm>
              <a:off x="6684673" y="3823278"/>
              <a:ext cx="1396080" cy="480872"/>
            </a:xfrm>
            <a:prstGeom prst="rect">
              <a:avLst/>
            </a:prstGeom>
            <a:solidFill>
              <a:schemeClr val="bg1"/>
            </a:solidFill>
          </p:spPr>
          <p:txBody>
            <a:bodyPr wrap="square" rtlCol="0">
              <a:spAutoFit/>
            </a:bodyPr>
            <a:lstStyle/>
            <a:p>
              <a:r>
                <a:rPr lang="fr-FR" dirty="0">
                  <a:solidFill>
                    <a:srgbClr val="BE1218"/>
                  </a:solidFill>
                </a:rPr>
                <a:t>à l’écoute</a:t>
              </a:r>
            </a:p>
          </p:txBody>
        </p:sp>
        <p:sp>
          <p:nvSpPr>
            <p:cNvPr id="19" name="ZoneTexte 18">
              <a:extLst>
                <a:ext uri="{FF2B5EF4-FFF2-40B4-BE49-F238E27FC236}">
                  <a16:creationId xmlns:a16="http://schemas.microsoft.com/office/drawing/2014/main" id="{E748CBD2-8EDB-E5B3-2581-DE3F85962C58}"/>
                </a:ext>
              </a:extLst>
            </p:cNvPr>
            <p:cNvSpPr txBox="1"/>
            <p:nvPr/>
          </p:nvSpPr>
          <p:spPr>
            <a:xfrm>
              <a:off x="5087651" y="5758181"/>
              <a:ext cx="1476890" cy="480872"/>
            </a:xfrm>
            <a:prstGeom prst="rect">
              <a:avLst/>
            </a:prstGeom>
            <a:solidFill>
              <a:schemeClr val="bg1">
                <a:alpha val="0"/>
              </a:schemeClr>
            </a:solidFill>
          </p:spPr>
          <p:txBody>
            <a:bodyPr wrap="square" rtlCol="0">
              <a:spAutoFit/>
            </a:bodyPr>
            <a:lstStyle/>
            <a:p>
              <a:r>
                <a:rPr lang="fr-FR" dirty="0">
                  <a:solidFill>
                    <a:srgbClr val="BE1218"/>
                  </a:solidFill>
                </a:rPr>
                <a:t>s’engage</a:t>
              </a:r>
            </a:p>
          </p:txBody>
        </p:sp>
      </p:grpSp>
      <p:sp>
        <p:nvSpPr>
          <p:cNvPr id="20" name="Rectangle 5">
            <a:extLst>
              <a:ext uri="{FF2B5EF4-FFF2-40B4-BE49-F238E27FC236}">
                <a16:creationId xmlns:a16="http://schemas.microsoft.com/office/drawing/2014/main" id="{0F559318-A7EC-AB86-0462-B04FFAC5DE00}"/>
              </a:ext>
            </a:extLst>
          </p:cNvPr>
          <p:cNvSpPr/>
          <p:nvPr/>
        </p:nvSpPr>
        <p:spPr>
          <a:xfrm>
            <a:off x="6295869" y="4851985"/>
            <a:ext cx="2648381" cy="1168484"/>
          </a:xfrm>
          <a:prstGeom prst="wedgeRectCallout">
            <a:avLst>
              <a:gd name="adj1" fmla="val -47822"/>
              <a:gd name="adj2" fmla="val -20464"/>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600" dirty="0">
              <a:solidFill>
                <a:srgbClr val="5166A9"/>
              </a:solidFill>
            </a:endParaRPr>
          </a:p>
          <a:p>
            <a:pPr algn="ctr"/>
            <a:r>
              <a:rPr lang="fr-FR" sz="1600" dirty="0">
                <a:solidFill>
                  <a:srgbClr val="232F3F"/>
                </a:solidFill>
              </a:rPr>
              <a:t>La notion de MOA/MOE disparait </a:t>
            </a:r>
          </a:p>
          <a:p>
            <a:pPr algn="ctr"/>
            <a:r>
              <a:rPr lang="fr-FR" sz="1600" dirty="0">
                <a:solidFill>
                  <a:srgbClr val="C00000"/>
                </a:solidFill>
                <a:sym typeface="Wingdings" panose="05000000000000000000" pitchFamily="2" charset="2"/>
              </a:rPr>
              <a:t> </a:t>
            </a:r>
            <a:r>
              <a:rPr lang="fr-FR" sz="1600" dirty="0">
                <a:solidFill>
                  <a:srgbClr val="C00000"/>
                </a:solidFill>
              </a:rPr>
              <a:t>Tous ensemble</a:t>
            </a:r>
            <a:br>
              <a:rPr lang="fr-FR" sz="1600" dirty="0">
                <a:solidFill>
                  <a:srgbClr val="C00000"/>
                </a:solidFill>
              </a:rPr>
            </a:br>
            <a:r>
              <a:rPr lang="fr-FR" sz="1600" dirty="0">
                <a:solidFill>
                  <a:srgbClr val="C00000"/>
                </a:solidFill>
              </a:rPr>
              <a:t> pour créer de la valeur</a:t>
            </a:r>
          </a:p>
          <a:p>
            <a:endParaRPr lang="fr-FR" sz="1600" dirty="0">
              <a:solidFill>
                <a:srgbClr val="5166A9"/>
              </a:solidFill>
            </a:endParaRPr>
          </a:p>
        </p:txBody>
      </p:sp>
    </p:spTree>
    <p:extLst>
      <p:ext uri="{BB962C8B-B14F-4D97-AF65-F5344CB8AC3E}">
        <p14:creationId xmlns:p14="http://schemas.microsoft.com/office/powerpoint/2010/main" val="126231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4FF54ADC-0DFA-1322-EABB-F3DBCDC3FF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1078" y="1916832"/>
            <a:ext cx="1152001" cy="1152001"/>
          </a:xfrm>
          <a:prstGeom prst="rect">
            <a:avLst/>
          </a:prstGeom>
        </p:spPr>
      </p:pic>
      <p:sp>
        <p:nvSpPr>
          <p:cNvPr id="2" name="Titre 1"/>
          <p:cNvSpPr>
            <a:spLocks noGrp="1"/>
          </p:cNvSpPr>
          <p:nvPr>
            <p:ph type="title"/>
          </p:nvPr>
        </p:nvSpPr>
        <p:spPr/>
        <p:txBody>
          <a:bodyPr/>
          <a:lstStyle/>
          <a:p>
            <a:r>
              <a:rPr lang="fr-FR" dirty="0"/>
              <a:t>	Product Owner (PO)</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sp>
        <p:nvSpPr>
          <p:cNvPr id="4" name="Espace réservé du contenu 3"/>
          <p:cNvSpPr>
            <a:spLocks noGrp="1"/>
          </p:cNvSpPr>
          <p:nvPr>
            <p:ph sz="quarter" idx="12"/>
          </p:nvPr>
        </p:nvSpPr>
        <p:spPr>
          <a:xfrm>
            <a:off x="440921" y="1165009"/>
            <a:ext cx="8262158" cy="5135318"/>
          </a:xfrm>
        </p:spPr>
        <p:txBody>
          <a:bodyPr/>
          <a:lstStyle/>
          <a:p>
            <a:r>
              <a:rPr lang="fr-FR" dirty="0">
                <a:solidFill>
                  <a:srgbClr val="BE1218"/>
                </a:solidFill>
              </a:rPr>
              <a:t>Représente le client </a:t>
            </a:r>
            <a:r>
              <a:rPr lang="fr-FR" dirty="0"/>
              <a:t>et les utilisateurs du produit </a:t>
            </a:r>
            <a:endParaRPr lang="fr-FR" sz="800" dirty="0"/>
          </a:p>
          <a:p>
            <a:endParaRPr lang="fr-FR" sz="800" dirty="0"/>
          </a:p>
          <a:p>
            <a:r>
              <a:rPr lang="fr-FR" dirty="0"/>
              <a:t>Responsable du </a:t>
            </a:r>
            <a:r>
              <a:rPr lang="fr-FR" dirty="0">
                <a:solidFill>
                  <a:srgbClr val="BE1218"/>
                </a:solidFill>
              </a:rPr>
              <a:t>contenu fonctionnel</a:t>
            </a:r>
            <a:br>
              <a:rPr lang="fr-FR" dirty="0">
                <a:solidFill>
                  <a:srgbClr val="F29400"/>
                </a:solidFill>
              </a:rPr>
            </a:br>
            <a:r>
              <a:rPr lang="fr-FR" dirty="0"/>
              <a:t>et du planning global du projet (</a:t>
            </a:r>
            <a:r>
              <a:rPr lang="fr-FR" dirty="0">
                <a:solidFill>
                  <a:srgbClr val="BE1218"/>
                </a:solidFill>
              </a:rPr>
              <a:t>roadmap</a:t>
            </a:r>
            <a:r>
              <a:rPr lang="fr-FR" dirty="0"/>
              <a:t>)</a:t>
            </a:r>
            <a:endParaRPr lang="fr-FR" sz="800" dirty="0"/>
          </a:p>
          <a:p>
            <a:pPr lvl="1"/>
            <a:endParaRPr lang="fr-FR" sz="800" dirty="0"/>
          </a:p>
          <a:p>
            <a:r>
              <a:rPr lang="fr-FR" dirty="0"/>
              <a:t>Gère le </a:t>
            </a:r>
            <a:r>
              <a:rPr lang="fr-FR" dirty="0">
                <a:solidFill>
                  <a:srgbClr val="BE1218"/>
                </a:solidFill>
              </a:rPr>
              <a:t>backlog produit</a:t>
            </a:r>
            <a:endParaRPr lang="en-US" dirty="0">
              <a:solidFill>
                <a:srgbClr val="BE1218"/>
              </a:solidFill>
            </a:endParaRPr>
          </a:p>
          <a:p>
            <a:pPr lvl="1"/>
            <a:r>
              <a:rPr lang="fr-FR" dirty="0"/>
              <a:t>Porte la vision du produit (le QUOI)</a:t>
            </a:r>
          </a:p>
          <a:p>
            <a:pPr lvl="1"/>
            <a:r>
              <a:rPr lang="fr-FR" dirty="0"/>
              <a:t>Rédige les </a:t>
            </a:r>
            <a:r>
              <a:rPr lang="fr-FR" dirty="0">
                <a:solidFill>
                  <a:srgbClr val="BE1218"/>
                </a:solidFill>
              </a:rPr>
              <a:t>User Stories</a:t>
            </a:r>
            <a:r>
              <a:rPr lang="fr-FR" dirty="0"/>
              <a:t>, les </a:t>
            </a:r>
            <a:r>
              <a:rPr lang="fr-FR" dirty="0">
                <a:solidFill>
                  <a:srgbClr val="BE1218"/>
                </a:solidFill>
              </a:rPr>
              <a:t>cas de validation</a:t>
            </a:r>
          </a:p>
          <a:p>
            <a:pPr lvl="1"/>
            <a:r>
              <a:rPr lang="fr-FR" dirty="0"/>
              <a:t>Définit les </a:t>
            </a:r>
            <a:r>
              <a:rPr lang="fr-FR" dirty="0">
                <a:solidFill>
                  <a:srgbClr val="BE1218"/>
                </a:solidFill>
              </a:rPr>
              <a:t>priorités</a:t>
            </a:r>
            <a:r>
              <a:rPr lang="fr-FR" dirty="0"/>
              <a:t> en fonction de la valeur métier</a:t>
            </a:r>
            <a:endParaRPr lang="fr-FR" sz="800" dirty="0"/>
          </a:p>
          <a:p>
            <a:pPr lvl="1"/>
            <a:endParaRPr lang="fr-FR" sz="800" dirty="0"/>
          </a:p>
          <a:p>
            <a:r>
              <a:rPr lang="fr-FR" dirty="0"/>
              <a:t>Se rend </a:t>
            </a:r>
            <a:r>
              <a:rPr lang="fr-FR" dirty="0">
                <a:solidFill>
                  <a:srgbClr val="BE1218"/>
                </a:solidFill>
              </a:rPr>
              <a:t>disponible</a:t>
            </a:r>
            <a:r>
              <a:rPr lang="fr-FR" dirty="0"/>
              <a:t> auprès de l’équipe</a:t>
            </a:r>
            <a:endParaRPr lang="en-US" dirty="0"/>
          </a:p>
          <a:p>
            <a:pPr lvl="1"/>
            <a:r>
              <a:rPr lang="fr-FR" dirty="0"/>
              <a:t>Doit pouvoir prendre des décisions rapidement</a:t>
            </a:r>
          </a:p>
          <a:p>
            <a:pPr lvl="1"/>
            <a:r>
              <a:rPr lang="fr-FR" dirty="0"/>
              <a:t>Est ouvert au changement</a:t>
            </a:r>
            <a:endParaRPr lang="fr-FR" sz="800" dirty="0"/>
          </a:p>
          <a:p>
            <a:pPr lvl="1"/>
            <a:endParaRPr lang="fr-FR" sz="800" dirty="0"/>
          </a:p>
          <a:p>
            <a:r>
              <a:rPr lang="fr-FR" dirty="0">
                <a:solidFill>
                  <a:srgbClr val="BE1218"/>
                </a:solidFill>
              </a:rPr>
              <a:t>Valide</a:t>
            </a:r>
            <a:r>
              <a:rPr lang="fr-FR" dirty="0"/>
              <a:t> les livrables en </a:t>
            </a:r>
            <a:r>
              <a:rPr lang="fr-FR" dirty="0">
                <a:solidFill>
                  <a:srgbClr val="BE1218"/>
                </a:solidFill>
              </a:rPr>
              <a:t>fin de sprint</a:t>
            </a:r>
          </a:p>
        </p:txBody>
      </p:sp>
    </p:spTree>
    <p:extLst>
      <p:ext uri="{BB962C8B-B14F-4D97-AF65-F5344CB8AC3E}">
        <p14:creationId xmlns:p14="http://schemas.microsoft.com/office/powerpoint/2010/main" val="1314540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Equipe</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sp>
        <p:nvSpPr>
          <p:cNvPr id="4" name="Espace réservé du contenu 3"/>
          <p:cNvSpPr>
            <a:spLocks noGrp="1"/>
          </p:cNvSpPr>
          <p:nvPr>
            <p:ph sz="quarter" idx="12"/>
          </p:nvPr>
        </p:nvSpPr>
        <p:spPr/>
        <p:txBody>
          <a:bodyPr/>
          <a:lstStyle/>
          <a:p>
            <a:pPr>
              <a:buFont typeface="Wingdings 3" panose="05040102010807070707" pitchFamily="18" charset="2"/>
              <a:buChar char=""/>
            </a:pPr>
            <a:r>
              <a:rPr lang="fr-FR" dirty="0">
                <a:solidFill>
                  <a:srgbClr val="BE1218"/>
                </a:solidFill>
              </a:rPr>
              <a:t>Petite</a:t>
            </a:r>
            <a:r>
              <a:rPr lang="fr-FR" dirty="0"/>
              <a:t> : 5 à 9 personnes</a:t>
            </a:r>
            <a:endParaRPr lang="fr-FR" sz="800" dirty="0"/>
          </a:p>
          <a:p>
            <a:pPr>
              <a:buFont typeface="Wingdings 3" panose="05040102010807070707" pitchFamily="18" charset="2"/>
              <a:buChar char=""/>
            </a:pPr>
            <a:endParaRPr lang="fr-FR" sz="800" dirty="0"/>
          </a:p>
          <a:p>
            <a:pPr>
              <a:buFont typeface="Wingdings 3" panose="05040102010807070707" pitchFamily="18" charset="2"/>
              <a:buChar char=""/>
            </a:pPr>
            <a:r>
              <a:rPr lang="fr-FR" dirty="0">
                <a:solidFill>
                  <a:srgbClr val="BE1218"/>
                </a:solidFill>
              </a:rPr>
              <a:t>Auto-organisée</a:t>
            </a:r>
            <a:r>
              <a:rPr lang="fr-FR" dirty="0"/>
              <a:t> : pas de hiérarchie,</a:t>
            </a:r>
            <a:br>
              <a:rPr lang="fr-FR" dirty="0"/>
            </a:br>
            <a:r>
              <a:rPr lang="fr-FR" dirty="0"/>
              <a:t>décide du COMMENT, en un seul lieu</a:t>
            </a:r>
            <a:endParaRPr lang="fr-FR" sz="800" dirty="0"/>
          </a:p>
          <a:p>
            <a:pPr>
              <a:buFont typeface="Wingdings 3" panose="05040102010807070707" pitchFamily="18" charset="2"/>
              <a:buChar char=""/>
            </a:pPr>
            <a:endParaRPr kumimoji="1" lang="fr-FR" altLang="fr-FR" sz="800" dirty="0"/>
          </a:p>
          <a:p>
            <a:pPr>
              <a:buFont typeface="Wingdings 3" panose="05040102010807070707" pitchFamily="18" charset="2"/>
              <a:buChar char=""/>
            </a:pPr>
            <a:r>
              <a:rPr kumimoji="1" lang="fr-FR" altLang="fr-FR" dirty="0"/>
              <a:t>Tous </a:t>
            </a:r>
            <a:r>
              <a:rPr kumimoji="1" lang="fr-FR" altLang="fr-FR" dirty="0">
                <a:solidFill>
                  <a:srgbClr val="BE1218"/>
                </a:solidFill>
              </a:rPr>
              <a:t>acteurs</a:t>
            </a:r>
            <a:r>
              <a:rPr kumimoji="1" lang="fr-FR" altLang="fr-FR" dirty="0"/>
              <a:t>, tous </a:t>
            </a:r>
            <a:r>
              <a:rPr kumimoji="1" lang="fr-FR" altLang="fr-FR" dirty="0">
                <a:solidFill>
                  <a:srgbClr val="BE1218"/>
                </a:solidFill>
              </a:rPr>
              <a:t>impliqués</a:t>
            </a:r>
            <a:r>
              <a:rPr kumimoji="1" lang="fr-FR" altLang="fr-FR" dirty="0"/>
              <a:t>, tous </a:t>
            </a:r>
            <a:r>
              <a:rPr kumimoji="1" lang="fr-FR" altLang="fr-FR" dirty="0">
                <a:solidFill>
                  <a:srgbClr val="BE1218"/>
                </a:solidFill>
              </a:rPr>
              <a:t>utiles </a:t>
            </a:r>
          </a:p>
          <a:p>
            <a:pPr lvl="1">
              <a:spcBef>
                <a:spcPts val="138"/>
              </a:spcBef>
            </a:pPr>
            <a:r>
              <a:rPr lang="fr-FR" dirty="0"/>
              <a:t>Un but commun : apporter de la valeur au métier</a:t>
            </a:r>
          </a:p>
          <a:p>
            <a:pPr lvl="1">
              <a:spcBef>
                <a:spcPts val="138"/>
              </a:spcBef>
            </a:pPr>
            <a:r>
              <a:rPr lang="fr-FR" dirty="0"/>
              <a:t>Chacun </a:t>
            </a:r>
            <a:r>
              <a:rPr kumimoji="1" lang="fr-FR" altLang="fr-FR" dirty="0">
                <a:solidFill>
                  <a:srgbClr val="BE1218"/>
                </a:solidFill>
              </a:rPr>
              <a:t>conçoit, code, teste, estime</a:t>
            </a:r>
          </a:p>
          <a:p>
            <a:pPr lvl="1">
              <a:spcBef>
                <a:spcPts val="138"/>
              </a:spcBef>
            </a:pPr>
            <a:r>
              <a:rPr kumimoji="1" lang="fr-FR" altLang="fr-FR" dirty="0"/>
              <a:t>Pas spécialistes plutôt </a:t>
            </a:r>
            <a:r>
              <a:rPr kumimoji="1" lang="fr-FR" altLang="fr-FR" dirty="0">
                <a:solidFill>
                  <a:srgbClr val="BE1218"/>
                </a:solidFill>
              </a:rPr>
              <a:t>pluridisciplinaires</a:t>
            </a:r>
          </a:p>
          <a:p>
            <a:pPr lvl="1">
              <a:spcBef>
                <a:spcPts val="138"/>
              </a:spcBef>
            </a:pPr>
            <a:r>
              <a:rPr lang="fr-FR" dirty="0"/>
              <a:t>Transfert de compétences favorisé (</a:t>
            </a:r>
            <a:r>
              <a:rPr lang="fr-FR" dirty="0" err="1"/>
              <a:t>binomage</a:t>
            </a:r>
            <a:r>
              <a:rPr lang="fr-FR" dirty="0"/>
              <a:t>)</a:t>
            </a:r>
          </a:p>
          <a:p>
            <a:pPr lvl="1">
              <a:spcBef>
                <a:spcPts val="138"/>
              </a:spcBef>
            </a:pPr>
            <a:r>
              <a:rPr lang="fr-FR" dirty="0"/>
              <a:t>Amélioration continue : « apprendre en marchant »</a:t>
            </a:r>
          </a:p>
          <a:p>
            <a:pPr lvl="1">
              <a:spcBef>
                <a:spcPts val="138"/>
              </a:spcBef>
            </a:pPr>
            <a:endParaRPr lang="fr-FR" sz="800" dirty="0"/>
          </a:p>
          <a:p>
            <a:pPr>
              <a:buFont typeface="Wingdings 3" panose="05040102010807070707" pitchFamily="18" charset="2"/>
              <a:buChar char=""/>
            </a:pPr>
            <a:r>
              <a:rPr kumimoji="1" lang="fr-FR" altLang="fr-FR" dirty="0"/>
              <a:t>Travaille à un </a:t>
            </a:r>
            <a:r>
              <a:rPr kumimoji="1" lang="fr-FR" altLang="fr-FR" dirty="0">
                <a:solidFill>
                  <a:srgbClr val="C00000"/>
                </a:solidFill>
              </a:rPr>
              <a:t>rythme soutenable</a:t>
            </a:r>
          </a:p>
          <a:p>
            <a:pPr>
              <a:buFont typeface="Wingdings 3" panose="05040102010807070707" pitchFamily="18" charset="2"/>
              <a:buChar char=""/>
            </a:pPr>
            <a:endParaRPr lang="fr-FR" sz="800" dirty="0"/>
          </a:p>
          <a:p>
            <a:pPr>
              <a:buFont typeface="Wingdings 3" panose="05040102010807070707" pitchFamily="18" charset="2"/>
              <a:buChar char=""/>
            </a:pPr>
            <a:r>
              <a:rPr lang="fr-FR" dirty="0"/>
              <a:t>Résout ses conflits internes</a:t>
            </a:r>
          </a:p>
        </p:txBody>
      </p:sp>
      <p:pic>
        <p:nvPicPr>
          <p:cNvPr id="6" name="Image 5">
            <a:extLst>
              <a:ext uri="{FF2B5EF4-FFF2-40B4-BE49-F238E27FC236}">
                <a16:creationId xmlns:a16="http://schemas.microsoft.com/office/drawing/2014/main" id="{670C5FEC-6903-5165-69B7-845E97486C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5601" y="1386871"/>
            <a:ext cx="1666279" cy="1409928"/>
          </a:xfrm>
          <a:prstGeom prst="rect">
            <a:avLst/>
          </a:prstGeom>
        </p:spPr>
      </p:pic>
    </p:spTree>
    <p:extLst>
      <p:ext uri="{BB962C8B-B14F-4D97-AF65-F5344CB8AC3E}">
        <p14:creationId xmlns:p14="http://schemas.microsoft.com/office/powerpoint/2010/main" val="134696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Scrum Master</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sp>
        <p:nvSpPr>
          <p:cNvPr id="4" name="Espace réservé du contenu 3"/>
          <p:cNvSpPr>
            <a:spLocks noGrp="1"/>
          </p:cNvSpPr>
          <p:nvPr>
            <p:ph sz="quarter" idx="12"/>
          </p:nvPr>
        </p:nvSpPr>
        <p:spPr/>
        <p:txBody>
          <a:bodyPr/>
          <a:lstStyle/>
          <a:p>
            <a:r>
              <a:rPr lang="fr-FR" dirty="0"/>
              <a:t>Manage le process Scrum, pas l’équipe</a:t>
            </a:r>
            <a:endParaRPr lang="fr-FR" sz="800" dirty="0"/>
          </a:p>
          <a:p>
            <a:endParaRPr lang="fr-FR" sz="800" dirty="0"/>
          </a:p>
          <a:p>
            <a:r>
              <a:rPr lang="fr-FR" sz="3200" dirty="0">
                <a:solidFill>
                  <a:srgbClr val="BE1218"/>
                </a:solidFill>
                <a:latin typeface="Verdana" panose="020B0604030504040204" pitchFamily="34" charset="0"/>
                <a:ea typeface="Verdana" panose="020B0604030504040204" pitchFamily="34" charset="0"/>
              </a:rPr>
              <a:t>≠</a:t>
            </a:r>
            <a:r>
              <a:rPr lang="fr-FR" dirty="0"/>
              <a:t> Chef de Projet </a:t>
            </a:r>
            <a:r>
              <a:rPr lang="fr-FR" sz="3200" dirty="0">
                <a:solidFill>
                  <a:srgbClr val="BE1218"/>
                </a:solidFill>
                <a:latin typeface="Verdana" panose="020B0604030504040204" pitchFamily="34" charset="0"/>
                <a:ea typeface="Verdana" panose="020B0604030504040204" pitchFamily="34" charset="0"/>
              </a:rPr>
              <a:t>≠ </a:t>
            </a:r>
            <a:r>
              <a:rPr lang="fr-FR" dirty="0"/>
              <a:t>Leader technique</a:t>
            </a:r>
          </a:p>
          <a:p>
            <a:endParaRPr lang="fr-FR" sz="800" dirty="0"/>
          </a:p>
          <a:p>
            <a:r>
              <a:rPr lang="fr-FR" dirty="0"/>
              <a:t>Responsable de la </a:t>
            </a:r>
            <a:r>
              <a:rPr lang="fr-FR" dirty="0">
                <a:solidFill>
                  <a:srgbClr val="C00000"/>
                </a:solidFill>
              </a:rPr>
              <a:t>mise en œuvre</a:t>
            </a:r>
            <a:br>
              <a:rPr lang="fr-FR" dirty="0">
                <a:solidFill>
                  <a:srgbClr val="C00000"/>
                </a:solidFill>
              </a:rPr>
            </a:br>
            <a:r>
              <a:rPr lang="fr-FR" dirty="0"/>
              <a:t>des </a:t>
            </a:r>
            <a:r>
              <a:rPr lang="fr-FR" dirty="0">
                <a:solidFill>
                  <a:srgbClr val="C00000"/>
                </a:solidFill>
              </a:rPr>
              <a:t>pratiques</a:t>
            </a:r>
            <a:r>
              <a:rPr lang="fr-FR" dirty="0"/>
              <a:t> et des </a:t>
            </a:r>
            <a:r>
              <a:rPr lang="fr-FR" dirty="0">
                <a:solidFill>
                  <a:srgbClr val="C00000"/>
                </a:solidFill>
              </a:rPr>
              <a:t>valeurs </a:t>
            </a:r>
            <a:r>
              <a:rPr lang="fr-FR" dirty="0"/>
              <a:t>de </a:t>
            </a:r>
            <a:r>
              <a:rPr lang="fr-FR" dirty="0">
                <a:solidFill>
                  <a:srgbClr val="C00000"/>
                </a:solidFill>
              </a:rPr>
              <a:t>Scrum</a:t>
            </a:r>
            <a:endParaRPr lang="fr-FR" sz="800" dirty="0">
              <a:solidFill>
                <a:srgbClr val="C00000"/>
              </a:solidFill>
            </a:endParaRPr>
          </a:p>
          <a:p>
            <a:endParaRPr lang="fr-FR" sz="800" dirty="0"/>
          </a:p>
          <a:p>
            <a:r>
              <a:rPr lang="fr-FR" dirty="0"/>
              <a:t>Elimine les freins, les obstacles</a:t>
            </a:r>
            <a:endParaRPr lang="fr-FR" sz="800" dirty="0"/>
          </a:p>
          <a:p>
            <a:endParaRPr lang="fr-FR" sz="800" dirty="0"/>
          </a:p>
          <a:p>
            <a:r>
              <a:rPr lang="fr-FR" dirty="0"/>
              <a:t>Incite l’équipe à progresser</a:t>
            </a:r>
            <a:endParaRPr lang="fr-FR" sz="800" dirty="0"/>
          </a:p>
          <a:p>
            <a:endParaRPr lang="fr-FR" sz="800" dirty="0"/>
          </a:p>
          <a:p>
            <a:r>
              <a:rPr lang="fr-FR" dirty="0"/>
              <a:t>Encourage la collaboration de tous les membres</a:t>
            </a:r>
            <a:br>
              <a:rPr lang="fr-FR" dirty="0"/>
            </a:br>
            <a:r>
              <a:rPr lang="fr-FR" dirty="0"/>
              <a:t>du projet</a:t>
            </a:r>
          </a:p>
        </p:txBody>
      </p:sp>
      <p:pic>
        <p:nvPicPr>
          <p:cNvPr id="6" name="Image 5" descr="Une image contenant clipart, graphiques vectoriels&#10;&#10;Description générée automatiquement">
            <a:extLst>
              <a:ext uri="{FF2B5EF4-FFF2-40B4-BE49-F238E27FC236}">
                <a16:creationId xmlns:a16="http://schemas.microsoft.com/office/drawing/2014/main" id="{DB698EE8-8FF7-1B4C-C379-3AC80983D7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1255" y="1287779"/>
            <a:ext cx="1224577" cy="1217849"/>
          </a:xfrm>
          <a:prstGeom prst="rect">
            <a:avLst/>
          </a:prstGeom>
        </p:spPr>
      </p:pic>
    </p:spTree>
    <p:extLst>
      <p:ext uri="{BB962C8B-B14F-4D97-AF65-F5344CB8AC3E}">
        <p14:creationId xmlns:p14="http://schemas.microsoft.com/office/powerpoint/2010/main" val="343007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Product backlog</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sp>
        <p:nvSpPr>
          <p:cNvPr id="4" name="Espace réservé du contenu 3"/>
          <p:cNvSpPr>
            <a:spLocks noGrp="1"/>
          </p:cNvSpPr>
          <p:nvPr>
            <p:ph sz="quarter" idx="12"/>
          </p:nvPr>
        </p:nvSpPr>
        <p:spPr/>
        <p:txBody>
          <a:bodyPr/>
          <a:lstStyle/>
          <a:p>
            <a:r>
              <a:rPr lang="fr-FR" dirty="0"/>
              <a:t>Liste priorisée des besoins métiers exprimés</a:t>
            </a:r>
            <a:br>
              <a:rPr lang="fr-FR" dirty="0"/>
            </a:br>
            <a:r>
              <a:rPr lang="fr-FR" dirty="0"/>
              <a:t>sous forme de </a:t>
            </a:r>
            <a:r>
              <a:rPr lang="fr-FR" dirty="0">
                <a:solidFill>
                  <a:srgbClr val="C00000"/>
                </a:solidFill>
              </a:rPr>
              <a:t>User Story</a:t>
            </a:r>
            <a:endParaRPr lang="fr-FR" sz="800" dirty="0">
              <a:solidFill>
                <a:srgbClr val="C00000"/>
              </a:solidFill>
            </a:endParaRPr>
          </a:p>
          <a:p>
            <a:endParaRPr lang="fr-FR" sz="800" dirty="0"/>
          </a:p>
          <a:p>
            <a:r>
              <a:rPr lang="fr-FR" dirty="0"/>
              <a:t>Géré par </a:t>
            </a:r>
            <a:r>
              <a:rPr lang="fr-FR" dirty="0">
                <a:solidFill>
                  <a:srgbClr val="C00000"/>
                </a:solidFill>
              </a:rPr>
              <a:t>le Product Owner</a:t>
            </a:r>
            <a:endParaRPr lang="fr-FR" sz="800" dirty="0">
              <a:solidFill>
                <a:srgbClr val="C00000"/>
              </a:solidFill>
            </a:endParaRPr>
          </a:p>
          <a:p>
            <a:endParaRPr lang="fr-FR" sz="800" dirty="0"/>
          </a:p>
          <a:p>
            <a:r>
              <a:rPr lang="fr-FR" dirty="0"/>
              <a:t>Le contenu peut évoluer en cours de projet</a:t>
            </a:r>
            <a:endParaRPr lang="fr-FR" sz="800" dirty="0"/>
          </a:p>
          <a:p>
            <a:endParaRPr lang="fr-FR" sz="800" dirty="0"/>
          </a:p>
          <a:p>
            <a:r>
              <a:rPr lang="fr-FR" dirty="0"/>
              <a:t>Les priorités peuvent changer en cours de projet </a:t>
            </a:r>
          </a:p>
        </p:txBody>
      </p:sp>
    </p:spTree>
    <p:extLst>
      <p:ext uri="{BB962C8B-B14F-4D97-AF65-F5344CB8AC3E}">
        <p14:creationId xmlns:p14="http://schemas.microsoft.com/office/powerpoint/2010/main" val="1887766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CDC6F1-48F6-927D-15B5-3C60BE3D6972}"/>
              </a:ext>
            </a:extLst>
          </p:cNvPr>
          <p:cNvSpPr>
            <a:spLocks noGrp="1"/>
          </p:cNvSpPr>
          <p:nvPr>
            <p:ph type="title"/>
          </p:nvPr>
        </p:nvSpPr>
        <p:spPr/>
        <p:txBody>
          <a:bodyPr/>
          <a:lstStyle/>
          <a:p>
            <a:r>
              <a:rPr lang="fr-FR" dirty="0"/>
              <a:t>	User Story</a:t>
            </a:r>
          </a:p>
        </p:txBody>
      </p:sp>
      <p:sp>
        <p:nvSpPr>
          <p:cNvPr id="3" name="Espace réservé du pied de page 2">
            <a:extLst>
              <a:ext uri="{FF2B5EF4-FFF2-40B4-BE49-F238E27FC236}">
                <a16:creationId xmlns:a16="http://schemas.microsoft.com/office/drawing/2014/main" id="{BD92E978-DE84-1257-2A64-E2C6C3B5A901}"/>
              </a:ext>
            </a:extLst>
          </p:cNvPr>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a:extLst>
              <a:ext uri="{FF2B5EF4-FFF2-40B4-BE49-F238E27FC236}">
                <a16:creationId xmlns:a16="http://schemas.microsoft.com/office/drawing/2014/main" id="{46A8FE71-12F1-0B52-C13A-A7268E2E50B3}"/>
              </a:ext>
            </a:extLst>
          </p:cNvPr>
          <p:cNvSpPr>
            <a:spLocks noGrp="1"/>
          </p:cNvSpPr>
          <p:nvPr>
            <p:ph sz="quarter" idx="12"/>
          </p:nvPr>
        </p:nvSpPr>
        <p:spPr>
          <a:xfrm>
            <a:off x="395288" y="1268760"/>
            <a:ext cx="8708245" cy="4752975"/>
          </a:xfrm>
        </p:spPr>
        <p:txBody>
          <a:bodyPr/>
          <a:lstStyle/>
          <a:p>
            <a:r>
              <a:rPr lang="fr-FR" dirty="0"/>
              <a:t>Exprime une </a:t>
            </a:r>
            <a:r>
              <a:rPr lang="fr-FR" dirty="0">
                <a:solidFill>
                  <a:srgbClr val="BE1218"/>
                </a:solidFill>
              </a:rPr>
              <a:t>fonctionnalité</a:t>
            </a:r>
            <a:r>
              <a:rPr lang="fr-FR" dirty="0"/>
              <a:t>, pas une solution</a:t>
            </a:r>
          </a:p>
          <a:p>
            <a:pPr lvl="1"/>
            <a:r>
              <a:rPr lang="fr-FR" dirty="0"/>
              <a:t>Description courte</a:t>
            </a:r>
          </a:p>
          <a:p>
            <a:pPr lvl="1"/>
            <a:r>
              <a:rPr lang="fr-FR" dirty="0"/>
              <a:t>A de la valeur pour le client</a:t>
            </a:r>
          </a:p>
          <a:p>
            <a:pPr lvl="1"/>
            <a:r>
              <a:rPr lang="fr-FR" dirty="0"/>
              <a:t>Négociable, les détails sont discutés en équipe</a:t>
            </a:r>
          </a:p>
          <a:p>
            <a:pPr lvl="1"/>
            <a:r>
              <a:rPr lang="fr-FR" dirty="0"/>
              <a:t>Suffisamment petite</a:t>
            </a:r>
          </a:p>
          <a:p>
            <a:pPr lvl="1"/>
            <a:r>
              <a:rPr lang="fr-FR" dirty="0"/>
              <a:t>Estimable</a:t>
            </a:r>
          </a:p>
          <a:p>
            <a:pPr lvl="1"/>
            <a:r>
              <a:rPr lang="fr-FR" dirty="0"/>
              <a:t>Testable</a:t>
            </a:r>
          </a:p>
        </p:txBody>
      </p:sp>
      <p:grpSp>
        <p:nvGrpSpPr>
          <p:cNvPr id="5" name="Groupe 4">
            <a:extLst>
              <a:ext uri="{FF2B5EF4-FFF2-40B4-BE49-F238E27FC236}">
                <a16:creationId xmlns:a16="http://schemas.microsoft.com/office/drawing/2014/main" id="{1E67E34B-EAE7-49FE-EE64-87C7B75A59EC}"/>
              </a:ext>
            </a:extLst>
          </p:cNvPr>
          <p:cNvGrpSpPr/>
          <p:nvPr/>
        </p:nvGrpSpPr>
        <p:grpSpPr>
          <a:xfrm>
            <a:off x="3680833" y="3348191"/>
            <a:ext cx="4986154" cy="2776836"/>
            <a:chOff x="1835696" y="2924944"/>
            <a:chExt cx="4986154" cy="2776836"/>
          </a:xfrm>
        </p:grpSpPr>
        <p:pic>
          <p:nvPicPr>
            <p:cNvPr id="6" name="Espace réservé du contenu 11">
              <a:extLst>
                <a:ext uri="{FF2B5EF4-FFF2-40B4-BE49-F238E27FC236}">
                  <a16:creationId xmlns:a16="http://schemas.microsoft.com/office/drawing/2014/main" id="{6C0AC784-EEBC-A046-D2C6-A98017E87F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2924944"/>
              <a:ext cx="4986154" cy="2736304"/>
            </a:xfrm>
            <a:prstGeom prst="rect">
              <a:avLst/>
            </a:prstGeom>
          </p:spPr>
        </p:pic>
        <p:sp>
          <p:nvSpPr>
            <p:cNvPr id="7" name="ZoneTexte 6">
              <a:extLst>
                <a:ext uri="{FF2B5EF4-FFF2-40B4-BE49-F238E27FC236}">
                  <a16:creationId xmlns:a16="http://schemas.microsoft.com/office/drawing/2014/main" id="{7AC40747-6073-F3EE-937D-9D5BCD27C320}"/>
                </a:ext>
              </a:extLst>
            </p:cNvPr>
            <p:cNvSpPr txBox="1"/>
            <p:nvPr/>
          </p:nvSpPr>
          <p:spPr>
            <a:xfrm>
              <a:off x="2019890" y="3301121"/>
              <a:ext cx="4640342" cy="1200329"/>
            </a:xfrm>
            <a:prstGeom prst="rect">
              <a:avLst/>
            </a:prstGeom>
            <a:noFill/>
          </p:spPr>
          <p:txBody>
            <a:bodyPr wrap="square" rtlCol="0">
              <a:spAutoFit/>
            </a:bodyPr>
            <a:lstStyle/>
            <a:p>
              <a:r>
                <a:rPr lang="fr-FR" dirty="0"/>
                <a:t>EN TANT QUE	 : [rôle, utilisateur]</a:t>
              </a:r>
            </a:p>
            <a:p>
              <a:r>
                <a:rPr lang="fr-FR" dirty="0"/>
                <a:t>JE VEUX       	 : [but, action]</a:t>
              </a:r>
            </a:p>
            <a:p>
              <a:r>
                <a:rPr lang="fr-FR" dirty="0"/>
                <a:t>AFIN DE          	 : [justification, bénéfice]</a:t>
              </a:r>
            </a:p>
            <a:p>
              <a:endParaRPr lang="fr-FR" dirty="0"/>
            </a:p>
          </p:txBody>
        </p:sp>
        <p:sp>
          <p:nvSpPr>
            <p:cNvPr id="8" name="ZoneTexte 7">
              <a:extLst>
                <a:ext uri="{FF2B5EF4-FFF2-40B4-BE49-F238E27FC236}">
                  <a16:creationId xmlns:a16="http://schemas.microsoft.com/office/drawing/2014/main" id="{2DDB052E-7D1C-211F-A99E-A7EDD88BAC6A}"/>
                </a:ext>
              </a:extLst>
            </p:cNvPr>
            <p:cNvSpPr txBox="1"/>
            <p:nvPr/>
          </p:nvSpPr>
          <p:spPr>
            <a:xfrm>
              <a:off x="2048465" y="4501451"/>
              <a:ext cx="3531647" cy="1200329"/>
            </a:xfrm>
            <a:prstGeom prst="rect">
              <a:avLst/>
            </a:prstGeom>
            <a:noFill/>
          </p:spPr>
          <p:txBody>
            <a:bodyPr wrap="square" rtlCol="0">
              <a:spAutoFit/>
            </a:bodyPr>
            <a:lstStyle/>
            <a:p>
              <a:r>
                <a:rPr lang="fr-FR" dirty="0"/>
                <a:t>+ ATTRIBUTS : </a:t>
              </a:r>
            </a:p>
            <a:p>
              <a:r>
                <a:rPr lang="fr-FR" dirty="0"/>
                <a:t>[priorité, complexité technique, </a:t>
              </a:r>
            </a:p>
            <a:p>
              <a:r>
                <a:rPr lang="fr-FR" dirty="0"/>
                <a:t>valeur métier, état] </a:t>
              </a:r>
            </a:p>
            <a:p>
              <a:endParaRPr lang="fr-FR" dirty="0"/>
            </a:p>
          </p:txBody>
        </p:sp>
      </p:grpSp>
    </p:spTree>
    <p:extLst>
      <p:ext uri="{BB962C8B-B14F-4D97-AF65-F5344CB8AC3E}">
        <p14:creationId xmlns:p14="http://schemas.microsoft.com/office/powerpoint/2010/main" val="270660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User Story - Compléments</a:t>
            </a:r>
          </a:p>
        </p:txBody>
      </p:sp>
      <p:sp>
        <p:nvSpPr>
          <p:cNvPr id="3" name="Espace réservé du pied de page 2"/>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p:cNvSpPr>
            <a:spLocks noGrp="1"/>
          </p:cNvSpPr>
          <p:nvPr>
            <p:ph sz="quarter" idx="12"/>
          </p:nvPr>
        </p:nvSpPr>
        <p:spPr/>
        <p:txBody>
          <a:bodyPr/>
          <a:lstStyle/>
          <a:p>
            <a:r>
              <a:rPr lang="fr-FR" dirty="0"/>
              <a:t>Priorité : </a:t>
            </a:r>
            <a:r>
              <a:rPr lang="fr-FR" dirty="0">
                <a:solidFill>
                  <a:srgbClr val="BE1218"/>
                </a:solidFill>
              </a:rPr>
              <a:t>M</a:t>
            </a:r>
            <a:r>
              <a:rPr lang="fr-FR" dirty="0"/>
              <a:t>ust / </a:t>
            </a:r>
            <a:r>
              <a:rPr lang="fr-FR" dirty="0" err="1">
                <a:solidFill>
                  <a:srgbClr val="BE1218"/>
                </a:solidFill>
              </a:rPr>
              <a:t>S</a:t>
            </a:r>
            <a:r>
              <a:rPr lang="fr-FR" dirty="0" err="1"/>
              <a:t>hould</a:t>
            </a:r>
            <a:r>
              <a:rPr lang="fr-FR" dirty="0"/>
              <a:t> / </a:t>
            </a:r>
            <a:r>
              <a:rPr lang="fr-FR" dirty="0" err="1">
                <a:solidFill>
                  <a:srgbClr val="BE1218"/>
                </a:solidFill>
              </a:rPr>
              <a:t>C</a:t>
            </a:r>
            <a:r>
              <a:rPr lang="fr-FR" dirty="0" err="1"/>
              <a:t>ould</a:t>
            </a:r>
            <a:r>
              <a:rPr lang="fr-FR" dirty="0"/>
              <a:t> / </a:t>
            </a:r>
            <a:r>
              <a:rPr lang="fr-FR" dirty="0" err="1">
                <a:solidFill>
                  <a:srgbClr val="BE1218"/>
                </a:solidFill>
              </a:rPr>
              <a:t>W</a:t>
            </a:r>
            <a:r>
              <a:rPr lang="fr-FR" dirty="0" err="1"/>
              <a:t>on’t</a:t>
            </a:r>
            <a:r>
              <a:rPr lang="fr-FR" dirty="0"/>
              <a:t> have (</a:t>
            </a:r>
            <a:r>
              <a:rPr lang="fr-FR" dirty="0" err="1">
                <a:solidFill>
                  <a:srgbClr val="BE1218"/>
                </a:solidFill>
              </a:rPr>
              <a:t>M</a:t>
            </a:r>
            <a:r>
              <a:rPr lang="fr-FR" dirty="0" err="1"/>
              <a:t>o</a:t>
            </a:r>
            <a:r>
              <a:rPr lang="fr-FR" dirty="0" err="1">
                <a:solidFill>
                  <a:srgbClr val="BE1218"/>
                </a:solidFill>
              </a:rPr>
              <a:t>SC</a:t>
            </a:r>
            <a:r>
              <a:rPr lang="fr-FR" dirty="0" err="1"/>
              <a:t>o</a:t>
            </a:r>
            <a:r>
              <a:rPr lang="fr-FR" dirty="0" err="1">
                <a:solidFill>
                  <a:srgbClr val="BE1218"/>
                </a:solidFill>
              </a:rPr>
              <a:t>W</a:t>
            </a:r>
            <a:r>
              <a:rPr lang="fr-FR" dirty="0"/>
              <a:t>)</a:t>
            </a:r>
            <a:endParaRPr lang="fr-FR" sz="800" dirty="0"/>
          </a:p>
          <a:p>
            <a:endParaRPr lang="fr-FR" sz="800" dirty="0"/>
          </a:p>
          <a:p>
            <a:r>
              <a:rPr lang="fr-FR" dirty="0"/>
              <a:t>Complexité de réalisation : </a:t>
            </a:r>
            <a:br>
              <a:rPr lang="fr-FR" dirty="0"/>
            </a:br>
            <a:r>
              <a:rPr lang="fr-FR" dirty="0"/>
              <a:t>1, 2, 3, 5, 8, 13, 21, …  (suite de Fibonacci)</a:t>
            </a:r>
            <a:endParaRPr lang="fr-FR" sz="800" dirty="0"/>
          </a:p>
          <a:p>
            <a:endParaRPr lang="fr-FR" sz="800" dirty="0"/>
          </a:p>
          <a:p>
            <a:r>
              <a:rPr lang="fr-FR" dirty="0"/>
              <a:t>Valeur métier : 10, 20, 30, …</a:t>
            </a:r>
            <a:endParaRPr lang="fr-FR" sz="800" dirty="0"/>
          </a:p>
          <a:p>
            <a:endParaRPr lang="fr-FR" sz="800" dirty="0"/>
          </a:p>
          <a:p>
            <a:r>
              <a:rPr lang="fr-FR" dirty="0"/>
              <a:t>Etat : A définir, A faire, En cours, Terminée</a:t>
            </a:r>
          </a:p>
          <a:p>
            <a:endParaRPr lang="fr-FR" dirty="0"/>
          </a:p>
        </p:txBody>
      </p:sp>
    </p:spTree>
    <p:extLst>
      <p:ext uri="{BB962C8B-B14F-4D97-AF65-F5344CB8AC3E}">
        <p14:creationId xmlns:p14="http://schemas.microsoft.com/office/powerpoint/2010/main" val="574661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ADF01E-92DD-A9ED-4C93-1575DD259ED0}"/>
              </a:ext>
            </a:extLst>
          </p:cNvPr>
          <p:cNvSpPr>
            <a:spLocks noGrp="1"/>
          </p:cNvSpPr>
          <p:nvPr>
            <p:ph type="title"/>
          </p:nvPr>
        </p:nvSpPr>
        <p:spPr>
          <a:xfrm>
            <a:off x="-5166" y="21227"/>
            <a:ext cx="9144000" cy="1152000"/>
          </a:xfrm>
        </p:spPr>
        <p:txBody>
          <a:bodyPr/>
          <a:lstStyle/>
          <a:p>
            <a:r>
              <a:rPr lang="fr-FR" dirty="0"/>
              <a:t>	Déroulement d’un sprint</a:t>
            </a:r>
          </a:p>
        </p:txBody>
      </p:sp>
      <p:sp>
        <p:nvSpPr>
          <p:cNvPr id="3" name="Espace réservé du pied de page 2">
            <a:extLst>
              <a:ext uri="{FF2B5EF4-FFF2-40B4-BE49-F238E27FC236}">
                <a16:creationId xmlns:a16="http://schemas.microsoft.com/office/drawing/2014/main" id="{7D7AB693-7C36-F73B-5783-4E171B9881CA}"/>
              </a:ext>
            </a:extLst>
          </p:cNvPr>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a:extLst>
              <a:ext uri="{FF2B5EF4-FFF2-40B4-BE49-F238E27FC236}">
                <a16:creationId xmlns:a16="http://schemas.microsoft.com/office/drawing/2014/main" id="{7AF6BEAD-1F39-7189-C15D-38C075DC2D90}"/>
              </a:ext>
            </a:extLst>
          </p:cNvPr>
          <p:cNvSpPr>
            <a:spLocks noGrp="1"/>
          </p:cNvSpPr>
          <p:nvPr>
            <p:ph sz="quarter" idx="12"/>
          </p:nvPr>
        </p:nvSpPr>
        <p:spPr>
          <a:xfrm>
            <a:off x="435755" y="2852936"/>
            <a:ext cx="8262158" cy="3212520"/>
          </a:xfrm>
        </p:spPr>
        <p:txBody>
          <a:bodyPr/>
          <a:lstStyle/>
          <a:p>
            <a:pPr>
              <a:buClr>
                <a:srgbClr val="BE1218"/>
              </a:buClr>
            </a:pPr>
            <a:r>
              <a:rPr lang="fr-FR" dirty="0"/>
              <a:t>L’équipe est concentrée sur la réalisation des items du sprint backlog</a:t>
            </a:r>
          </a:p>
          <a:p>
            <a:pPr>
              <a:buClr>
                <a:srgbClr val="BE1218"/>
              </a:buClr>
            </a:pPr>
            <a:r>
              <a:rPr lang="fr-FR" dirty="0"/>
              <a:t>La sortie de sprint est un incrément constitué</a:t>
            </a:r>
            <a:br>
              <a:rPr lang="fr-FR" dirty="0"/>
            </a:br>
            <a:r>
              <a:rPr lang="fr-FR" dirty="0"/>
              <a:t>des </a:t>
            </a:r>
            <a:r>
              <a:rPr lang="fr-FR" dirty="0">
                <a:solidFill>
                  <a:srgbClr val="BE1218"/>
                </a:solidFill>
              </a:rPr>
              <a:t>items finis </a:t>
            </a:r>
            <a:r>
              <a:rPr lang="fr-FR" dirty="0"/>
              <a:t>(Définition Of DONE)</a:t>
            </a:r>
          </a:p>
          <a:p>
            <a:pPr>
              <a:buClr>
                <a:srgbClr val="BE1218"/>
              </a:buClr>
            </a:pPr>
            <a:r>
              <a:rPr lang="fr-FR" dirty="0"/>
              <a:t>Les items non terminés ne seront pas embarqués</a:t>
            </a:r>
            <a:br>
              <a:rPr lang="fr-FR" dirty="0"/>
            </a:br>
            <a:r>
              <a:rPr lang="fr-FR" dirty="0"/>
              <a:t>lors de la revue de sprint</a:t>
            </a:r>
          </a:p>
          <a:p>
            <a:pPr>
              <a:buClr>
                <a:srgbClr val="BE1218"/>
              </a:buClr>
            </a:pPr>
            <a:r>
              <a:rPr lang="fr-FR" kern="0" dirty="0"/>
              <a:t>Le livrable d’un sprint est potentiellement </a:t>
            </a:r>
            <a:r>
              <a:rPr lang="fr-FR" i="1" kern="0" dirty="0" err="1"/>
              <a:t>ready</a:t>
            </a:r>
            <a:r>
              <a:rPr lang="fr-FR" i="1" kern="0" dirty="0"/>
              <a:t>-</a:t>
            </a:r>
            <a:r>
              <a:rPr lang="fr-FR" i="1" kern="0" dirty="0" err="1"/>
              <a:t>to-production</a:t>
            </a:r>
            <a:r>
              <a:rPr lang="fr-FR" kern="0" dirty="0"/>
              <a:t> </a:t>
            </a:r>
          </a:p>
          <a:p>
            <a:endParaRPr lang="fr-FR" dirty="0"/>
          </a:p>
        </p:txBody>
      </p:sp>
      <p:grpSp>
        <p:nvGrpSpPr>
          <p:cNvPr id="7" name="Groupe 6">
            <a:extLst>
              <a:ext uri="{FF2B5EF4-FFF2-40B4-BE49-F238E27FC236}">
                <a16:creationId xmlns:a16="http://schemas.microsoft.com/office/drawing/2014/main" id="{883D27AD-DFB8-3B25-10FE-12B9607F2543}"/>
              </a:ext>
            </a:extLst>
          </p:cNvPr>
          <p:cNvGrpSpPr/>
          <p:nvPr/>
        </p:nvGrpSpPr>
        <p:grpSpPr>
          <a:xfrm>
            <a:off x="611560" y="1344707"/>
            <a:ext cx="8086353" cy="1336748"/>
            <a:chOff x="849429" y="1173227"/>
            <a:chExt cx="7560840" cy="1336748"/>
          </a:xfrm>
        </p:grpSpPr>
        <p:graphicFrame>
          <p:nvGraphicFramePr>
            <p:cNvPr id="5" name="Espace réservé du contenu 4">
              <a:extLst>
                <a:ext uri="{FF2B5EF4-FFF2-40B4-BE49-F238E27FC236}">
                  <a16:creationId xmlns:a16="http://schemas.microsoft.com/office/drawing/2014/main" id="{04AFFE43-E8FD-B624-87A4-0B31C5C5993F}"/>
                </a:ext>
              </a:extLst>
            </p:cNvPr>
            <p:cNvGraphicFramePr>
              <a:graphicFrameLocks/>
            </p:cNvGraphicFramePr>
            <p:nvPr>
              <p:extLst>
                <p:ext uri="{D42A27DB-BD31-4B8C-83A1-F6EECF244321}">
                  <p14:modId xmlns:p14="http://schemas.microsoft.com/office/powerpoint/2010/main" val="2875595511"/>
                </p:ext>
              </p:extLst>
            </p:nvPr>
          </p:nvGraphicFramePr>
          <p:xfrm>
            <a:off x="849429" y="1674345"/>
            <a:ext cx="7560840" cy="8356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ZoneTexte 5">
              <a:extLst>
                <a:ext uri="{FF2B5EF4-FFF2-40B4-BE49-F238E27FC236}">
                  <a16:creationId xmlns:a16="http://schemas.microsoft.com/office/drawing/2014/main" id="{6ECBDAC0-49C9-2317-0DE6-BC8718BCA00A}"/>
                </a:ext>
              </a:extLst>
            </p:cNvPr>
            <p:cNvSpPr txBox="1"/>
            <p:nvPr/>
          </p:nvSpPr>
          <p:spPr>
            <a:xfrm>
              <a:off x="849429" y="1173227"/>
              <a:ext cx="7445142" cy="677108"/>
            </a:xfrm>
            <a:prstGeom prst="rect">
              <a:avLst/>
            </a:prstGeom>
            <a:noFill/>
          </p:spPr>
          <p:txBody>
            <a:bodyPr wrap="square" rtlCol="0">
              <a:spAutoFit/>
            </a:bodyPr>
            <a:lstStyle/>
            <a:p>
              <a:r>
                <a:rPr lang="fr-FR" sz="2000" dirty="0">
                  <a:solidFill>
                    <a:srgbClr val="232F3F"/>
                  </a:solidFill>
                  <a:latin typeface="+mn-lt"/>
                </a:rPr>
                <a:t>Les sprints (itérations) ont </a:t>
              </a:r>
              <a:r>
                <a:rPr lang="fr-FR" sz="2000" dirty="0">
                  <a:solidFill>
                    <a:srgbClr val="BE1218"/>
                  </a:solidFill>
                  <a:latin typeface="+mn-lt"/>
                </a:rPr>
                <a:t>une durée fixe </a:t>
              </a:r>
              <a:r>
                <a:rPr lang="fr-FR" sz="2000" dirty="0">
                  <a:solidFill>
                    <a:srgbClr val="232F3F"/>
                  </a:solidFill>
                  <a:latin typeface="+mn-lt"/>
                </a:rPr>
                <a:t>=</a:t>
              </a:r>
              <a:r>
                <a:rPr lang="fr-FR" sz="2000" dirty="0">
                  <a:solidFill>
                    <a:srgbClr val="5166A9"/>
                  </a:solidFill>
                  <a:latin typeface="+mn-lt"/>
                </a:rPr>
                <a:t> </a:t>
              </a:r>
              <a:r>
                <a:rPr lang="fr-FR" sz="2000" dirty="0">
                  <a:solidFill>
                    <a:srgbClr val="BE1218"/>
                  </a:solidFill>
                </a:rPr>
                <a:t>1 à 4 semaines</a:t>
              </a:r>
            </a:p>
            <a:p>
              <a:endParaRPr lang="fr-FR" dirty="0">
                <a:solidFill>
                  <a:srgbClr val="3D64A9"/>
                </a:solidFill>
                <a:latin typeface="+mn-lt"/>
              </a:endParaRPr>
            </a:p>
          </p:txBody>
        </p:sp>
      </p:grpSp>
    </p:spTree>
    <p:extLst>
      <p:ext uri="{BB962C8B-B14F-4D97-AF65-F5344CB8AC3E}">
        <p14:creationId xmlns:p14="http://schemas.microsoft.com/office/powerpoint/2010/main" val="551730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08C06C1-D8DB-045B-66E2-DB0E141ACD6F}"/>
              </a:ext>
            </a:extLst>
          </p:cNvPr>
          <p:cNvPicPr>
            <a:picLocks noChangeAspect="1"/>
          </p:cNvPicPr>
          <p:nvPr/>
        </p:nvPicPr>
        <p:blipFill rotWithShape="1">
          <a:blip r:embed="rId3">
            <a:extLst>
              <a:ext uri="{28A0092B-C50C-407E-A947-70E740481C1C}">
                <a14:useLocalDpi xmlns:a14="http://schemas.microsoft.com/office/drawing/2010/main" val="0"/>
              </a:ext>
            </a:extLst>
          </a:blip>
          <a:srcRect b="5760"/>
          <a:stretch/>
        </p:blipFill>
        <p:spPr>
          <a:xfrm>
            <a:off x="3851796" y="3717032"/>
            <a:ext cx="4670429" cy="2448272"/>
          </a:xfrm>
          <a:prstGeom prst="rect">
            <a:avLst/>
          </a:prstGeom>
        </p:spPr>
      </p:pic>
      <p:sp>
        <p:nvSpPr>
          <p:cNvPr id="2" name="Titre 1">
            <a:extLst>
              <a:ext uri="{FF2B5EF4-FFF2-40B4-BE49-F238E27FC236}">
                <a16:creationId xmlns:a16="http://schemas.microsoft.com/office/drawing/2014/main" id="{A6ADF01E-92DD-A9ED-4C93-1575DD259ED0}"/>
              </a:ext>
            </a:extLst>
          </p:cNvPr>
          <p:cNvSpPr>
            <a:spLocks noGrp="1"/>
          </p:cNvSpPr>
          <p:nvPr>
            <p:ph type="title"/>
          </p:nvPr>
        </p:nvSpPr>
        <p:spPr>
          <a:xfrm>
            <a:off x="0" y="-14991"/>
            <a:ext cx="9144000" cy="1152000"/>
          </a:xfrm>
        </p:spPr>
        <p:txBody>
          <a:bodyPr/>
          <a:lstStyle/>
          <a:p>
            <a:r>
              <a:rPr lang="fr-FR" dirty="0"/>
              <a:t>	Vélocité</a:t>
            </a:r>
          </a:p>
        </p:txBody>
      </p:sp>
      <p:sp>
        <p:nvSpPr>
          <p:cNvPr id="3" name="Espace réservé du pied de page 2">
            <a:extLst>
              <a:ext uri="{FF2B5EF4-FFF2-40B4-BE49-F238E27FC236}">
                <a16:creationId xmlns:a16="http://schemas.microsoft.com/office/drawing/2014/main" id="{7D7AB693-7C36-F73B-5783-4E171B9881CA}"/>
              </a:ext>
            </a:extLst>
          </p:cNvPr>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a:extLst>
              <a:ext uri="{FF2B5EF4-FFF2-40B4-BE49-F238E27FC236}">
                <a16:creationId xmlns:a16="http://schemas.microsoft.com/office/drawing/2014/main" id="{7AF6BEAD-1F39-7189-C15D-38C075DC2D90}"/>
              </a:ext>
            </a:extLst>
          </p:cNvPr>
          <p:cNvSpPr>
            <a:spLocks noGrp="1"/>
          </p:cNvSpPr>
          <p:nvPr>
            <p:ph sz="quarter" idx="12"/>
          </p:nvPr>
        </p:nvSpPr>
        <p:spPr>
          <a:xfrm>
            <a:off x="443117" y="1340391"/>
            <a:ext cx="8312709" cy="4177217"/>
          </a:xfrm>
        </p:spPr>
        <p:txBody>
          <a:bodyPr/>
          <a:lstStyle/>
          <a:p>
            <a:pPr>
              <a:buClr>
                <a:srgbClr val="BE1218"/>
              </a:buClr>
            </a:pPr>
            <a:r>
              <a:rPr lang="fr-FR" dirty="0">
                <a:solidFill>
                  <a:srgbClr val="C00000"/>
                </a:solidFill>
              </a:rPr>
              <a:t>Effort</a:t>
            </a:r>
            <a:r>
              <a:rPr lang="fr-FR" dirty="0"/>
              <a:t> que l’équipe est capable de réaliser pendant un sprint exprimé </a:t>
            </a:r>
            <a:r>
              <a:rPr lang="fr-FR" dirty="0">
                <a:solidFill>
                  <a:srgbClr val="C00000"/>
                </a:solidFill>
              </a:rPr>
              <a:t>en nombre de points</a:t>
            </a:r>
            <a:endParaRPr lang="fr-FR" sz="800" dirty="0">
              <a:solidFill>
                <a:srgbClr val="C00000"/>
              </a:solidFill>
            </a:endParaRPr>
          </a:p>
          <a:p>
            <a:pPr>
              <a:buClr>
                <a:srgbClr val="BE1218"/>
              </a:buClr>
            </a:pPr>
            <a:endParaRPr lang="fr-FR" sz="800" dirty="0"/>
          </a:p>
          <a:p>
            <a:pPr>
              <a:buClr>
                <a:srgbClr val="BE1218"/>
              </a:buClr>
            </a:pPr>
            <a:r>
              <a:rPr lang="fr-FR" dirty="0"/>
              <a:t>Seules </a:t>
            </a:r>
            <a:r>
              <a:rPr lang="fr-FR" dirty="0">
                <a:solidFill>
                  <a:srgbClr val="C00000"/>
                </a:solidFill>
              </a:rPr>
              <a:t>les stories terminées </a:t>
            </a:r>
            <a:r>
              <a:rPr lang="fr-FR" dirty="0"/>
              <a:t>dans le sprint sont comptabilisées</a:t>
            </a:r>
          </a:p>
          <a:p>
            <a:pPr>
              <a:buClr>
                <a:srgbClr val="BE1218"/>
              </a:buClr>
            </a:pPr>
            <a:endParaRPr lang="fr-FR" sz="800" dirty="0"/>
          </a:p>
          <a:p>
            <a:pPr>
              <a:buClr>
                <a:srgbClr val="BE1218"/>
              </a:buClr>
            </a:pPr>
            <a:r>
              <a:rPr lang="fr-FR" dirty="0"/>
              <a:t>Un indicateur utilisé dans la gestion des projets agile</a:t>
            </a:r>
            <a:endParaRPr lang="fr-FR" kern="0" dirty="0"/>
          </a:p>
          <a:p>
            <a:endParaRPr lang="fr-FR" dirty="0"/>
          </a:p>
        </p:txBody>
      </p:sp>
    </p:spTree>
    <p:extLst>
      <p:ext uri="{BB962C8B-B14F-4D97-AF65-F5344CB8AC3E}">
        <p14:creationId xmlns:p14="http://schemas.microsoft.com/office/powerpoint/2010/main" val="28440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Sprint planning</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sp>
        <p:nvSpPr>
          <p:cNvPr id="4" name="Espace réservé du contenu 3"/>
          <p:cNvSpPr>
            <a:spLocks noGrp="1"/>
          </p:cNvSpPr>
          <p:nvPr>
            <p:ph sz="quarter" idx="12"/>
          </p:nvPr>
        </p:nvSpPr>
        <p:spPr>
          <a:xfrm>
            <a:off x="440921" y="2446434"/>
            <a:ext cx="8262158" cy="3024336"/>
          </a:xfrm>
        </p:spPr>
        <p:txBody>
          <a:bodyPr/>
          <a:lstStyle/>
          <a:p>
            <a:r>
              <a:rPr lang="fr-FR" dirty="0"/>
              <a:t>Qui ? tout le monde ! </a:t>
            </a:r>
            <a:endParaRPr lang="fr-FR" sz="800" dirty="0"/>
          </a:p>
          <a:p>
            <a:endParaRPr lang="fr-FR" sz="800" dirty="0"/>
          </a:p>
          <a:p>
            <a:r>
              <a:rPr lang="fr-FR" dirty="0"/>
              <a:t>Quand ? Au début de chaque sprint</a:t>
            </a:r>
            <a:endParaRPr lang="fr-FR" sz="800" dirty="0"/>
          </a:p>
          <a:p>
            <a:endParaRPr lang="fr-FR" sz="800" dirty="0"/>
          </a:p>
          <a:p>
            <a:r>
              <a:rPr lang="fr-FR" dirty="0"/>
              <a:t>Etablir </a:t>
            </a:r>
            <a:r>
              <a:rPr lang="fr-FR" dirty="0">
                <a:solidFill>
                  <a:srgbClr val="BE1218"/>
                </a:solidFill>
              </a:rPr>
              <a:t>la feuille de route du sprint </a:t>
            </a:r>
            <a:r>
              <a:rPr lang="fr-FR" dirty="0"/>
              <a:t>(WHAT)</a:t>
            </a:r>
            <a:endParaRPr lang="fr-FR" sz="800" dirty="0"/>
          </a:p>
          <a:p>
            <a:endParaRPr lang="fr-FR" sz="800" dirty="0"/>
          </a:p>
          <a:p>
            <a:r>
              <a:rPr lang="fr-FR" dirty="0">
                <a:solidFill>
                  <a:srgbClr val="BE1218"/>
                </a:solidFill>
              </a:rPr>
              <a:t>Affiner les stories, découper</a:t>
            </a:r>
            <a:r>
              <a:rPr lang="fr-FR" dirty="0"/>
              <a:t> les stories </a:t>
            </a:r>
            <a:r>
              <a:rPr lang="fr-FR" dirty="0">
                <a:solidFill>
                  <a:srgbClr val="BE1218"/>
                </a:solidFill>
              </a:rPr>
              <a:t>en taches </a:t>
            </a:r>
            <a:r>
              <a:rPr lang="fr-FR" dirty="0"/>
              <a:t>(HOW) et </a:t>
            </a:r>
            <a:r>
              <a:rPr lang="fr-FR" dirty="0">
                <a:solidFill>
                  <a:srgbClr val="BE1218"/>
                </a:solidFill>
              </a:rPr>
              <a:t>estimer</a:t>
            </a:r>
          </a:p>
          <a:p>
            <a:pPr lvl="1"/>
            <a:endParaRPr lang="fr-FR" sz="800" dirty="0"/>
          </a:p>
          <a:p>
            <a:r>
              <a:rPr lang="fr-FR" dirty="0"/>
              <a:t>Initialiser le Sprint Backlog</a:t>
            </a:r>
          </a:p>
        </p:txBody>
      </p:sp>
      <p:graphicFrame>
        <p:nvGraphicFramePr>
          <p:cNvPr id="19" name="Espace réservé du contenu 4"/>
          <p:cNvGraphicFramePr>
            <a:graphicFrameLocks/>
          </p:cNvGraphicFramePr>
          <p:nvPr>
            <p:extLst>
              <p:ext uri="{D42A27DB-BD31-4B8C-83A1-F6EECF244321}">
                <p14:modId xmlns:p14="http://schemas.microsoft.com/office/powerpoint/2010/main" val="871275531"/>
              </p:ext>
            </p:extLst>
          </p:nvPr>
        </p:nvGraphicFramePr>
        <p:xfrm>
          <a:off x="422915" y="1196752"/>
          <a:ext cx="8262938" cy="11851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3974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EE32CA-11FE-2C2B-F149-392330E9D8FE}"/>
              </a:ext>
            </a:extLst>
          </p:cNvPr>
          <p:cNvSpPr>
            <a:spLocks noGrp="1"/>
          </p:cNvSpPr>
          <p:nvPr>
            <p:ph type="title"/>
          </p:nvPr>
        </p:nvSpPr>
        <p:spPr/>
        <p:txBody>
          <a:bodyPr/>
          <a:lstStyle/>
          <a:p>
            <a:r>
              <a:rPr lang="fr-FR" dirty="0"/>
              <a:t>	Du Product backlog au sprint backlog</a:t>
            </a:r>
          </a:p>
        </p:txBody>
      </p:sp>
      <p:sp>
        <p:nvSpPr>
          <p:cNvPr id="3" name="Espace réservé du pied de page 2">
            <a:extLst>
              <a:ext uri="{FF2B5EF4-FFF2-40B4-BE49-F238E27FC236}">
                <a16:creationId xmlns:a16="http://schemas.microsoft.com/office/drawing/2014/main" id="{33A0C92C-C1B8-9767-BB41-6C6FDE466B6A}"/>
              </a:ext>
            </a:extLst>
          </p:cNvPr>
          <p:cNvSpPr>
            <a:spLocks noGrp="1"/>
          </p:cNvSpPr>
          <p:nvPr>
            <p:ph type="ftr" sz="quarter" idx="10"/>
          </p:nvPr>
        </p:nvSpPr>
        <p:spPr/>
        <p:txBody>
          <a:bodyPr/>
          <a:lstStyle/>
          <a:p>
            <a:pPr>
              <a:defRPr/>
            </a:pPr>
            <a:r>
              <a:rPr lang="fr-FR"/>
              <a:t>Introduction à l'agilité</a:t>
            </a:r>
            <a:endParaRPr lang="fr-FR" dirty="0"/>
          </a:p>
        </p:txBody>
      </p:sp>
      <p:pic>
        <p:nvPicPr>
          <p:cNvPr id="5" name="Image 4">
            <a:extLst>
              <a:ext uri="{FF2B5EF4-FFF2-40B4-BE49-F238E27FC236}">
                <a16:creationId xmlns:a16="http://schemas.microsoft.com/office/drawing/2014/main" id="{750C276A-0E8A-314D-230E-EF33D591390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696" t="3711" r="11190" b="3505"/>
          <a:stretch/>
        </p:blipFill>
        <p:spPr>
          <a:xfrm>
            <a:off x="611435" y="1246317"/>
            <a:ext cx="6480721" cy="4909637"/>
          </a:xfrm>
          <a:prstGeom prst="rect">
            <a:avLst/>
          </a:prstGeom>
        </p:spPr>
      </p:pic>
      <p:sp>
        <p:nvSpPr>
          <p:cNvPr id="8" name="Accolade fermante 7">
            <a:extLst>
              <a:ext uri="{FF2B5EF4-FFF2-40B4-BE49-F238E27FC236}">
                <a16:creationId xmlns:a16="http://schemas.microsoft.com/office/drawing/2014/main" id="{3FEF3ECD-9BAF-DD94-50FB-B7D3A96838B4}"/>
              </a:ext>
            </a:extLst>
          </p:cNvPr>
          <p:cNvSpPr/>
          <p:nvPr/>
        </p:nvSpPr>
        <p:spPr>
          <a:xfrm>
            <a:off x="6948264" y="1854969"/>
            <a:ext cx="360040" cy="402230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ZoneTexte 8">
            <a:extLst>
              <a:ext uri="{FF2B5EF4-FFF2-40B4-BE49-F238E27FC236}">
                <a16:creationId xmlns:a16="http://schemas.microsoft.com/office/drawing/2014/main" id="{9CBC1BE9-A874-C51E-5222-454FE8C8FC29}"/>
              </a:ext>
            </a:extLst>
          </p:cNvPr>
          <p:cNvSpPr txBox="1"/>
          <p:nvPr/>
        </p:nvSpPr>
        <p:spPr>
          <a:xfrm>
            <a:off x="7524328" y="3481603"/>
            <a:ext cx="1440160" cy="923330"/>
          </a:xfrm>
          <a:prstGeom prst="rect">
            <a:avLst/>
          </a:prstGeom>
          <a:noFill/>
        </p:spPr>
        <p:txBody>
          <a:bodyPr wrap="square" rtlCol="0">
            <a:spAutoFit/>
          </a:bodyPr>
          <a:lstStyle/>
          <a:p>
            <a:r>
              <a:rPr lang="fr-FR" sz="1800" dirty="0">
                <a:solidFill>
                  <a:srgbClr val="232F3F"/>
                </a:solidFill>
              </a:rPr>
              <a:t>Le travail </a:t>
            </a:r>
            <a:br>
              <a:rPr lang="fr-FR" sz="1800" dirty="0">
                <a:solidFill>
                  <a:srgbClr val="232F3F"/>
                </a:solidFill>
              </a:rPr>
            </a:br>
            <a:r>
              <a:rPr lang="fr-FR" sz="1800" dirty="0">
                <a:solidFill>
                  <a:srgbClr val="232F3F"/>
                </a:solidFill>
              </a:rPr>
              <a:t>à faire dans un sprint</a:t>
            </a:r>
            <a:endParaRPr lang="fr-FR" dirty="0"/>
          </a:p>
        </p:txBody>
      </p:sp>
    </p:spTree>
    <p:extLst>
      <p:ext uri="{BB962C8B-B14F-4D97-AF65-F5344CB8AC3E}">
        <p14:creationId xmlns:p14="http://schemas.microsoft.com/office/powerpoint/2010/main" val="2427551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contenu 3"/>
          <p:cNvSpPr txBox="1">
            <a:spLocks/>
          </p:cNvSpPr>
          <p:nvPr/>
        </p:nvSpPr>
        <p:spPr>
          <a:xfrm>
            <a:off x="440921" y="1268760"/>
            <a:ext cx="8262158" cy="5031567"/>
          </a:xfrm>
          <a:prstGeom prst="rect">
            <a:avLst/>
          </a:prstGeom>
        </p:spPr>
        <p:txBody>
          <a:bodyPr/>
          <a:lstStyle>
            <a:lvl1pPr marL="342900" indent="-342900" algn="l" rtl="0" eaLnBrk="1" fontAlgn="base" hangingPunct="1">
              <a:spcBef>
                <a:spcPct val="20000"/>
              </a:spcBef>
              <a:spcAft>
                <a:spcPct val="0"/>
              </a:spcAft>
              <a:buClr>
                <a:srgbClr val="3D64A9"/>
              </a:buClr>
              <a:buFont typeface="Wingdings 3" panose="05040102010807070707" pitchFamily="18" charset="2"/>
              <a:buChar char=""/>
              <a:defRPr sz="2400">
                <a:solidFill>
                  <a:srgbClr val="3D65AA"/>
                </a:solidFill>
                <a:latin typeface="+mn-lt"/>
                <a:ea typeface="+mn-ea"/>
                <a:cs typeface="+mn-cs"/>
              </a:defRPr>
            </a:lvl1pPr>
            <a:lvl2pPr marL="742950" indent="-285750" algn="l" rtl="0" eaLnBrk="1" fontAlgn="base" hangingPunct="1">
              <a:spcBef>
                <a:spcPct val="20000"/>
              </a:spcBef>
              <a:spcAft>
                <a:spcPct val="0"/>
              </a:spcAft>
              <a:buClr>
                <a:srgbClr val="F29400"/>
              </a:buClr>
              <a:buFont typeface="Wingdings" panose="05000000000000000000" pitchFamily="2" charset="2"/>
              <a:buChar char="§"/>
              <a:defRPr sz="2000">
                <a:solidFill>
                  <a:srgbClr val="3D65AA"/>
                </a:solidFill>
                <a:latin typeface="+mn-lt"/>
              </a:defRPr>
            </a:lvl2pPr>
            <a:lvl3pPr marL="1143000" indent="-228600" algn="l" rtl="0" eaLnBrk="1" fontAlgn="base" hangingPunct="1">
              <a:spcBef>
                <a:spcPct val="20000"/>
              </a:spcBef>
              <a:spcAft>
                <a:spcPct val="0"/>
              </a:spcAft>
              <a:buClr>
                <a:srgbClr val="F29400"/>
              </a:buClr>
              <a:buFont typeface="Wingdings" panose="05000000000000000000" pitchFamily="2" charset="2"/>
              <a:buChar char="ü"/>
              <a:defRPr i="1">
                <a:solidFill>
                  <a:schemeClr val="accent3">
                    <a:lumMod val="50000"/>
                  </a:schemeClr>
                </a:solidFill>
                <a:latin typeface="+mn-lt"/>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pPr>
              <a:buClr>
                <a:srgbClr val="BE1218"/>
              </a:buClr>
            </a:pPr>
            <a:r>
              <a:rPr lang="fr-FR" kern="0" dirty="0">
                <a:solidFill>
                  <a:srgbClr val="232F3F"/>
                </a:solidFill>
              </a:rPr>
              <a:t>En début de sprint, l’équipe </a:t>
            </a:r>
            <a:r>
              <a:rPr lang="fr-FR" kern="0" dirty="0">
                <a:solidFill>
                  <a:srgbClr val="BE1218"/>
                </a:solidFill>
              </a:rPr>
              <a:t>estime collectivement</a:t>
            </a:r>
          </a:p>
          <a:p>
            <a:pPr lvl="1">
              <a:buClr>
                <a:srgbClr val="BE1218"/>
              </a:buClr>
            </a:pPr>
            <a:r>
              <a:rPr lang="fr-FR" kern="0" dirty="0">
                <a:solidFill>
                  <a:srgbClr val="232F3F"/>
                </a:solidFill>
              </a:rPr>
              <a:t>Planning Poker</a:t>
            </a:r>
          </a:p>
          <a:p>
            <a:pPr lvl="1">
              <a:buClr>
                <a:srgbClr val="BE1218"/>
              </a:buClr>
            </a:pPr>
            <a:r>
              <a:rPr lang="fr-FR" kern="0" dirty="0">
                <a:solidFill>
                  <a:srgbClr val="232F3F"/>
                </a:solidFill>
              </a:rPr>
              <a:t>T-Shirt </a:t>
            </a:r>
            <a:r>
              <a:rPr lang="fr-FR" kern="0" dirty="0" err="1">
                <a:solidFill>
                  <a:srgbClr val="232F3F"/>
                </a:solidFill>
              </a:rPr>
              <a:t>sizing</a:t>
            </a:r>
            <a:r>
              <a:rPr lang="fr-FR" kern="0" dirty="0">
                <a:solidFill>
                  <a:srgbClr val="232F3F"/>
                </a:solidFill>
              </a:rPr>
              <a:t> (S, M, L, …)</a:t>
            </a:r>
            <a:endParaRPr lang="fr-FR" kern="0" dirty="0">
              <a:solidFill>
                <a:srgbClr val="BE1218"/>
              </a:solidFill>
            </a:endParaRPr>
          </a:p>
          <a:p>
            <a:endParaRPr lang="fr-FR" kern="0" dirty="0">
              <a:solidFill>
                <a:srgbClr val="F29400"/>
              </a:solidFill>
            </a:endParaRPr>
          </a:p>
        </p:txBody>
      </p:sp>
      <p:sp>
        <p:nvSpPr>
          <p:cNvPr id="2" name="Titre 1"/>
          <p:cNvSpPr>
            <a:spLocks noGrp="1"/>
          </p:cNvSpPr>
          <p:nvPr>
            <p:ph type="title"/>
          </p:nvPr>
        </p:nvSpPr>
        <p:spPr/>
        <p:txBody>
          <a:bodyPr/>
          <a:lstStyle/>
          <a:p>
            <a:r>
              <a:rPr lang="fr-FR" dirty="0"/>
              <a:t>	Estimations</a:t>
            </a:r>
          </a:p>
        </p:txBody>
      </p:sp>
      <p:sp>
        <p:nvSpPr>
          <p:cNvPr id="3" name="Espace réservé du pied de page 2"/>
          <p:cNvSpPr>
            <a:spLocks noGrp="1"/>
          </p:cNvSpPr>
          <p:nvPr>
            <p:ph type="ftr" sz="quarter" idx="10"/>
          </p:nvPr>
        </p:nvSpPr>
        <p:spPr/>
        <p:txBody>
          <a:bodyPr/>
          <a:lstStyle/>
          <a:p>
            <a:pPr>
              <a:defRPr/>
            </a:pPr>
            <a:r>
              <a:rPr lang="fr-FR"/>
              <a:t>Introduction à l'agilité</a:t>
            </a:r>
            <a:endParaRPr lang="fr-FR" dirty="0"/>
          </a:p>
        </p:txBody>
      </p:sp>
      <p:pic>
        <p:nvPicPr>
          <p:cNvPr id="6" name="Image 5"/>
          <p:cNvPicPr>
            <a:picLocks noChangeAspect="1"/>
          </p:cNvPicPr>
          <p:nvPr/>
        </p:nvPicPr>
        <p:blipFill rotWithShape="1">
          <a:blip r:embed="rId3">
            <a:extLst>
              <a:ext uri="{28A0092B-C50C-407E-A947-70E740481C1C}">
                <a14:useLocalDpi xmlns:a14="http://schemas.microsoft.com/office/drawing/2010/main" val="0"/>
              </a:ext>
            </a:extLst>
          </a:blip>
          <a:srcRect r="2764" b="10551"/>
          <a:stretch/>
        </p:blipFill>
        <p:spPr>
          <a:xfrm>
            <a:off x="718186" y="2819209"/>
            <a:ext cx="3459743" cy="2348910"/>
          </a:xfrm>
          <a:prstGeom prst="rect">
            <a:avLst/>
          </a:prstGeom>
        </p:spPr>
      </p:pic>
      <p:pic>
        <p:nvPicPr>
          <p:cNvPr id="8" name="Image 7">
            <a:extLst>
              <a:ext uri="{FF2B5EF4-FFF2-40B4-BE49-F238E27FC236}">
                <a16:creationId xmlns:a16="http://schemas.microsoft.com/office/drawing/2014/main" id="{DDD2576A-35F3-C3D0-719A-F3D2F0800B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51910" y="2819209"/>
            <a:ext cx="4199097" cy="2204526"/>
          </a:xfrm>
          <a:prstGeom prst="rect">
            <a:avLst/>
          </a:prstGeom>
        </p:spPr>
      </p:pic>
      <p:sp>
        <p:nvSpPr>
          <p:cNvPr id="9" name="ZoneTexte 8">
            <a:extLst>
              <a:ext uri="{FF2B5EF4-FFF2-40B4-BE49-F238E27FC236}">
                <a16:creationId xmlns:a16="http://schemas.microsoft.com/office/drawing/2014/main" id="{841D2B01-3E40-7C3A-8532-000722155833}"/>
              </a:ext>
            </a:extLst>
          </p:cNvPr>
          <p:cNvSpPr txBox="1"/>
          <p:nvPr/>
        </p:nvSpPr>
        <p:spPr>
          <a:xfrm>
            <a:off x="575556" y="5534168"/>
            <a:ext cx="7992888" cy="400110"/>
          </a:xfrm>
          <a:prstGeom prst="rect">
            <a:avLst/>
          </a:prstGeom>
          <a:noFill/>
        </p:spPr>
        <p:txBody>
          <a:bodyPr wrap="square" rtlCol="0">
            <a:spAutoFit/>
          </a:bodyPr>
          <a:lstStyle/>
          <a:p>
            <a:r>
              <a:rPr lang="fr-FR" sz="2000" dirty="0">
                <a:solidFill>
                  <a:srgbClr val="232F3F"/>
                </a:solidFill>
                <a:latin typeface="+mj-lt"/>
              </a:rPr>
              <a:t>Plus facile d’estimer quand les objectifs sont clairs et petits !</a:t>
            </a:r>
          </a:p>
        </p:txBody>
      </p:sp>
    </p:spTree>
    <p:extLst>
      <p:ext uri="{BB962C8B-B14F-4D97-AF65-F5344CB8AC3E}">
        <p14:creationId xmlns:p14="http://schemas.microsoft.com/office/powerpoint/2010/main" val="3250774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Daily Scrum</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sp>
        <p:nvSpPr>
          <p:cNvPr id="4" name="Espace réservé du contenu 3"/>
          <p:cNvSpPr>
            <a:spLocks noGrp="1"/>
          </p:cNvSpPr>
          <p:nvPr>
            <p:ph sz="quarter" idx="12"/>
          </p:nvPr>
        </p:nvSpPr>
        <p:spPr>
          <a:xfrm>
            <a:off x="486554" y="2105025"/>
            <a:ext cx="8211359" cy="4132287"/>
          </a:xfrm>
        </p:spPr>
        <p:txBody>
          <a:bodyPr/>
          <a:lstStyle/>
          <a:p>
            <a:r>
              <a:rPr lang="fr-FR" dirty="0"/>
              <a:t>Qui ? L’équipe + </a:t>
            </a:r>
            <a:r>
              <a:rPr lang="fr-FR" dirty="0" err="1"/>
              <a:t>Scrum</a:t>
            </a:r>
            <a:r>
              <a:rPr lang="fr-FR" dirty="0"/>
              <a:t> Master, debout</a:t>
            </a:r>
            <a:endParaRPr lang="fr-FR" sz="800" dirty="0"/>
          </a:p>
          <a:p>
            <a:endParaRPr lang="fr-FR" sz="800" dirty="0"/>
          </a:p>
          <a:p>
            <a:r>
              <a:rPr lang="fr-FR" dirty="0"/>
              <a:t>Quand ? Tous les jours, max 15 minutes</a:t>
            </a:r>
          </a:p>
          <a:p>
            <a:endParaRPr lang="fr-FR" sz="800" dirty="0"/>
          </a:p>
          <a:p>
            <a:r>
              <a:rPr lang="fr-FR" dirty="0"/>
              <a:t>Chacun répond à 3 questions</a:t>
            </a:r>
          </a:p>
          <a:p>
            <a:pPr lvl="1"/>
            <a:r>
              <a:rPr lang="fr-FR" i="1" dirty="0"/>
              <a:t>Qu’ai-je fait hier ? </a:t>
            </a:r>
          </a:p>
          <a:p>
            <a:pPr lvl="1"/>
            <a:r>
              <a:rPr lang="fr-FR" i="1" dirty="0"/>
              <a:t>Que vais-je faire aujourd’hui ?</a:t>
            </a:r>
          </a:p>
          <a:p>
            <a:pPr lvl="1"/>
            <a:r>
              <a:rPr lang="fr-FR" i="1" dirty="0"/>
              <a:t>Est-ce que je rencontre des obstacles ?</a:t>
            </a:r>
            <a:endParaRPr lang="fr-FR" sz="800" i="1" dirty="0"/>
          </a:p>
          <a:p>
            <a:pPr marL="457200" lvl="1" indent="0">
              <a:buNone/>
            </a:pPr>
            <a:r>
              <a:rPr lang="fr-FR" sz="800" dirty="0"/>
              <a:t> </a:t>
            </a:r>
          </a:p>
          <a:p>
            <a:r>
              <a:rPr lang="fr-FR" dirty="0"/>
              <a:t>Identifier les problèmes sans chercher à les résoudre</a:t>
            </a:r>
          </a:p>
          <a:p>
            <a:r>
              <a:rPr lang="fr-FR" dirty="0"/>
              <a:t>Mettre à jour le </a:t>
            </a:r>
            <a:r>
              <a:rPr lang="fr-FR" dirty="0" err="1"/>
              <a:t>Scrum</a:t>
            </a:r>
            <a:r>
              <a:rPr lang="fr-FR" dirty="0"/>
              <a:t> </a:t>
            </a:r>
            <a:r>
              <a:rPr lang="fr-FR" dirty="0" err="1"/>
              <a:t>board</a:t>
            </a:r>
            <a:endParaRPr lang="fr-FR" dirty="0"/>
          </a:p>
        </p:txBody>
      </p:sp>
      <p:graphicFrame>
        <p:nvGraphicFramePr>
          <p:cNvPr id="19" name="Espace réservé du contenu 4"/>
          <p:cNvGraphicFramePr>
            <a:graphicFrameLocks/>
          </p:cNvGraphicFramePr>
          <p:nvPr>
            <p:extLst>
              <p:ext uri="{D42A27DB-BD31-4B8C-83A1-F6EECF244321}">
                <p14:modId xmlns:p14="http://schemas.microsoft.com/office/powerpoint/2010/main" val="1647997122"/>
              </p:ext>
            </p:extLst>
          </p:nvPr>
        </p:nvGraphicFramePr>
        <p:xfrm>
          <a:off x="434975" y="1084142"/>
          <a:ext cx="8262938" cy="11851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7233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3040A768-1BD5-2B8C-15B2-0179029342F5}"/>
              </a:ext>
            </a:extLst>
          </p:cNvPr>
          <p:cNvSpPr>
            <a:spLocks noGrp="1"/>
          </p:cNvSpPr>
          <p:nvPr>
            <p:ph sz="quarter" idx="12"/>
          </p:nvPr>
        </p:nvSpPr>
        <p:spPr>
          <a:xfrm>
            <a:off x="395886" y="1271996"/>
            <a:ext cx="8262158" cy="4752975"/>
          </a:xfrm>
        </p:spPr>
        <p:txBody>
          <a:bodyPr/>
          <a:lstStyle/>
          <a:p>
            <a:r>
              <a:rPr lang="fr-FR" dirty="0"/>
              <a:t>Un outil de </a:t>
            </a:r>
            <a:r>
              <a:rPr lang="fr-FR" dirty="0">
                <a:solidFill>
                  <a:srgbClr val="C00000"/>
                </a:solidFill>
              </a:rPr>
              <a:t>management visuel </a:t>
            </a:r>
            <a:r>
              <a:rPr lang="fr-FR" dirty="0"/>
              <a:t>type </a:t>
            </a:r>
            <a:r>
              <a:rPr lang="fr-FR" dirty="0">
                <a:hlinkClick r:id="rId3"/>
              </a:rPr>
              <a:t>Kanban</a:t>
            </a:r>
            <a:endParaRPr lang="fr-FR" dirty="0"/>
          </a:p>
          <a:p>
            <a:pPr lvl="1"/>
            <a:endParaRPr lang="fr-FR" sz="400" dirty="0"/>
          </a:p>
          <a:p>
            <a:pPr lvl="1"/>
            <a:r>
              <a:rPr lang="fr-FR" dirty="0"/>
              <a:t>initialisé pendant le sprint planning</a:t>
            </a:r>
          </a:p>
          <a:p>
            <a:pPr lvl="1"/>
            <a:r>
              <a:rPr lang="fr-FR" dirty="0"/>
              <a:t>actualisé chaque jour par l’équipe</a:t>
            </a:r>
          </a:p>
          <a:p>
            <a:endParaRPr lang="fr-FR" dirty="0"/>
          </a:p>
          <a:p>
            <a:endParaRPr lang="fr-FR" dirty="0"/>
          </a:p>
          <a:p>
            <a:endParaRPr lang="fr-FR" dirty="0"/>
          </a:p>
          <a:p>
            <a:endParaRPr lang="fr-FR" dirty="0"/>
          </a:p>
          <a:p>
            <a:endParaRPr lang="fr-FR" dirty="0"/>
          </a:p>
          <a:p>
            <a:endParaRPr lang="fr-FR" dirty="0"/>
          </a:p>
        </p:txBody>
      </p:sp>
      <p:graphicFrame>
        <p:nvGraphicFramePr>
          <p:cNvPr id="10" name="Group 6">
            <a:extLst>
              <a:ext uri="{FF2B5EF4-FFF2-40B4-BE49-F238E27FC236}">
                <a16:creationId xmlns:a16="http://schemas.microsoft.com/office/drawing/2014/main" id="{92CD73F0-53B0-2B3F-DBE1-5D2222020042}"/>
              </a:ext>
            </a:extLst>
          </p:cNvPr>
          <p:cNvGraphicFramePr>
            <a:graphicFrameLocks noGrp="1"/>
          </p:cNvGraphicFramePr>
          <p:nvPr>
            <p:extLst>
              <p:ext uri="{D42A27DB-BD31-4B8C-83A1-F6EECF244321}">
                <p14:modId xmlns:p14="http://schemas.microsoft.com/office/powerpoint/2010/main" val="2054286493"/>
              </p:ext>
            </p:extLst>
          </p:nvPr>
        </p:nvGraphicFramePr>
        <p:xfrm>
          <a:off x="805137" y="2879880"/>
          <a:ext cx="6264275" cy="1871663"/>
        </p:xfrm>
        <a:graphic>
          <a:graphicData uri="http://schemas.openxmlformats.org/drawingml/2006/table">
            <a:tbl>
              <a:tblPr/>
              <a:tblGrid>
                <a:gridCol w="1511300">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gridCol w="1512887">
                  <a:extLst>
                    <a:ext uri="{9D8B030D-6E8A-4147-A177-3AD203B41FA5}">
                      <a16:colId xmlns:a16="http://schemas.microsoft.com/office/drawing/2014/main" val="20002"/>
                    </a:ext>
                  </a:extLst>
                </a:gridCol>
                <a:gridCol w="1728788">
                  <a:extLst>
                    <a:ext uri="{9D8B030D-6E8A-4147-A177-3AD203B41FA5}">
                      <a16:colId xmlns:a16="http://schemas.microsoft.com/office/drawing/2014/main" val="20003"/>
                    </a:ext>
                  </a:extLst>
                </a:gridCol>
              </a:tblGrid>
              <a:tr h="430213">
                <a:tc>
                  <a:txBody>
                    <a:bodyPr/>
                    <a:lstStyle/>
                    <a:p>
                      <a:pPr marL="0" marR="0" lvl="0" indent="0" algn="l" defTabSz="449263" rtl="0" eaLnBrk="0" fontAlgn="base" latinLnBrk="0" hangingPunct="0">
                        <a:lnSpc>
                          <a:spcPct val="100000"/>
                        </a:lnSpc>
                        <a:spcBef>
                          <a:spcPts val="138"/>
                        </a:spcBef>
                        <a:spcAft>
                          <a:spcPct val="0"/>
                        </a:spcAft>
                        <a:buClr>
                          <a:srgbClr val="424A52"/>
                        </a:buClr>
                        <a:buSzPct val="100000"/>
                        <a:buFont typeface="Arial" charset="0"/>
                        <a:buNone/>
                        <a:tabLst/>
                      </a:pPr>
                      <a:r>
                        <a:rPr kumimoji="0" lang="fr-FR" sz="2000" b="0" i="0" u="none" strike="noStrike" cap="none" normalizeH="0" baseline="0" dirty="0">
                          <a:ln>
                            <a:noFill/>
                          </a:ln>
                          <a:solidFill>
                            <a:srgbClr val="424A52"/>
                          </a:solidFill>
                          <a:effectLst/>
                          <a:latin typeface="Arial" charset="0"/>
                          <a:cs typeface="Arial" charset="0"/>
                        </a:rPr>
                        <a:t>User story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ts val="138"/>
                        </a:spcBef>
                        <a:spcAft>
                          <a:spcPct val="0"/>
                        </a:spcAft>
                        <a:buClr>
                          <a:srgbClr val="424A52"/>
                        </a:buClr>
                        <a:buSzPct val="100000"/>
                        <a:buFont typeface="Arial" charset="0"/>
                        <a:buNone/>
                        <a:tabLst/>
                      </a:pPr>
                      <a:r>
                        <a:rPr kumimoji="0" lang="fr-FR" sz="2000" b="0" i="0" u="none" strike="noStrike" cap="none" normalizeH="0" baseline="0" dirty="0">
                          <a:ln>
                            <a:noFill/>
                          </a:ln>
                          <a:solidFill>
                            <a:srgbClr val="424A52"/>
                          </a:solidFill>
                          <a:effectLst/>
                          <a:latin typeface="Arial" charset="0"/>
                          <a:cs typeface="Arial" charset="0"/>
                        </a:rPr>
                        <a:t>A faire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ts val="138"/>
                        </a:spcBef>
                        <a:spcAft>
                          <a:spcPct val="0"/>
                        </a:spcAft>
                        <a:buClr>
                          <a:srgbClr val="424A52"/>
                        </a:buClr>
                        <a:buSzPct val="100000"/>
                        <a:buFont typeface="Arial" charset="0"/>
                        <a:buNone/>
                        <a:tabLst/>
                      </a:pPr>
                      <a:r>
                        <a:rPr kumimoji="0" lang="fr-FR" sz="2000" b="0" i="0" u="none" strike="noStrike" cap="none" normalizeH="0" baseline="0">
                          <a:ln>
                            <a:noFill/>
                          </a:ln>
                          <a:solidFill>
                            <a:srgbClr val="424A52"/>
                          </a:solidFill>
                          <a:effectLst/>
                          <a:latin typeface="Arial" charset="0"/>
                          <a:cs typeface="Arial" charset="0"/>
                        </a:rPr>
                        <a:t>En cours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49263" rtl="0" eaLnBrk="0" fontAlgn="base" latinLnBrk="0" hangingPunct="0">
                        <a:lnSpc>
                          <a:spcPct val="100000"/>
                        </a:lnSpc>
                        <a:spcBef>
                          <a:spcPts val="138"/>
                        </a:spcBef>
                        <a:spcAft>
                          <a:spcPct val="0"/>
                        </a:spcAft>
                        <a:buClr>
                          <a:srgbClr val="424A52"/>
                        </a:buClr>
                        <a:buSzPct val="100000"/>
                        <a:buFont typeface="Arial" charset="0"/>
                        <a:buNone/>
                        <a:tabLst/>
                      </a:pPr>
                      <a:r>
                        <a:rPr kumimoji="0" lang="fr-FR" sz="2000" b="0" i="0" u="none" strike="noStrike" cap="none" normalizeH="0" baseline="0" dirty="0">
                          <a:ln>
                            <a:noFill/>
                          </a:ln>
                          <a:solidFill>
                            <a:srgbClr val="424A52"/>
                          </a:solidFill>
                          <a:effectLst/>
                          <a:latin typeface="Arial" charset="0"/>
                          <a:cs typeface="Arial" charset="0"/>
                        </a:rPr>
                        <a:t>Terminé</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1450">
                <a:tc>
                  <a:txBody>
                    <a:bodyPr/>
                    <a:lstStyle/>
                    <a:p>
                      <a:pPr marL="0" marR="0" lvl="0" indent="0" algn="l" defTabSz="449263" rtl="0" eaLnBrk="0" fontAlgn="base" latinLnBrk="0" hangingPunct="0">
                        <a:lnSpc>
                          <a:spcPct val="100000"/>
                        </a:lnSpc>
                        <a:spcBef>
                          <a:spcPts val="138"/>
                        </a:spcBef>
                        <a:spcAft>
                          <a:spcPct val="0"/>
                        </a:spcAft>
                        <a:buClr>
                          <a:srgbClr val="424A52"/>
                        </a:buClr>
                        <a:buSzPct val="100000"/>
                        <a:buFont typeface="Arial" charset="0"/>
                        <a:buNone/>
                        <a:tabLst/>
                      </a:pPr>
                      <a:endParaRPr kumimoji="0" lang="fr-FR" sz="2000" b="0" i="0" u="none" strike="noStrike" cap="none" normalizeH="0" baseline="0" dirty="0">
                        <a:ln>
                          <a:noFill/>
                        </a:ln>
                        <a:solidFill>
                          <a:srgbClr val="424A52"/>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ts val="138"/>
                        </a:spcBef>
                        <a:spcAft>
                          <a:spcPct val="0"/>
                        </a:spcAft>
                        <a:buClr>
                          <a:srgbClr val="424A52"/>
                        </a:buClr>
                        <a:buSzPct val="100000"/>
                        <a:buFont typeface="Arial" charset="0"/>
                        <a:buNone/>
                        <a:tabLst/>
                      </a:pPr>
                      <a:endParaRPr kumimoji="0" lang="fr-FR" sz="2000" b="0" i="0" u="none" strike="noStrike" cap="none" normalizeH="0" baseline="0" dirty="0">
                        <a:ln>
                          <a:noFill/>
                        </a:ln>
                        <a:solidFill>
                          <a:srgbClr val="424A52"/>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ts val="138"/>
                        </a:spcBef>
                        <a:spcAft>
                          <a:spcPct val="0"/>
                        </a:spcAft>
                        <a:buClr>
                          <a:srgbClr val="424A52"/>
                        </a:buClr>
                        <a:buSzPct val="100000"/>
                        <a:buFont typeface="Arial" charset="0"/>
                        <a:buNone/>
                        <a:tabLst/>
                      </a:pPr>
                      <a:endParaRPr kumimoji="0" lang="fr-FR" sz="2000" b="0" i="0" u="none" strike="noStrike" cap="none" normalizeH="0" baseline="0" dirty="0">
                        <a:ln>
                          <a:noFill/>
                        </a:ln>
                        <a:solidFill>
                          <a:srgbClr val="424A52"/>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ts val="138"/>
                        </a:spcBef>
                        <a:spcAft>
                          <a:spcPct val="0"/>
                        </a:spcAft>
                        <a:buClr>
                          <a:srgbClr val="424A52"/>
                        </a:buClr>
                        <a:buSzPct val="100000"/>
                        <a:buFont typeface="Arial" charset="0"/>
                        <a:buNone/>
                        <a:tabLst/>
                      </a:pPr>
                      <a:endParaRPr kumimoji="0" lang="fr-FR" sz="2000" b="0" i="0" u="none" strike="noStrike" cap="none" normalizeH="0" baseline="0" dirty="0">
                        <a:ln>
                          <a:noFill/>
                        </a:ln>
                        <a:solidFill>
                          <a:srgbClr val="424A52"/>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1" name="Picture 46" descr="j0441454">
            <a:extLst>
              <a:ext uri="{FF2B5EF4-FFF2-40B4-BE49-F238E27FC236}">
                <a16:creationId xmlns:a16="http://schemas.microsoft.com/office/drawing/2014/main" id="{37D2D8D5-14E3-8260-62F2-2FF87A84137B}"/>
              </a:ext>
            </a:extLst>
          </p:cNvPr>
          <p:cNvPicPr>
            <a:picLocks noChangeAspect="1" noChangeArrowheads="1"/>
          </p:cNvPicPr>
          <p:nvPr/>
        </p:nvPicPr>
        <p:blipFill>
          <a:blip r:embed="rId4" cstate="print"/>
          <a:srcRect/>
          <a:stretch>
            <a:fillRect/>
          </a:stretch>
        </p:blipFill>
        <p:spPr bwMode="auto">
          <a:xfrm>
            <a:off x="4332902" y="3397822"/>
            <a:ext cx="431800" cy="467017"/>
          </a:xfrm>
          <a:prstGeom prst="rect">
            <a:avLst/>
          </a:prstGeom>
          <a:noFill/>
          <a:ln w="9525">
            <a:noFill/>
            <a:miter lim="800000"/>
            <a:headEnd/>
            <a:tailEnd/>
          </a:ln>
        </p:spPr>
      </p:pic>
      <p:pic>
        <p:nvPicPr>
          <p:cNvPr id="12" name="Picture 46" descr="j0441454">
            <a:extLst>
              <a:ext uri="{FF2B5EF4-FFF2-40B4-BE49-F238E27FC236}">
                <a16:creationId xmlns:a16="http://schemas.microsoft.com/office/drawing/2014/main" id="{AAE0BC20-6E31-E6FD-6B3D-28B5EC85C536}"/>
              </a:ext>
            </a:extLst>
          </p:cNvPr>
          <p:cNvPicPr>
            <a:picLocks noChangeAspect="1" noChangeArrowheads="1"/>
          </p:cNvPicPr>
          <p:nvPr/>
        </p:nvPicPr>
        <p:blipFill>
          <a:blip r:embed="rId4" cstate="print"/>
          <a:srcRect/>
          <a:stretch>
            <a:fillRect/>
          </a:stretch>
        </p:blipFill>
        <p:spPr bwMode="auto">
          <a:xfrm>
            <a:off x="4356514" y="3884011"/>
            <a:ext cx="431800" cy="467017"/>
          </a:xfrm>
          <a:prstGeom prst="rect">
            <a:avLst/>
          </a:prstGeom>
          <a:noFill/>
          <a:ln w="9525">
            <a:noFill/>
            <a:miter lim="800000"/>
            <a:headEnd/>
            <a:tailEnd/>
          </a:ln>
        </p:spPr>
      </p:pic>
      <p:grpSp>
        <p:nvGrpSpPr>
          <p:cNvPr id="13" name="Group 39">
            <a:extLst>
              <a:ext uri="{FF2B5EF4-FFF2-40B4-BE49-F238E27FC236}">
                <a16:creationId xmlns:a16="http://schemas.microsoft.com/office/drawing/2014/main" id="{0D81C6C1-30AB-2BF7-B953-770774F558E3}"/>
              </a:ext>
            </a:extLst>
          </p:cNvPr>
          <p:cNvGrpSpPr>
            <a:grpSpLocks/>
          </p:cNvGrpSpPr>
          <p:nvPr/>
        </p:nvGrpSpPr>
        <p:grpSpPr bwMode="auto">
          <a:xfrm>
            <a:off x="801091" y="3348695"/>
            <a:ext cx="6264275" cy="1557297"/>
            <a:chOff x="249" y="2795"/>
            <a:chExt cx="3946" cy="907"/>
          </a:xfrm>
        </p:grpSpPr>
        <p:pic>
          <p:nvPicPr>
            <p:cNvPr id="14" name="Picture 40" descr="j0441454">
              <a:extLst>
                <a:ext uri="{FF2B5EF4-FFF2-40B4-BE49-F238E27FC236}">
                  <a16:creationId xmlns:a16="http://schemas.microsoft.com/office/drawing/2014/main" id="{A4C718FA-4B28-C46A-3E59-013FB26EC730}"/>
                </a:ext>
              </a:extLst>
            </p:cNvPr>
            <p:cNvPicPr>
              <a:picLocks noChangeAspect="1" noChangeArrowheads="1"/>
            </p:cNvPicPr>
            <p:nvPr/>
          </p:nvPicPr>
          <p:blipFill>
            <a:blip r:embed="rId4" cstate="print"/>
            <a:srcRect/>
            <a:stretch>
              <a:fillRect/>
            </a:stretch>
          </p:blipFill>
          <p:spPr bwMode="auto">
            <a:xfrm>
              <a:off x="385" y="3430"/>
              <a:ext cx="272" cy="272"/>
            </a:xfrm>
            <a:prstGeom prst="rect">
              <a:avLst/>
            </a:prstGeom>
            <a:noFill/>
            <a:ln w="9525">
              <a:noFill/>
              <a:miter lim="800000"/>
              <a:headEnd/>
              <a:tailEnd/>
            </a:ln>
          </p:spPr>
        </p:pic>
        <p:pic>
          <p:nvPicPr>
            <p:cNvPr id="15" name="Picture 41" descr="j0441454">
              <a:extLst>
                <a:ext uri="{FF2B5EF4-FFF2-40B4-BE49-F238E27FC236}">
                  <a16:creationId xmlns:a16="http://schemas.microsoft.com/office/drawing/2014/main" id="{2C48CE75-6414-DAB2-D99B-D2F907D5A88B}"/>
                </a:ext>
              </a:extLst>
            </p:cNvPr>
            <p:cNvPicPr>
              <a:picLocks noChangeAspect="1" noChangeArrowheads="1"/>
            </p:cNvPicPr>
            <p:nvPr/>
          </p:nvPicPr>
          <p:blipFill>
            <a:blip r:embed="rId4" cstate="print"/>
            <a:srcRect/>
            <a:stretch>
              <a:fillRect/>
            </a:stretch>
          </p:blipFill>
          <p:spPr bwMode="auto">
            <a:xfrm>
              <a:off x="385" y="3112"/>
              <a:ext cx="272" cy="272"/>
            </a:xfrm>
            <a:prstGeom prst="rect">
              <a:avLst/>
            </a:prstGeom>
            <a:noFill/>
            <a:ln w="9525">
              <a:noFill/>
              <a:miter lim="800000"/>
              <a:headEnd/>
              <a:tailEnd/>
            </a:ln>
          </p:spPr>
        </p:pic>
        <p:pic>
          <p:nvPicPr>
            <p:cNvPr id="16" name="Picture 42" descr="j0441454">
              <a:extLst>
                <a:ext uri="{FF2B5EF4-FFF2-40B4-BE49-F238E27FC236}">
                  <a16:creationId xmlns:a16="http://schemas.microsoft.com/office/drawing/2014/main" id="{B1BEAF74-A114-A1CB-9145-3405C2416FAF}"/>
                </a:ext>
              </a:extLst>
            </p:cNvPr>
            <p:cNvPicPr>
              <a:picLocks noChangeAspect="1" noChangeArrowheads="1"/>
            </p:cNvPicPr>
            <p:nvPr/>
          </p:nvPicPr>
          <p:blipFill>
            <a:blip r:embed="rId4" cstate="print"/>
            <a:srcRect/>
            <a:stretch>
              <a:fillRect/>
            </a:stretch>
          </p:blipFill>
          <p:spPr bwMode="auto">
            <a:xfrm>
              <a:off x="385" y="2795"/>
              <a:ext cx="272" cy="272"/>
            </a:xfrm>
            <a:prstGeom prst="rect">
              <a:avLst/>
            </a:prstGeom>
            <a:noFill/>
            <a:ln w="9525">
              <a:noFill/>
              <a:miter lim="800000"/>
              <a:headEnd/>
              <a:tailEnd/>
            </a:ln>
          </p:spPr>
        </p:pic>
        <p:pic>
          <p:nvPicPr>
            <p:cNvPr id="17" name="Picture 43" descr="j0441454">
              <a:extLst>
                <a:ext uri="{FF2B5EF4-FFF2-40B4-BE49-F238E27FC236}">
                  <a16:creationId xmlns:a16="http://schemas.microsoft.com/office/drawing/2014/main" id="{5CB25592-E71B-E94C-BE7C-204E737F8448}"/>
                </a:ext>
              </a:extLst>
            </p:cNvPr>
            <p:cNvPicPr>
              <a:picLocks noChangeAspect="1" noChangeArrowheads="1"/>
            </p:cNvPicPr>
            <p:nvPr/>
          </p:nvPicPr>
          <p:blipFill>
            <a:blip r:embed="rId4" cstate="print"/>
            <a:srcRect/>
            <a:stretch>
              <a:fillRect/>
            </a:stretch>
          </p:blipFill>
          <p:spPr bwMode="auto">
            <a:xfrm>
              <a:off x="1247" y="2795"/>
              <a:ext cx="272" cy="272"/>
            </a:xfrm>
            <a:prstGeom prst="rect">
              <a:avLst/>
            </a:prstGeom>
            <a:noFill/>
            <a:ln w="9525">
              <a:noFill/>
              <a:miter lim="800000"/>
              <a:headEnd/>
              <a:tailEnd/>
            </a:ln>
          </p:spPr>
        </p:pic>
        <p:pic>
          <p:nvPicPr>
            <p:cNvPr id="18" name="Picture 44" descr="j0441454">
              <a:extLst>
                <a:ext uri="{FF2B5EF4-FFF2-40B4-BE49-F238E27FC236}">
                  <a16:creationId xmlns:a16="http://schemas.microsoft.com/office/drawing/2014/main" id="{A6FF94E0-1224-B1B2-CA9A-04DA7A0D46FE}"/>
                </a:ext>
              </a:extLst>
            </p:cNvPr>
            <p:cNvPicPr>
              <a:picLocks noChangeAspect="1" noChangeArrowheads="1"/>
            </p:cNvPicPr>
            <p:nvPr/>
          </p:nvPicPr>
          <p:blipFill>
            <a:blip r:embed="rId4" cstate="print"/>
            <a:srcRect/>
            <a:stretch>
              <a:fillRect/>
            </a:stretch>
          </p:blipFill>
          <p:spPr bwMode="auto">
            <a:xfrm>
              <a:off x="1247" y="3112"/>
              <a:ext cx="272" cy="272"/>
            </a:xfrm>
            <a:prstGeom prst="rect">
              <a:avLst/>
            </a:prstGeom>
            <a:noFill/>
            <a:ln w="9525">
              <a:noFill/>
              <a:miter lim="800000"/>
              <a:headEnd/>
              <a:tailEnd/>
            </a:ln>
          </p:spPr>
        </p:pic>
        <p:pic>
          <p:nvPicPr>
            <p:cNvPr id="19" name="Picture 45" descr="j0441454">
              <a:extLst>
                <a:ext uri="{FF2B5EF4-FFF2-40B4-BE49-F238E27FC236}">
                  <a16:creationId xmlns:a16="http://schemas.microsoft.com/office/drawing/2014/main" id="{9AE36CAD-D159-0DB0-3B8D-1B708B5BEF92}"/>
                </a:ext>
              </a:extLst>
            </p:cNvPr>
            <p:cNvPicPr>
              <a:picLocks noChangeAspect="1" noChangeArrowheads="1"/>
            </p:cNvPicPr>
            <p:nvPr/>
          </p:nvPicPr>
          <p:blipFill>
            <a:blip r:embed="rId4" cstate="print"/>
            <a:srcRect/>
            <a:stretch>
              <a:fillRect/>
            </a:stretch>
          </p:blipFill>
          <p:spPr bwMode="auto">
            <a:xfrm>
              <a:off x="1565" y="2795"/>
              <a:ext cx="272" cy="272"/>
            </a:xfrm>
            <a:prstGeom prst="rect">
              <a:avLst/>
            </a:prstGeom>
            <a:noFill/>
            <a:ln w="9525">
              <a:noFill/>
              <a:miter lim="800000"/>
              <a:headEnd/>
              <a:tailEnd/>
            </a:ln>
          </p:spPr>
        </p:pic>
        <p:pic>
          <p:nvPicPr>
            <p:cNvPr id="20" name="Picture 46" descr="j0441454">
              <a:extLst>
                <a:ext uri="{FF2B5EF4-FFF2-40B4-BE49-F238E27FC236}">
                  <a16:creationId xmlns:a16="http://schemas.microsoft.com/office/drawing/2014/main" id="{7C78421C-B0F8-7B97-6CB4-E0658922DCC0}"/>
                </a:ext>
              </a:extLst>
            </p:cNvPr>
            <p:cNvPicPr>
              <a:picLocks noChangeAspect="1" noChangeArrowheads="1"/>
            </p:cNvPicPr>
            <p:nvPr/>
          </p:nvPicPr>
          <p:blipFill>
            <a:blip r:embed="rId4" cstate="print"/>
            <a:srcRect/>
            <a:stretch>
              <a:fillRect/>
            </a:stretch>
          </p:blipFill>
          <p:spPr bwMode="auto">
            <a:xfrm>
              <a:off x="1565" y="3112"/>
              <a:ext cx="272" cy="272"/>
            </a:xfrm>
            <a:prstGeom prst="rect">
              <a:avLst/>
            </a:prstGeom>
            <a:noFill/>
            <a:ln w="9525">
              <a:noFill/>
              <a:miter lim="800000"/>
              <a:headEnd/>
              <a:tailEnd/>
            </a:ln>
          </p:spPr>
        </p:pic>
        <p:pic>
          <p:nvPicPr>
            <p:cNvPr id="21" name="Picture 47" descr="j0441454">
              <a:extLst>
                <a:ext uri="{FF2B5EF4-FFF2-40B4-BE49-F238E27FC236}">
                  <a16:creationId xmlns:a16="http://schemas.microsoft.com/office/drawing/2014/main" id="{590A7D27-D029-57F6-D621-C037BEC64155}"/>
                </a:ext>
              </a:extLst>
            </p:cNvPr>
            <p:cNvPicPr>
              <a:picLocks noChangeAspect="1" noChangeArrowheads="1"/>
            </p:cNvPicPr>
            <p:nvPr/>
          </p:nvPicPr>
          <p:blipFill>
            <a:blip r:embed="rId4" cstate="print"/>
            <a:srcRect/>
            <a:stretch>
              <a:fillRect/>
            </a:stretch>
          </p:blipFill>
          <p:spPr bwMode="auto">
            <a:xfrm>
              <a:off x="1293" y="3430"/>
              <a:ext cx="272" cy="272"/>
            </a:xfrm>
            <a:prstGeom prst="rect">
              <a:avLst/>
            </a:prstGeom>
            <a:noFill/>
            <a:ln w="9525">
              <a:noFill/>
              <a:miter lim="800000"/>
              <a:headEnd/>
              <a:tailEnd/>
            </a:ln>
          </p:spPr>
        </p:pic>
        <p:pic>
          <p:nvPicPr>
            <p:cNvPr id="22" name="Picture 48" descr="j0441454">
              <a:extLst>
                <a:ext uri="{FF2B5EF4-FFF2-40B4-BE49-F238E27FC236}">
                  <a16:creationId xmlns:a16="http://schemas.microsoft.com/office/drawing/2014/main" id="{4EE1BC75-F678-A0C9-D650-98672ADFB507}"/>
                </a:ext>
              </a:extLst>
            </p:cNvPr>
            <p:cNvPicPr>
              <a:picLocks noChangeAspect="1" noChangeArrowheads="1"/>
            </p:cNvPicPr>
            <p:nvPr/>
          </p:nvPicPr>
          <p:blipFill>
            <a:blip r:embed="rId4" cstate="print"/>
            <a:srcRect/>
            <a:stretch>
              <a:fillRect/>
            </a:stretch>
          </p:blipFill>
          <p:spPr bwMode="auto">
            <a:xfrm>
              <a:off x="1610" y="3430"/>
              <a:ext cx="272" cy="272"/>
            </a:xfrm>
            <a:prstGeom prst="rect">
              <a:avLst/>
            </a:prstGeom>
            <a:noFill/>
            <a:ln w="9525">
              <a:noFill/>
              <a:miter lim="800000"/>
              <a:headEnd/>
              <a:tailEnd/>
            </a:ln>
          </p:spPr>
        </p:pic>
        <p:pic>
          <p:nvPicPr>
            <p:cNvPr id="23" name="Picture 49" descr="j0441454">
              <a:extLst>
                <a:ext uri="{FF2B5EF4-FFF2-40B4-BE49-F238E27FC236}">
                  <a16:creationId xmlns:a16="http://schemas.microsoft.com/office/drawing/2014/main" id="{5F07267C-A238-8053-E535-5837EC68E57F}"/>
                </a:ext>
              </a:extLst>
            </p:cNvPr>
            <p:cNvPicPr>
              <a:picLocks noChangeAspect="1" noChangeArrowheads="1"/>
            </p:cNvPicPr>
            <p:nvPr/>
          </p:nvPicPr>
          <p:blipFill>
            <a:blip r:embed="rId4" cstate="print"/>
            <a:srcRect/>
            <a:stretch>
              <a:fillRect/>
            </a:stretch>
          </p:blipFill>
          <p:spPr bwMode="auto">
            <a:xfrm>
              <a:off x="1837" y="2795"/>
              <a:ext cx="272" cy="272"/>
            </a:xfrm>
            <a:prstGeom prst="rect">
              <a:avLst/>
            </a:prstGeom>
            <a:noFill/>
            <a:ln w="9525">
              <a:noFill/>
              <a:miter lim="800000"/>
              <a:headEnd/>
              <a:tailEnd/>
            </a:ln>
          </p:spPr>
        </p:pic>
        <p:sp>
          <p:nvSpPr>
            <p:cNvPr id="24" name="Line 50">
              <a:extLst>
                <a:ext uri="{FF2B5EF4-FFF2-40B4-BE49-F238E27FC236}">
                  <a16:creationId xmlns:a16="http://schemas.microsoft.com/office/drawing/2014/main" id="{8A59783E-F184-6762-0799-2F797221FEC6}"/>
                </a:ext>
              </a:extLst>
            </p:cNvPr>
            <p:cNvSpPr>
              <a:spLocks noChangeShapeType="1"/>
            </p:cNvSpPr>
            <p:nvPr/>
          </p:nvSpPr>
          <p:spPr bwMode="auto">
            <a:xfrm flipV="1">
              <a:off x="249" y="3021"/>
              <a:ext cx="3946" cy="1"/>
            </a:xfrm>
            <a:prstGeom prst="line">
              <a:avLst/>
            </a:prstGeom>
            <a:noFill/>
            <a:ln w="9525">
              <a:solidFill>
                <a:schemeClr val="tx1"/>
              </a:solidFill>
              <a:round/>
              <a:headEnd/>
              <a:tailEnd/>
            </a:ln>
          </p:spPr>
          <p:txBody>
            <a:bodyPr/>
            <a:lstStyle/>
            <a:p>
              <a:endParaRPr lang="fr-FR"/>
            </a:p>
          </p:txBody>
        </p:sp>
        <p:sp>
          <p:nvSpPr>
            <p:cNvPr id="25" name="Line 51">
              <a:extLst>
                <a:ext uri="{FF2B5EF4-FFF2-40B4-BE49-F238E27FC236}">
                  <a16:creationId xmlns:a16="http://schemas.microsoft.com/office/drawing/2014/main" id="{B354069A-8B1A-793A-232B-780297C8D0F0}"/>
                </a:ext>
              </a:extLst>
            </p:cNvPr>
            <p:cNvSpPr>
              <a:spLocks noChangeShapeType="1"/>
            </p:cNvSpPr>
            <p:nvPr/>
          </p:nvSpPr>
          <p:spPr bwMode="auto">
            <a:xfrm>
              <a:off x="249" y="3339"/>
              <a:ext cx="3946" cy="0"/>
            </a:xfrm>
            <a:prstGeom prst="line">
              <a:avLst/>
            </a:prstGeom>
            <a:noFill/>
            <a:ln w="9525">
              <a:solidFill>
                <a:schemeClr val="tx1"/>
              </a:solidFill>
              <a:round/>
              <a:headEnd/>
              <a:tailEnd/>
            </a:ln>
          </p:spPr>
          <p:txBody>
            <a:bodyPr/>
            <a:lstStyle/>
            <a:p>
              <a:endParaRPr lang="fr-FR"/>
            </a:p>
          </p:txBody>
        </p:sp>
      </p:grpSp>
      <p:sp>
        <p:nvSpPr>
          <p:cNvPr id="2" name="Titre 1">
            <a:extLst>
              <a:ext uri="{FF2B5EF4-FFF2-40B4-BE49-F238E27FC236}">
                <a16:creationId xmlns:a16="http://schemas.microsoft.com/office/drawing/2014/main" id="{BD62735B-9E68-5438-B3C6-281D0F6D206F}"/>
              </a:ext>
            </a:extLst>
          </p:cNvPr>
          <p:cNvSpPr>
            <a:spLocks noGrp="1"/>
          </p:cNvSpPr>
          <p:nvPr>
            <p:ph type="title"/>
          </p:nvPr>
        </p:nvSpPr>
        <p:spPr/>
        <p:txBody>
          <a:bodyPr/>
          <a:lstStyle/>
          <a:p>
            <a:r>
              <a:rPr lang="fr-FR" dirty="0"/>
              <a:t>	Scrum board</a:t>
            </a:r>
          </a:p>
        </p:txBody>
      </p:sp>
      <p:sp>
        <p:nvSpPr>
          <p:cNvPr id="3" name="Espace réservé du pied de page 2">
            <a:extLst>
              <a:ext uri="{FF2B5EF4-FFF2-40B4-BE49-F238E27FC236}">
                <a16:creationId xmlns:a16="http://schemas.microsoft.com/office/drawing/2014/main" id="{C62B786D-78A2-1A2C-94FF-33F4C09E6CFC}"/>
              </a:ext>
            </a:extLst>
          </p:cNvPr>
          <p:cNvSpPr>
            <a:spLocks noGrp="1"/>
          </p:cNvSpPr>
          <p:nvPr>
            <p:ph type="ftr" sz="quarter" idx="10"/>
          </p:nvPr>
        </p:nvSpPr>
        <p:spPr/>
        <p:txBody>
          <a:bodyPr/>
          <a:lstStyle/>
          <a:p>
            <a:pPr>
              <a:defRPr/>
            </a:pPr>
            <a:r>
              <a:rPr lang="fr-FR"/>
              <a:t>Introduction à l'agilité</a:t>
            </a:r>
            <a:endParaRPr lang="fr-FR" dirty="0"/>
          </a:p>
        </p:txBody>
      </p:sp>
      <p:sp>
        <p:nvSpPr>
          <p:cNvPr id="6" name="Rectangle 5">
            <a:extLst>
              <a:ext uri="{FF2B5EF4-FFF2-40B4-BE49-F238E27FC236}">
                <a16:creationId xmlns:a16="http://schemas.microsoft.com/office/drawing/2014/main" id="{A787566E-1D01-CC08-5C42-57DFC5C87CC1}"/>
              </a:ext>
            </a:extLst>
          </p:cNvPr>
          <p:cNvSpPr/>
          <p:nvPr/>
        </p:nvSpPr>
        <p:spPr>
          <a:xfrm>
            <a:off x="1705523" y="5193705"/>
            <a:ext cx="5359843" cy="576943"/>
          </a:xfrm>
          <a:prstGeom prst="wedgeRectCallout">
            <a:avLst>
              <a:gd name="adj1" fmla="val -53273"/>
              <a:gd name="adj2" fmla="val -20464"/>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600" dirty="0">
              <a:solidFill>
                <a:srgbClr val="5166A9"/>
              </a:solidFill>
            </a:endParaRPr>
          </a:p>
          <a:p>
            <a:pPr algn="ctr"/>
            <a:r>
              <a:rPr lang="fr-FR" sz="1600" dirty="0">
                <a:solidFill>
                  <a:srgbClr val="232F3F"/>
                </a:solidFill>
              </a:rPr>
              <a:t>On cherche à limiter le </a:t>
            </a:r>
            <a:r>
              <a:rPr lang="fr-FR" sz="1600" dirty="0">
                <a:solidFill>
                  <a:srgbClr val="C00000"/>
                </a:solidFill>
              </a:rPr>
              <a:t>WIP (Work In Progress)</a:t>
            </a:r>
          </a:p>
          <a:p>
            <a:endParaRPr lang="fr-FR" sz="1600" dirty="0">
              <a:solidFill>
                <a:srgbClr val="5166A9"/>
              </a:solidFill>
            </a:endParaRPr>
          </a:p>
        </p:txBody>
      </p:sp>
      <p:pic>
        <p:nvPicPr>
          <p:cNvPr id="26" name="Image 25">
            <a:extLst>
              <a:ext uri="{FF2B5EF4-FFF2-40B4-BE49-F238E27FC236}">
                <a16:creationId xmlns:a16="http://schemas.microsoft.com/office/drawing/2014/main" id="{4A0180DF-7D51-B4D4-B0BE-3D7A5DBAE6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6040" y="5090453"/>
            <a:ext cx="690114" cy="690114"/>
          </a:xfrm>
          <a:prstGeom prst="rect">
            <a:avLst/>
          </a:prstGeom>
        </p:spPr>
      </p:pic>
    </p:spTree>
    <p:extLst>
      <p:ext uri="{BB962C8B-B14F-4D97-AF65-F5344CB8AC3E}">
        <p14:creationId xmlns:p14="http://schemas.microsoft.com/office/powerpoint/2010/main" val="3999778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Burndown Chart</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sp>
        <p:nvSpPr>
          <p:cNvPr id="4" name="Espace réservé du contenu 3"/>
          <p:cNvSpPr>
            <a:spLocks noGrp="1"/>
          </p:cNvSpPr>
          <p:nvPr>
            <p:ph sz="quarter" idx="12"/>
          </p:nvPr>
        </p:nvSpPr>
        <p:spPr/>
        <p:txBody>
          <a:bodyPr/>
          <a:lstStyle/>
          <a:p>
            <a:r>
              <a:rPr lang="fr-FR" dirty="0"/>
              <a:t>Actualisé quotidiennement par l’équipe</a:t>
            </a:r>
          </a:p>
          <a:p>
            <a:r>
              <a:rPr lang="fr-FR" dirty="0"/>
              <a:t>Permet de prévoir la fin de sprint et d’agir</a:t>
            </a:r>
          </a:p>
        </p:txBody>
      </p:sp>
      <p:pic>
        <p:nvPicPr>
          <p:cNvPr id="1026" name="Picture 2" descr="Exemple de Burndown Chart de Spri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2780928"/>
            <a:ext cx="4427435" cy="316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2734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Sprint Review</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sp>
        <p:nvSpPr>
          <p:cNvPr id="4" name="Espace réservé du contenu 3"/>
          <p:cNvSpPr>
            <a:spLocks noGrp="1"/>
          </p:cNvSpPr>
          <p:nvPr>
            <p:ph sz="quarter" idx="12"/>
          </p:nvPr>
        </p:nvSpPr>
        <p:spPr>
          <a:xfrm>
            <a:off x="461273" y="2420888"/>
            <a:ext cx="8262158" cy="2931704"/>
          </a:xfrm>
        </p:spPr>
        <p:txBody>
          <a:bodyPr/>
          <a:lstStyle/>
          <a:p>
            <a:r>
              <a:rPr lang="fr-FR" dirty="0"/>
              <a:t>Qui ? Toute l’équipe et des invités</a:t>
            </a:r>
          </a:p>
          <a:p>
            <a:r>
              <a:rPr lang="fr-FR" dirty="0"/>
              <a:t>Quand ? A la fin de chaque sprint</a:t>
            </a:r>
          </a:p>
          <a:p>
            <a:r>
              <a:rPr lang="fr-FR" dirty="0">
                <a:solidFill>
                  <a:srgbClr val="BE1218"/>
                </a:solidFill>
              </a:rPr>
              <a:t>Démo</a:t>
            </a:r>
            <a:r>
              <a:rPr lang="fr-FR" dirty="0"/>
              <a:t> du produit (se prépare)</a:t>
            </a:r>
          </a:p>
          <a:p>
            <a:r>
              <a:rPr lang="fr-FR" dirty="0"/>
              <a:t>Mettre à jour le Product backlog</a:t>
            </a:r>
          </a:p>
        </p:txBody>
      </p:sp>
      <p:graphicFrame>
        <p:nvGraphicFramePr>
          <p:cNvPr id="5" name="Espace réservé du contenu 4"/>
          <p:cNvGraphicFramePr>
            <a:graphicFrameLocks/>
          </p:cNvGraphicFramePr>
          <p:nvPr>
            <p:extLst>
              <p:ext uri="{D42A27DB-BD31-4B8C-83A1-F6EECF244321}">
                <p14:modId xmlns:p14="http://schemas.microsoft.com/office/powerpoint/2010/main" val="3072694519"/>
              </p:ext>
            </p:extLst>
          </p:nvPr>
        </p:nvGraphicFramePr>
        <p:xfrm>
          <a:off x="461939" y="1272951"/>
          <a:ext cx="8262938" cy="11851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911767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Sprint Retrospective</a:t>
            </a:r>
          </a:p>
        </p:txBody>
      </p:sp>
      <p:sp>
        <p:nvSpPr>
          <p:cNvPr id="3" name="Espace réservé du pied de page 2"/>
          <p:cNvSpPr>
            <a:spLocks noGrp="1"/>
          </p:cNvSpPr>
          <p:nvPr>
            <p:ph type="ftr" sz="quarter" idx="10"/>
          </p:nvPr>
        </p:nvSpPr>
        <p:spPr/>
        <p:txBody>
          <a:bodyPr/>
          <a:lstStyle/>
          <a:p>
            <a:pPr>
              <a:defRPr/>
            </a:pPr>
            <a:r>
              <a:rPr lang="fr-FR"/>
              <a:t>Concepteur Développeur | 2018</a:t>
            </a:r>
            <a:endParaRPr lang="fr-FR" dirty="0"/>
          </a:p>
        </p:txBody>
      </p:sp>
      <p:sp>
        <p:nvSpPr>
          <p:cNvPr id="4" name="Espace réservé du contenu 3"/>
          <p:cNvSpPr>
            <a:spLocks noGrp="1"/>
          </p:cNvSpPr>
          <p:nvPr>
            <p:ph sz="quarter" idx="12"/>
          </p:nvPr>
        </p:nvSpPr>
        <p:spPr>
          <a:xfrm>
            <a:off x="486554" y="2243751"/>
            <a:ext cx="8117894" cy="3417497"/>
          </a:xfrm>
        </p:spPr>
        <p:txBody>
          <a:bodyPr/>
          <a:lstStyle/>
          <a:p>
            <a:r>
              <a:rPr lang="fr-FR" dirty="0"/>
              <a:t>Qui ? Tout le monde</a:t>
            </a:r>
          </a:p>
          <a:p>
            <a:r>
              <a:rPr lang="fr-FR" dirty="0"/>
              <a:t>Quand ? après la revue de sprint</a:t>
            </a:r>
          </a:p>
          <a:p>
            <a:r>
              <a:rPr lang="fr-FR" dirty="0"/>
              <a:t>But : Amélioration continue</a:t>
            </a:r>
          </a:p>
          <a:p>
            <a:pPr lvl="1"/>
            <a:r>
              <a:rPr lang="fr-FR" dirty="0"/>
              <a:t>Ce qui a bien marché</a:t>
            </a:r>
          </a:p>
          <a:p>
            <a:pPr lvl="1"/>
            <a:r>
              <a:rPr lang="fr-FR" dirty="0"/>
              <a:t>Ce qui a moins bien marché</a:t>
            </a:r>
          </a:p>
          <a:p>
            <a:pPr lvl="1"/>
            <a:r>
              <a:rPr lang="fr-FR" dirty="0"/>
              <a:t>Partager les points de vue</a:t>
            </a:r>
          </a:p>
          <a:p>
            <a:pPr lvl="1"/>
            <a:r>
              <a:rPr lang="fr-FR" dirty="0"/>
              <a:t>Définir les améliorations prioritaires</a:t>
            </a:r>
          </a:p>
          <a:p>
            <a:pPr lvl="1"/>
            <a:r>
              <a:rPr lang="fr-FR" dirty="0"/>
              <a:t>Prendre des actions pour le prochain sprint</a:t>
            </a:r>
          </a:p>
        </p:txBody>
      </p:sp>
      <p:graphicFrame>
        <p:nvGraphicFramePr>
          <p:cNvPr id="5" name="Espace réservé du contenu 4"/>
          <p:cNvGraphicFramePr>
            <a:graphicFrameLocks/>
          </p:cNvGraphicFramePr>
          <p:nvPr>
            <p:extLst>
              <p:ext uri="{D42A27DB-BD31-4B8C-83A1-F6EECF244321}">
                <p14:modId xmlns:p14="http://schemas.microsoft.com/office/powerpoint/2010/main" val="3199802589"/>
              </p:ext>
            </p:extLst>
          </p:nvPr>
        </p:nvGraphicFramePr>
        <p:xfrm>
          <a:off x="434975" y="1091751"/>
          <a:ext cx="8262938" cy="11851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Image 6">
            <a:extLst>
              <a:ext uri="{FF2B5EF4-FFF2-40B4-BE49-F238E27FC236}">
                <a16:creationId xmlns:a16="http://schemas.microsoft.com/office/drawing/2014/main" id="{AC92F93A-043E-F9AE-C33F-610C0C6B456C}"/>
              </a:ext>
            </a:extLst>
          </p:cNvPr>
          <p:cNvPicPr>
            <a:picLocks noChangeAspect="1"/>
          </p:cNvPicPr>
          <p:nvPr/>
        </p:nvPicPr>
        <p:blipFill rotWithShape="1">
          <a:blip r:embed="rId8">
            <a:extLst>
              <a:ext uri="{28A0092B-C50C-407E-A947-70E740481C1C}">
                <a14:useLocalDpi xmlns:a14="http://schemas.microsoft.com/office/drawing/2010/main" val="0"/>
              </a:ext>
            </a:extLst>
          </a:blip>
          <a:srcRect l="29159" r="27641"/>
          <a:stretch/>
        </p:blipFill>
        <p:spPr>
          <a:xfrm>
            <a:off x="6516216" y="2778967"/>
            <a:ext cx="2139811" cy="1981334"/>
          </a:xfrm>
          <a:prstGeom prst="rect">
            <a:avLst/>
          </a:prstGeom>
        </p:spPr>
      </p:pic>
    </p:spTree>
    <p:extLst>
      <p:ext uri="{BB962C8B-B14F-4D97-AF65-F5344CB8AC3E}">
        <p14:creationId xmlns:p14="http://schemas.microsoft.com/office/powerpoint/2010/main" val="2357034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66AF1F-B607-9A24-CFFF-F2ED696DDC80}"/>
              </a:ext>
            </a:extLst>
          </p:cNvPr>
          <p:cNvSpPr>
            <a:spLocks noGrp="1"/>
          </p:cNvSpPr>
          <p:nvPr>
            <p:ph type="title"/>
          </p:nvPr>
        </p:nvSpPr>
        <p:spPr/>
        <p:txBody>
          <a:bodyPr/>
          <a:lstStyle/>
          <a:p>
            <a:r>
              <a:rPr lang="fr-FR" dirty="0"/>
              <a:t>	Sprint Retrospective – des outils</a:t>
            </a:r>
          </a:p>
        </p:txBody>
      </p:sp>
      <p:sp>
        <p:nvSpPr>
          <p:cNvPr id="3" name="Espace réservé du pied de page 2">
            <a:extLst>
              <a:ext uri="{FF2B5EF4-FFF2-40B4-BE49-F238E27FC236}">
                <a16:creationId xmlns:a16="http://schemas.microsoft.com/office/drawing/2014/main" id="{B2014D96-99CE-E402-7D84-6C29130E9244}"/>
              </a:ext>
            </a:extLst>
          </p:cNvPr>
          <p:cNvSpPr>
            <a:spLocks noGrp="1"/>
          </p:cNvSpPr>
          <p:nvPr>
            <p:ph type="ftr" sz="quarter" idx="10"/>
          </p:nvPr>
        </p:nvSpPr>
        <p:spPr/>
        <p:txBody>
          <a:bodyPr/>
          <a:lstStyle/>
          <a:p>
            <a:pPr>
              <a:defRPr/>
            </a:pPr>
            <a:r>
              <a:rPr lang="fr-FR"/>
              <a:t>Introduction à l'agilité</a:t>
            </a:r>
            <a:endParaRPr lang="fr-FR" dirty="0"/>
          </a:p>
        </p:txBody>
      </p:sp>
      <p:pic>
        <p:nvPicPr>
          <p:cNvPr id="5" name="Espace réservé du contenu 4">
            <a:extLst>
              <a:ext uri="{FF2B5EF4-FFF2-40B4-BE49-F238E27FC236}">
                <a16:creationId xmlns:a16="http://schemas.microsoft.com/office/drawing/2014/main" id="{CA05D5C6-1DF2-B2FC-EF6B-E257E8152A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3" y="1556792"/>
            <a:ext cx="4032448" cy="2419469"/>
          </a:xfrm>
          <a:prstGeom prst="rect">
            <a:avLst/>
          </a:prstGeom>
        </p:spPr>
      </p:pic>
      <p:pic>
        <p:nvPicPr>
          <p:cNvPr id="6" name="Image 5">
            <a:extLst>
              <a:ext uri="{FF2B5EF4-FFF2-40B4-BE49-F238E27FC236}">
                <a16:creationId xmlns:a16="http://schemas.microsoft.com/office/drawing/2014/main" id="{8B74D018-E99A-3AFC-BCE9-DD966B7F5B78}"/>
              </a:ext>
            </a:extLst>
          </p:cNvPr>
          <p:cNvPicPr>
            <a:picLocks noChangeAspect="1"/>
          </p:cNvPicPr>
          <p:nvPr/>
        </p:nvPicPr>
        <p:blipFill>
          <a:blip r:embed="rId4"/>
          <a:stretch>
            <a:fillRect/>
          </a:stretch>
        </p:blipFill>
        <p:spPr>
          <a:xfrm>
            <a:off x="4716016" y="1409623"/>
            <a:ext cx="4133446" cy="2566638"/>
          </a:xfrm>
          <a:prstGeom prst="rect">
            <a:avLst/>
          </a:prstGeom>
        </p:spPr>
      </p:pic>
      <p:pic>
        <p:nvPicPr>
          <p:cNvPr id="7" name="Image 6">
            <a:extLst>
              <a:ext uri="{FF2B5EF4-FFF2-40B4-BE49-F238E27FC236}">
                <a16:creationId xmlns:a16="http://schemas.microsoft.com/office/drawing/2014/main" id="{81EDCD73-46B2-FE9C-8E7F-A96242AC81D3}"/>
              </a:ext>
            </a:extLst>
          </p:cNvPr>
          <p:cNvPicPr>
            <a:picLocks noChangeAspect="1"/>
          </p:cNvPicPr>
          <p:nvPr/>
        </p:nvPicPr>
        <p:blipFill>
          <a:blip r:embed="rId5"/>
          <a:stretch>
            <a:fillRect/>
          </a:stretch>
        </p:blipFill>
        <p:spPr>
          <a:xfrm>
            <a:off x="2915816" y="4378937"/>
            <a:ext cx="2597121" cy="1603387"/>
          </a:xfrm>
          <a:prstGeom prst="rect">
            <a:avLst/>
          </a:prstGeom>
        </p:spPr>
      </p:pic>
    </p:spTree>
    <p:extLst>
      <p:ext uri="{BB962C8B-B14F-4D97-AF65-F5344CB8AC3E}">
        <p14:creationId xmlns:p14="http://schemas.microsoft.com/office/powerpoint/2010/main" val="4134955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8DBDE2-C0C8-21BA-42B2-C1C1B09EA127}"/>
              </a:ext>
            </a:extLst>
          </p:cNvPr>
          <p:cNvSpPr>
            <a:spLocks noGrp="1"/>
          </p:cNvSpPr>
          <p:nvPr>
            <p:ph type="title"/>
          </p:nvPr>
        </p:nvSpPr>
        <p:spPr/>
        <p:txBody>
          <a:bodyPr/>
          <a:lstStyle/>
          <a:p>
            <a:r>
              <a:rPr lang="fr-FR" dirty="0"/>
              <a:t>	C’est à vous !</a:t>
            </a:r>
          </a:p>
        </p:txBody>
      </p:sp>
      <p:sp>
        <p:nvSpPr>
          <p:cNvPr id="3" name="Espace réservé du pied de page 2">
            <a:extLst>
              <a:ext uri="{FF2B5EF4-FFF2-40B4-BE49-F238E27FC236}">
                <a16:creationId xmlns:a16="http://schemas.microsoft.com/office/drawing/2014/main" id="{A8693721-CD0A-AD94-6BED-894017272CEC}"/>
              </a:ext>
            </a:extLst>
          </p:cNvPr>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a:extLst>
              <a:ext uri="{FF2B5EF4-FFF2-40B4-BE49-F238E27FC236}">
                <a16:creationId xmlns:a16="http://schemas.microsoft.com/office/drawing/2014/main" id="{6911F8C2-6B10-D732-D9C8-B2DA2D9FA55C}"/>
              </a:ext>
            </a:extLst>
          </p:cNvPr>
          <p:cNvSpPr>
            <a:spLocks noGrp="1"/>
          </p:cNvSpPr>
          <p:nvPr>
            <p:ph sz="quarter" idx="12"/>
          </p:nvPr>
        </p:nvSpPr>
        <p:spPr/>
        <p:txBody>
          <a:bodyPr/>
          <a:lstStyle/>
          <a:p>
            <a:r>
              <a:rPr lang="fr-FR" dirty="0"/>
              <a:t>Citer 3 valeurs a développer dans une équipe agile : </a:t>
            </a:r>
            <a:r>
              <a:rPr lang="fr-FR" sz="2400" dirty="0">
                <a:hlinkClick r:id="rId3"/>
              </a:rPr>
              <a:t>https://www.menti.com/al8ursp7mson</a:t>
            </a:r>
            <a:endParaRPr lang="fr-FR" sz="2400" dirty="0"/>
          </a:p>
          <a:p>
            <a:endParaRPr lang="fr-FR" dirty="0"/>
          </a:p>
        </p:txBody>
      </p:sp>
      <p:pic>
        <p:nvPicPr>
          <p:cNvPr id="6" name="Image 5">
            <a:extLst>
              <a:ext uri="{FF2B5EF4-FFF2-40B4-BE49-F238E27FC236}">
                <a16:creationId xmlns:a16="http://schemas.microsoft.com/office/drawing/2014/main" id="{36369FE1-D5D4-58FF-1AB1-25B601D289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962" y="2636912"/>
            <a:ext cx="3171529" cy="3171529"/>
          </a:xfrm>
          <a:prstGeom prst="rect">
            <a:avLst/>
          </a:prstGeom>
        </p:spPr>
      </p:pic>
      <p:pic>
        <p:nvPicPr>
          <p:cNvPr id="7" name="Image 6">
            <a:extLst>
              <a:ext uri="{FF2B5EF4-FFF2-40B4-BE49-F238E27FC236}">
                <a16:creationId xmlns:a16="http://schemas.microsoft.com/office/drawing/2014/main" id="{B8E50332-05BE-7D44-8A2D-B02A2D4FA27E}"/>
              </a:ext>
            </a:extLst>
          </p:cNvPr>
          <p:cNvPicPr>
            <a:picLocks noChangeAspect="1"/>
          </p:cNvPicPr>
          <p:nvPr/>
        </p:nvPicPr>
        <p:blipFill>
          <a:blip r:embed="rId5"/>
          <a:stretch>
            <a:fillRect/>
          </a:stretch>
        </p:blipFill>
        <p:spPr>
          <a:xfrm>
            <a:off x="6831782" y="3663733"/>
            <a:ext cx="1658256" cy="1987468"/>
          </a:xfrm>
          <a:prstGeom prst="rect">
            <a:avLst/>
          </a:prstGeom>
        </p:spPr>
      </p:pic>
    </p:spTree>
    <p:extLst>
      <p:ext uri="{BB962C8B-B14F-4D97-AF65-F5344CB8AC3E}">
        <p14:creationId xmlns:p14="http://schemas.microsoft.com/office/powerpoint/2010/main" val="25026416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Valeurs dans l’équipe</a:t>
            </a:r>
          </a:p>
        </p:txBody>
      </p:sp>
      <p:sp>
        <p:nvSpPr>
          <p:cNvPr id="3" name="Espace réservé du pied de page 2"/>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p:cNvSpPr>
            <a:spLocks noGrp="1"/>
          </p:cNvSpPr>
          <p:nvPr>
            <p:ph sz="quarter" idx="12"/>
          </p:nvPr>
        </p:nvSpPr>
        <p:spPr>
          <a:xfrm>
            <a:off x="435755" y="1312481"/>
            <a:ext cx="8528733" cy="4752975"/>
          </a:xfrm>
        </p:spPr>
        <p:txBody>
          <a:bodyPr/>
          <a:lstStyle/>
          <a:p>
            <a:r>
              <a:rPr lang="fr-FR" b="1" dirty="0"/>
              <a:t>Simplicité / Pragmatisme </a:t>
            </a:r>
          </a:p>
          <a:p>
            <a:pPr marL="722313" lvl="2" indent="-361950">
              <a:lnSpc>
                <a:spcPct val="90000"/>
              </a:lnSpc>
              <a:spcBef>
                <a:spcPts val="138"/>
              </a:spcBef>
              <a:buClr>
                <a:srgbClr val="00B0F6"/>
              </a:buClr>
              <a:buFont typeface="Wingdings" panose="05000000000000000000" pitchFamily="2" charset="2"/>
              <a:buChar char="ð"/>
            </a:pPr>
            <a:r>
              <a:rPr lang="fr-FR" altLang="fr-FR" sz="2000" i="0" dirty="0">
                <a:solidFill>
                  <a:srgbClr val="232F3F"/>
                </a:solidFill>
              </a:rPr>
              <a:t>Privilégier la conception la plus simple</a:t>
            </a:r>
          </a:p>
          <a:p>
            <a:pPr marL="722313" lvl="2" indent="-361950">
              <a:lnSpc>
                <a:spcPct val="90000"/>
              </a:lnSpc>
              <a:spcBef>
                <a:spcPts val="138"/>
              </a:spcBef>
              <a:buClr>
                <a:srgbClr val="00B0F6"/>
              </a:buClr>
              <a:buFont typeface="Wingdings" panose="05000000000000000000" pitchFamily="2" charset="2"/>
              <a:buChar char="ð"/>
            </a:pPr>
            <a:r>
              <a:rPr lang="fr-FR" altLang="fr-FR" sz="2000" i="0" dirty="0">
                <a:solidFill>
                  <a:srgbClr val="232F3F"/>
                </a:solidFill>
              </a:rPr>
              <a:t>La MOA ne demande que le besoin réel et immédiat</a:t>
            </a:r>
          </a:p>
          <a:p>
            <a:pPr marL="722313" lvl="2" indent="-361950">
              <a:lnSpc>
                <a:spcPct val="90000"/>
              </a:lnSpc>
              <a:spcBef>
                <a:spcPts val="138"/>
              </a:spcBef>
              <a:buClr>
                <a:srgbClr val="00B0F6"/>
              </a:buClr>
              <a:buFont typeface="Wingdings" panose="05000000000000000000" pitchFamily="2" charset="2"/>
              <a:buChar char="ð"/>
            </a:pPr>
            <a:r>
              <a:rPr lang="fr-FR" altLang="fr-FR" sz="2000" i="0" dirty="0">
                <a:solidFill>
                  <a:srgbClr val="232F3F"/>
                </a:solidFill>
              </a:rPr>
              <a:t>La MOE ne réalise que ce qui est demandé</a:t>
            </a:r>
          </a:p>
          <a:p>
            <a:pPr marL="722313" lvl="2" indent="-361950">
              <a:lnSpc>
                <a:spcPct val="90000"/>
              </a:lnSpc>
              <a:spcBef>
                <a:spcPts val="138"/>
              </a:spcBef>
              <a:buClr>
                <a:srgbClr val="00B0F6"/>
              </a:buClr>
              <a:buFont typeface="Wingdings" panose="05000000000000000000" pitchFamily="2" charset="2"/>
              <a:buChar char="ð"/>
            </a:pPr>
            <a:r>
              <a:rPr lang="fr-FR" altLang="fr-FR" sz="2000" i="0" dirty="0">
                <a:solidFill>
                  <a:srgbClr val="232F3F"/>
                </a:solidFill>
              </a:rPr>
              <a:t>NE JAMAIS ANTICIPER UN BESOIN NON EXPRIMÉ</a:t>
            </a:r>
          </a:p>
          <a:p>
            <a:pPr marL="722313" lvl="2" indent="-361950">
              <a:lnSpc>
                <a:spcPct val="90000"/>
              </a:lnSpc>
              <a:spcBef>
                <a:spcPts val="138"/>
              </a:spcBef>
              <a:buClr>
                <a:srgbClr val="FF850D"/>
              </a:buClr>
              <a:buFont typeface="Wingdings" panose="05000000000000000000" pitchFamily="2" charset="2"/>
              <a:buChar char="§"/>
            </a:pPr>
            <a:endParaRPr lang="fr-FR" altLang="fr-FR" sz="2000" i="0" dirty="0">
              <a:solidFill>
                <a:srgbClr val="3D64A9"/>
              </a:solidFill>
            </a:endParaRPr>
          </a:p>
          <a:p>
            <a:pPr>
              <a:lnSpc>
                <a:spcPct val="90000"/>
              </a:lnSpc>
              <a:spcBef>
                <a:spcPts val="150"/>
              </a:spcBef>
            </a:pPr>
            <a:r>
              <a:rPr lang="fr-FR" altLang="fr-FR" b="1" dirty="0"/>
              <a:t>Courage</a:t>
            </a:r>
          </a:p>
          <a:p>
            <a:pPr marL="358775" lvl="1" indent="98425">
              <a:lnSpc>
                <a:spcPct val="90000"/>
              </a:lnSpc>
              <a:spcBef>
                <a:spcPts val="138"/>
              </a:spcBef>
              <a:buClr>
                <a:srgbClr val="00B0F6"/>
              </a:buClr>
            </a:pPr>
            <a:r>
              <a:rPr lang="fr-FR" altLang="fr-FR" dirty="0"/>
              <a:t>Résoudre les problèmes</a:t>
            </a:r>
          </a:p>
          <a:p>
            <a:pPr marL="358775" lvl="1" indent="98425">
              <a:lnSpc>
                <a:spcPct val="90000"/>
              </a:lnSpc>
              <a:spcBef>
                <a:spcPts val="138"/>
              </a:spcBef>
              <a:buClr>
                <a:srgbClr val="00B0F6"/>
              </a:buClr>
            </a:pPr>
            <a:r>
              <a:rPr lang="fr-FR" altLang="fr-FR" dirty="0"/>
              <a:t>Expérimenter de nouvelles méthodes</a:t>
            </a:r>
          </a:p>
          <a:p>
            <a:pPr marL="358775" lvl="1" indent="98425">
              <a:lnSpc>
                <a:spcPct val="90000"/>
              </a:lnSpc>
              <a:spcBef>
                <a:spcPts val="138"/>
              </a:spcBef>
              <a:buClr>
                <a:srgbClr val="00B0F6"/>
              </a:buClr>
            </a:pPr>
            <a:r>
              <a:rPr lang="fr-FR" altLang="fr-FR" dirty="0"/>
              <a:t>Se remettre en question, travailler collectivement</a:t>
            </a:r>
          </a:p>
          <a:p>
            <a:pPr marL="358775" lvl="1" indent="98425">
              <a:lnSpc>
                <a:spcPct val="90000"/>
              </a:lnSpc>
              <a:spcBef>
                <a:spcPts val="138"/>
              </a:spcBef>
              <a:buClr>
                <a:srgbClr val="00B0F6"/>
              </a:buClr>
            </a:pPr>
            <a:r>
              <a:rPr lang="fr-FR" altLang="fr-FR" dirty="0"/>
              <a:t>Casser du code qui fonctionne car le besoin a changé</a:t>
            </a:r>
          </a:p>
          <a:p>
            <a:pPr marL="358775" lvl="1" indent="98425">
              <a:lnSpc>
                <a:spcPct val="90000"/>
              </a:lnSpc>
              <a:spcBef>
                <a:spcPts val="138"/>
              </a:spcBef>
              <a:buClr>
                <a:srgbClr val="00B0F6"/>
              </a:buClr>
            </a:pPr>
            <a:r>
              <a:rPr lang="fr-FR" altLang="fr-FR" dirty="0" err="1"/>
              <a:t>Refactoring</a:t>
            </a:r>
            <a:r>
              <a:rPr lang="fr-FR" altLang="fr-FR" dirty="0"/>
              <a:t> pour améliorer du code qui fonctionne</a:t>
            </a:r>
          </a:p>
          <a:p>
            <a:pPr marL="358775" lvl="1" indent="98425">
              <a:lnSpc>
                <a:spcPct val="90000"/>
              </a:lnSpc>
              <a:spcBef>
                <a:spcPts val="138"/>
              </a:spcBef>
              <a:buClr>
                <a:srgbClr val="00B0F6"/>
              </a:buClr>
            </a:pPr>
            <a:r>
              <a:rPr lang="fr-FR" altLang="fr-FR" dirty="0"/>
              <a:t>S’engager sur des actions d’amélioration des pratiques</a:t>
            </a:r>
          </a:p>
          <a:p>
            <a:pPr lvl="1">
              <a:lnSpc>
                <a:spcPct val="90000"/>
              </a:lnSpc>
              <a:spcBef>
                <a:spcPts val="138"/>
              </a:spcBef>
              <a:buClr>
                <a:srgbClr val="FF850D"/>
              </a:buClr>
            </a:pPr>
            <a:endParaRPr lang="fr-FR" altLang="fr-FR" dirty="0">
              <a:solidFill>
                <a:srgbClr val="3D64A9"/>
              </a:solidFill>
            </a:endParaRPr>
          </a:p>
          <a:p>
            <a:pPr>
              <a:lnSpc>
                <a:spcPct val="90000"/>
              </a:lnSpc>
              <a:spcBef>
                <a:spcPts val="150"/>
              </a:spcBef>
            </a:pPr>
            <a:r>
              <a:rPr lang="fr-FR" altLang="fr-FR" b="1" dirty="0"/>
              <a:t>Respect</a:t>
            </a:r>
          </a:p>
          <a:p>
            <a:pPr marL="358775" lvl="1" indent="98425">
              <a:lnSpc>
                <a:spcPct val="90000"/>
              </a:lnSpc>
              <a:spcBef>
                <a:spcPts val="150"/>
              </a:spcBef>
            </a:pPr>
            <a:r>
              <a:rPr lang="fr-FR" altLang="fr-FR" dirty="0"/>
              <a:t>Des autres, de soi, des règles</a:t>
            </a:r>
          </a:p>
          <a:p>
            <a:pPr lvl="2">
              <a:lnSpc>
                <a:spcPct val="90000"/>
              </a:lnSpc>
              <a:spcBef>
                <a:spcPts val="138"/>
              </a:spcBef>
              <a:buClr>
                <a:srgbClr val="FF850D"/>
              </a:buClr>
              <a:buFont typeface="Arial" charset="0"/>
              <a:buChar char="•"/>
            </a:pPr>
            <a:endParaRPr lang="fr-FR" altLang="fr-FR" dirty="0">
              <a:solidFill>
                <a:srgbClr val="424A52"/>
              </a:solidFill>
            </a:endParaRPr>
          </a:p>
          <a:p>
            <a:pPr marL="722313" lvl="2" indent="-361950">
              <a:lnSpc>
                <a:spcPct val="90000"/>
              </a:lnSpc>
              <a:spcBef>
                <a:spcPts val="138"/>
              </a:spcBef>
              <a:buClr>
                <a:srgbClr val="FF850D"/>
              </a:buClr>
              <a:buFont typeface="Wingdings" panose="05000000000000000000" pitchFamily="2" charset="2"/>
              <a:buChar char="§"/>
            </a:pPr>
            <a:endParaRPr lang="fr-FR" altLang="fr-FR" sz="2000" i="0" dirty="0">
              <a:solidFill>
                <a:srgbClr val="3D64A9"/>
              </a:solidFill>
            </a:endParaRPr>
          </a:p>
        </p:txBody>
      </p:sp>
    </p:spTree>
    <p:extLst>
      <p:ext uri="{BB962C8B-B14F-4D97-AF65-F5344CB8AC3E}">
        <p14:creationId xmlns:p14="http://schemas.microsoft.com/office/powerpoint/2010/main" val="35343864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	Valeurs dans l’équipe</a:t>
            </a:r>
          </a:p>
        </p:txBody>
      </p:sp>
      <p:sp>
        <p:nvSpPr>
          <p:cNvPr id="3" name="Espace réservé du pied de page 2"/>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p:cNvSpPr>
            <a:spLocks noGrp="1"/>
          </p:cNvSpPr>
          <p:nvPr>
            <p:ph sz="quarter" idx="12"/>
          </p:nvPr>
        </p:nvSpPr>
        <p:spPr/>
        <p:txBody>
          <a:bodyPr/>
          <a:lstStyle/>
          <a:p>
            <a:pPr>
              <a:lnSpc>
                <a:spcPct val="90000"/>
              </a:lnSpc>
              <a:spcBef>
                <a:spcPts val="150"/>
              </a:spcBef>
            </a:pPr>
            <a:r>
              <a:rPr lang="fr-FR" altLang="fr-FR" b="1" dirty="0"/>
              <a:t>Feedback / Transparence / Confiance</a:t>
            </a:r>
          </a:p>
          <a:p>
            <a:pPr lvl="1">
              <a:lnSpc>
                <a:spcPct val="90000"/>
              </a:lnSpc>
              <a:spcBef>
                <a:spcPts val="150"/>
              </a:spcBef>
            </a:pPr>
            <a:r>
              <a:rPr lang="fr-FR" altLang="fr-FR" dirty="0"/>
              <a:t>Chacun sait rapidement ce qu’on pense de son travail</a:t>
            </a:r>
          </a:p>
          <a:p>
            <a:pPr lvl="1">
              <a:lnSpc>
                <a:spcPct val="90000"/>
              </a:lnSpc>
              <a:spcBef>
                <a:spcPts val="150"/>
              </a:spcBef>
            </a:pPr>
            <a:r>
              <a:rPr lang="fr-FR" altLang="fr-FR" dirty="0"/>
              <a:t>Feedback entre client et l’équipe</a:t>
            </a:r>
          </a:p>
          <a:p>
            <a:pPr lvl="1">
              <a:lnSpc>
                <a:spcPct val="90000"/>
              </a:lnSpc>
              <a:spcBef>
                <a:spcPts val="150"/>
              </a:spcBef>
            </a:pPr>
            <a:r>
              <a:rPr lang="fr-FR" altLang="fr-FR" dirty="0"/>
              <a:t>Les tests unitaires donnent du feedback sur le code</a:t>
            </a:r>
          </a:p>
          <a:p>
            <a:pPr lvl="1">
              <a:lnSpc>
                <a:spcPct val="90000"/>
              </a:lnSpc>
              <a:spcBef>
                <a:spcPts val="150"/>
              </a:spcBef>
            </a:pPr>
            <a:r>
              <a:rPr lang="fr-FR" altLang="fr-FR" dirty="0"/>
              <a:t>Les tests fonctionnels donnent du feedback sur le produit</a:t>
            </a:r>
            <a:endParaRPr lang="fr-FR" altLang="fr-FR" b="1" dirty="0"/>
          </a:p>
          <a:p>
            <a:pPr lvl="1">
              <a:lnSpc>
                <a:spcPct val="90000"/>
              </a:lnSpc>
              <a:spcBef>
                <a:spcPts val="138"/>
              </a:spcBef>
              <a:buClr>
                <a:srgbClr val="FF850D"/>
              </a:buClr>
              <a:buFont typeface="Arial" charset="0"/>
              <a:buChar char="•"/>
            </a:pPr>
            <a:endParaRPr lang="fr-FR" altLang="fr-FR" dirty="0">
              <a:solidFill>
                <a:srgbClr val="424A52"/>
              </a:solidFill>
            </a:endParaRPr>
          </a:p>
          <a:p>
            <a:pPr>
              <a:lnSpc>
                <a:spcPct val="90000"/>
              </a:lnSpc>
              <a:spcBef>
                <a:spcPts val="150"/>
              </a:spcBef>
            </a:pPr>
            <a:r>
              <a:rPr lang="fr-FR" altLang="fr-FR" b="1" dirty="0"/>
              <a:t>Communication / Collaboration</a:t>
            </a:r>
          </a:p>
          <a:p>
            <a:pPr lvl="1">
              <a:lnSpc>
                <a:spcPct val="90000"/>
              </a:lnSpc>
              <a:spcBef>
                <a:spcPts val="150"/>
              </a:spcBef>
            </a:pPr>
            <a:r>
              <a:rPr lang="fr-FR" altLang="fr-FR" dirty="0"/>
              <a:t>Le plus sûr moyen pour éviter les problèmes</a:t>
            </a:r>
          </a:p>
          <a:p>
            <a:pPr lvl="1">
              <a:lnSpc>
                <a:spcPct val="90000"/>
              </a:lnSpc>
              <a:spcBef>
                <a:spcPts val="150"/>
              </a:spcBef>
            </a:pPr>
            <a:r>
              <a:rPr lang="fr-FR" altLang="fr-FR" dirty="0"/>
              <a:t>Proximité, entraide</a:t>
            </a:r>
          </a:p>
          <a:p>
            <a:pPr lvl="1">
              <a:lnSpc>
                <a:spcPct val="90000"/>
              </a:lnSpc>
              <a:spcBef>
                <a:spcPts val="150"/>
              </a:spcBef>
            </a:pPr>
            <a:r>
              <a:rPr lang="fr-FR" altLang="fr-FR" dirty="0"/>
              <a:t>Pair </a:t>
            </a:r>
            <a:r>
              <a:rPr lang="fr-FR" altLang="fr-FR" dirty="0" err="1"/>
              <a:t>programming</a:t>
            </a:r>
            <a:r>
              <a:rPr lang="fr-FR" altLang="fr-FR" dirty="0"/>
              <a:t>, jeu du planning</a:t>
            </a:r>
          </a:p>
          <a:p>
            <a:pPr lvl="1">
              <a:lnSpc>
                <a:spcPct val="90000"/>
              </a:lnSpc>
              <a:spcBef>
                <a:spcPts val="150"/>
              </a:spcBef>
            </a:pPr>
            <a:r>
              <a:rPr lang="fr-FR" altLang="fr-FR" dirty="0"/>
              <a:t>Documentation dans le code</a:t>
            </a:r>
          </a:p>
          <a:p>
            <a:pPr lvl="1">
              <a:lnSpc>
                <a:spcPct val="90000"/>
              </a:lnSpc>
              <a:spcBef>
                <a:spcPts val="138"/>
              </a:spcBef>
              <a:buClr>
                <a:srgbClr val="FF850D"/>
              </a:buClr>
              <a:buFont typeface="Arial" charset="0"/>
              <a:buChar char="•"/>
            </a:pPr>
            <a:endParaRPr lang="fr-FR" altLang="fr-FR" dirty="0">
              <a:solidFill>
                <a:srgbClr val="424A52"/>
              </a:solidFill>
            </a:endParaRPr>
          </a:p>
          <a:p>
            <a:endParaRPr lang="fr-FR" dirty="0"/>
          </a:p>
        </p:txBody>
      </p:sp>
    </p:spTree>
    <p:extLst>
      <p:ext uri="{BB962C8B-B14F-4D97-AF65-F5344CB8AC3E}">
        <p14:creationId xmlns:p14="http://schemas.microsoft.com/office/powerpoint/2010/main" val="2696795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79C4A8-EFBC-AF0E-25F9-3B586FF7824D}"/>
              </a:ext>
            </a:extLst>
          </p:cNvPr>
          <p:cNvSpPr>
            <a:spLocks noGrp="1"/>
          </p:cNvSpPr>
          <p:nvPr>
            <p:ph type="title"/>
          </p:nvPr>
        </p:nvSpPr>
        <p:spPr/>
        <p:txBody>
          <a:bodyPr/>
          <a:lstStyle/>
          <a:p>
            <a:r>
              <a:rPr lang="fr-FR" dirty="0"/>
              <a:t>	C’est à vous !</a:t>
            </a:r>
          </a:p>
        </p:txBody>
      </p:sp>
      <p:sp>
        <p:nvSpPr>
          <p:cNvPr id="3" name="Espace réservé du pied de page 2">
            <a:extLst>
              <a:ext uri="{FF2B5EF4-FFF2-40B4-BE49-F238E27FC236}">
                <a16:creationId xmlns:a16="http://schemas.microsoft.com/office/drawing/2014/main" id="{5FEB4E4C-48D1-2B44-32AF-2D5C1281C617}"/>
              </a:ext>
            </a:extLst>
          </p:cNvPr>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a:extLst>
              <a:ext uri="{FF2B5EF4-FFF2-40B4-BE49-F238E27FC236}">
                <a16:creationId xmlns:a16="http://schemas.microsoft.com/office/drawing/2014/main" id="{EFCC1C13-546A-AAD6-C32E-C1F0A939EFFD}"/>
              </a:ext>
            </a:extLst>
          </p:cNvPr>
          <p:cNvSpPr>
            <a:spLocks noGrp="1"/>
          </p:cNvSpPr>
          <p:nvPr>
            <p:ph sz="quarter" idx="12"/>
          </p:nvPr>
        </p:nvSpPr>
        <p:spPr>
          <a:xfrm>
            <a:off x="440921" y="1202513"/>
            <a:ext cx="8262158" cy="4752975"/>
          </a:xfrm>
        </p:spPr>
        <p:txBody>
          <a:bodyPr/>
          <a:lstStyle/>
          <a:p>
            <a:r>
              <a:rPr lang="fr-FR" dirty="0"/>
              <a:t>Retrouvez la place de chaque élément</a:t>
            </a:r>
          </a:p>
        </p:txBody>
      </p:sp>
      <p:pic>
        <p:nvPicPr>
          <p:cNvPr id="7" name="Image 6">
            <a:hlinkClick r:id="rId3" tooltip="Cliquez sur l'image pour accéder à l'activité. Let's go!"/>
            <a:extLst>
              <a:ext uri="{FF2B5EF4-FFF2-40B4-BE49-F238E27FC236}">
                <a16:creationId xmlns:a16="http://schemas.microsoft.com/office/drawing/2014/main" id="{E55C9913-48D4-84C9-4CA2-94272124DE2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772816"/>
            <a:ext cx="9144000" cy="4349172"/>
          </a:xfrm>
          <a:prstGeom prst="rect">
            <a:avLst/>
          </a:prstGeom>
        </p:spPr>
      </p:pic>
    </p:spTree>
    <p:extLst>
      <p:ext uri="{BB962C8B-B14F-4D97-AF65-F5344CB8AC3E}">
        <p14:creationId xmlns:p14="http://schemas.microsoft.com/office/powerpoint/2010/main" val="335469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96CD01-70BC-E443-207F-E98C6805C8C1}"/>
              </a:ext>
            </a:extLst>
          </p:cNvPr>
          <p:cNvSpPr>
            <a:spLocks noGrp="1"/>
          </p:cNvSpPr>
          <p:nvPr>
            <p:ph type="title"/>
          </p:nvPr>
        </p:nvSpPr>
        <p:spPr/>
        <p:txBody>
          <a:bodyPr/>
          <a:lstStyle/>
          <a:p>
            <a:r>
              <a:rPr lang="fr-FR" dirty="0"/>
              <a:t>	En conclusion</a:t>
            </a:r>
          </a:p>
        </p:txBody>
      </p:sp>
      <p:sp>
        <p:nvSpPr>
          <p:cNvPr id="3" name="Espace réservé du pied de page 2">
            <a:extLst>
              <a:ext uri="{FF2B5EF4-FFF2-40B4-BE49-F238E27FC236}">
                <a16:creationId xmlns:a16="http://schemas.microsoft.com/office/drawing/2014/main" id="{BEA785BF-EA21-F3E6-6EF7-E2E179723B06}"/>
              </a:ext>
            </a:extLst>
          </p:cNvPr>
          <p:cNvSpPr>
            <a:spLocks noGrp="1"/>
          </p:cNvSpPr>
          <p:nvPr>
            <p:ph type="ftr" sz="quarter" idx="10"/>
          </p:nvPr>
        </p:nvSpPr>
        <p:spPr/>
        <p:txBody>
          <a:bodyPr/>
          <a:lstStyle/>
          <a:p>
            <a:pPr>
              <a:defRPr/>
            </a:pPr>
            <a:r>
              <a:rPr lang="fr-FR"/>
              <a:t>Introduction à l'agilité</a:t>
            </a:r>
            <a:endParaRPr lang="fr-FR" dirty="0"/>
          </a:p>
        </p:txBody>
      </p:sp>
      <p:sp>
        <p:nvSpPr>
          <p:cNvPr id="4" name="Espace réservé du contenu 3">
            <a:extLst>
              <a:ext uri="{FF2B5EF4-FFF2-40B4-BE49-F238E27FC236}">
                <a16:creationId xmlns:a16="http://schemas.microsoft.com/office/drawing/2014/main" id="{DBD3E300-C05B-FA93-AFA4-0994774B4EB2}"/>
              </a:ext>
            </a:extLst>
          </p:cNvPr>
          <p:cNvSpPr>
            <a:spLocks noGrp="1"/>
          </p:cNvSpPr>
          <p:nvPr>
            <p:ph sz="quarter" idx="12"/>
          </p:nvPr>
        </p:nvSpPr>
        <p:spPr/>
        <p:txBody>
          <a:bodyPr/>
          <a:lstStyle/>
          <a:p>
            <a:r>
              <a:rPr lang="fr-FR" dirty="0"/>
              <a:t>Cycle en V</a:t>
            </a:r>
          </a:p>
          <a:p>
            <a:pPr lvl="1"/>
            <a:r>
              <a:rPr lang="fr-FR" dirty="0"/>
              <a:t>Permet de mieux cadrer un projet </a:t>
            </a:r>
            <a:br>
              <a:rPr lang="fr-FR" dirty="0"/>
            </a:br>
            <a:r>
              <a:rPr lang="fr-FR" dirty="0"/>
              <a:t>quand </a:t>
            </a:r>
            <a:r>
              <a:rPr lang="fr-FR" dirty="0">
                <a:solidFill>
                  <a:srgbClr val="BE1218"/>
                </a:solidFill>
              </a:rPr>
              <a:t>le client a une vision précise des besoins</a:t>
            </a:r>
          </a:p>
          <a:p>
            <a:pPr lvl="1"/>
            <a:r>
              <a:rPr lang="fr-FR" dirty="0"/>
              <a:t>Pour des projets dans </a:t>
            </a:r>
            <a:r>
              <a:rPr lang="fr-FR" dirty="0">
                <a:solidFill>
                  <a:srgbClr val="BE1218"/>
                </a:solidFill>
              </a:rPr>
              <a:t>un domaine métier connu </a:t>
            </a:r>
            <a:r>
              <a:rPr lang="fr-FR" dirty="0"/>
              <a:t>de l’équipe, avec </a:t>
            </a:r>
            <a:r>
              <a:rPr lang="fr-FR" dirty="0">
                <a:solidFill>
                  <a:srgbClr val="BE1218"/>
                </a:solidFill>
              </a:rPr>
              <a:t>des technos maitrisées</a:t>
            </a:r>
          </a:p>
          <a:p>
            <a:pPr lvl="1"/>
            <a:endParaRPr lang="fr-FR" sz="800" dirty="0"/>
          </a:p>
          <a:p>
            <a:r>
              <a:rPr lang="fr-FR" dirty="0"/>
              <a:t>Approche agile</a:t>
            </a:r>
          </a:p>
          <a:p>
            <a:pPr lvl="1"/>
            <a:r>
              <a:rPr lang="fr-FR" dirty="0"/>
              <a:t>Convient à des projets plus complexes avec des besoins  qui évoluent (digital), présentant plus de risques</a:t>
            </a:r>
          </a:p>
          <a:p>
            <a:pPr lvl="1"/>
            <a:r>
              <a:rPr lang="fr-FR" dirty="0"/>
              <a:t>Pas rapidement adaptable </a:t>
            </a:r>
            <a:r>
              <a:rPr lang="fr-FR" i="1" dirty="0" err="1"/>
              <a:t>from</a:t>
            </a:r>
            <a:r>
              <a:rPr lang="fr-FR" i="1" dirty="0"/>
              <a:t> scratch </a:t>
            </a:r>
            <a:r>
              <a:rPr lang="fr-FR" dirty="0"/>
              <a:t>:</a:t>
            </a:r>
            <a:r>
              <a:rPr lang="fr-FR" i="1" dirty="0"/>
              <a:t> </a:t>
            </a:r>
            <a:r>
              <a:rPr lang="fr-FR" dirty="0">
                <a:solidFill>
                  <a:srgbClr val="BE1218"/>
                </a:solidFill>
              </a:rPr>
              <a:t>former l’équipe</a:t>
            </a:r>
          </a:p>
          <a:p>
            <a:pPr lvl="1"/>
            <a:r>
              <a:rPr lang="fr-FR" dirty="0"/>
              <a:t>Demande beaucoup de </a:t>
            </a:r>
            <a:r>
              <a:rPr lang="fr-FR" dirty="0">
                <a:solidFill>
                  <a:srgbClr val="BE1218"/>
                </a:solidFill>
              </a:rPr>
              <a:t>rigueur </a:t>
            </a:r>
            <a:br>
              <a:rPr lang="fr-FR" dirty="0"/>
            </a:br>
            <a:r>
              <a:rPr lang="fr-FR" dirty="0"/>
              <a:t>De </a:t>
            </a:r>
            <a:r>
              <a:rPr lang="fr-FR" dirty="0">
                <a:solidFill>
                  <a:srgbClr val="BE1218"/>
                </a:solidFill>
              </a:rPr>
              <a:t>la liberté et de l’autonomie </a:t>
            </a:r>
            <a:r>
              <a:rPr lang="fr-FR" dirty="0"/>
              <a:t>mais dans </a:t>
            </a:r>
            <a:r>
              <a:rPr lang="fr-FR" dirty="0">
                <a:solidFill>
                  <a:srgbClr val="BE1218"/>
                </a:solidFill>
              </a:rPr>
              <a:t>un cadre</a:t>
            </a:r>
            <a:br>
              <a:rPr lang="fr-FR" dirty="0">
                <a:solidFill>
                  <a:srgbClr val="BE1218"/>
                </a:solidFill>
              </a:rPr>
            </a:br>
            <a:r>
              <a:rPr lang="fr-FR" dirty="0">
                <a:solidFill>
                  <a:srgbClr val="BE1218"/>
                </a:solidFill>
              </a:rPr>
              <a:t>précis et exigeant</a:t>
            </a:r>
            <a:r>
              <a:rPr lang="fr-FR" dirty="0"/>
              <a:t> avec </a:t>
            </a:r>
            <a:r>
              <a:rPr lang="fr-FR" dirty="0">
                <a:solidFill>
                  <a:srgbClr val="BE1218"/>
                </a:solidFill>
              </a:rPr>
              <a:t>un suivi quotidien </a:t>
            </a:r>
            <a:r>
              <a:rPr lang="fr-FR" dirty="0"/>
              <a:t>…</a:t>
            </a:r>
          </a:p>
          <a:p>
            <a:pPr lvl="1"/>
            <a:endParaRPr lang="fr-FR" dirty="0"/>
          </a:p>
        </p:txBody>
      </p:sp>
    </p:spTree>
    <p:extLst>
      <p:ext uri="{BB962C8B-B14F-4D97-AF65-F5344CB8AC3E}">
        <p14:creationId xmlns:p14="http://schemas.microsoft.com/office/powerpoint/2010/main" val="33167016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F194BD08-B609-43EF-D0D5-926917C20857}"/>
              </a:ext>
            </a:extLst>
          </p:cNvPr>
          <p:cNvSpPr>
            <a:spLocks noGrp="1"/>
          </p:cNvSpPr>
          <p:nvPr>
            <p:ph type="ftr" sz="quarter" idx="10"/>
          </p:nvPr>
        </p:nvSpPr>
        <p:spPr/>
        <p:txBody>
          <a:bodyPr/>
          <a:lstStyle/>
          <a:p>
            <a:pPr>
              <a:defRPr/>
            </a:pPr>
            <a:r>
              <a:rPr lang="fr-FR"/>
              <a:t>Introduction à l'agilité</a:t>
            </a:r>
            <a:endParaRPr lang="fr-FR" dirty="0"/>
          </a:p>
        </p:txBody>
      </p:sp>
      <p:graphicFrame>
        <p:nvGraphicFramePr>
          <p:cNvPr id="5" name="Espace réservé du contenu 4">
            <a:extLst>
              <a:ext uri="{FF2B5EF4-FFF2-40B4-BE49-F238E27FC236}">
                <a16:creationId xmlns:a16="http://schemas.microsoft.com/office/drawing/2014/main" id="{1B95738F-6C4C-4498-AB87-B647EE517598}"/>
              </a:ext>
            </a:extLst>
          </p:cNvPr>
          <p:cNvGraphicFramePr>
            <a:graphicFrameLocks noGrp="1"/>
          </p:cNvGraphicFramePr>
          <p:nvPr>
            <p:ph sz="quarter" idx="12"/>
            <p:extLst>
              <p:ext uri="{D42A27DB-BD31-4B8C-83A1-F6EECF244321}">
                <p14:modId xmlns:p14="http://schemas.microsoft.com/office/powerpoint/2010/main" val="458862763"/>
              </p:ext>
            </p:extLst>
          </p:nvPr>
        </p:nvGraphicFramePr>
        <p:xfrm>
          <a:off x="-950" y="1"/>
          <a:ext cx="9144000" cy="6237310"/>
        </p:xfrm>
        <a:graphic>
          <a:graphicData uri="http://schemas.openxmlformats.org/drawingml/2006/table">
            <a:tbl>
              <a:tblPr firstRow="1" firstCol="1" bandRow="1">
                <a:tableStyleId>{5C22544A-7EE6-4342-B048-85BDC9FD1C3A}</a:tableStyleId>
              </a:tblPr>
              <a:tblGrid>
                <a:gridCol w="1974293">
                  <a:extLst>
                    <a:ext uri="{9D8B030D-6E8A-4147-A177-3AD203B41FA5}">
                      <a16:colId xmlns:a16="http://schemas.microsoft.com/office/drawing/2014/main" val="20000"/>
                    </a:ext>
                  </a:extLst>
                </a:gridCol>
                <a:gridCol w="3711086">
                  <a:extLst>
                    <a:ext uri="{9D8B030D-6E8A-4147-A177-3AD203B41FA5}">
                      <a16:colId xmlns:a16="http://schemas.microsoft.com/office/drawing/2014/main" val="20001"/>
                    </a:ext>
                  </a:extLst>
                </a:gridCol>
                <a:gridCol w="3458621">
                  <a:extLst>
                    <a:ext uri="{9D8B030D-6E8A-4147-A177-3AD203B41FA5}">
                      <a16:colId xmlns:a16="http://schemas.microsoft.com/office/drawing/2014/main" val="20002"/>
                    </a:ext>
                  </a:extLst>
                </a:gridCol>
              </a:tblGrid>
              <a:tr h="420606">
                <a:tc>
                  <a:txBody>
                    <a:bodyPr/>
                    <a:lstStyle/>
                    <a:p>
                      <a:endParaRPr lang="fr-FR" dirty="0">
                        <a:solidFill>
                          <a:srgbClr val="5166A9"/>
                        </a:solidFill>
                      </a:endParaRPr>
                    </a:p>
                  </a:txBody>
                  <a:tcPr>
                    <a:solidFill>
                      <a:schemeClr val="bg1"/>
                    </a:solidFill>
                  </a:tcPr>
                </a:tc>
                <a:tc>
                  <a:txBody>
                    <a:bodyPr/>
                    <a:lstStyle/>
                    <a:p>
                      <a:pPr algn="ctr"/>
                      <a:r>
                        <a:rPr lang="fr-FR" sz="1800" dirty="0">
                          <a:solidFill>
                            <a:srgbClr val="232F3F"/>
                          </a:solidFill>
                        </a:rPr>
                        <a:t>Cycle en V</a:t>
                      </a:r>
                    </a:p>
                  </a:txBody>
                  <a:tcPr/>
                </a:tc>
                <a:tc>
                  <a:txBody>
                    <a:bodyPr/>
                    <a:lstStyle/>
                    <a:p>
                      <a:pPr algn="ctr"/>
                      <a:r>
                        <a:rPr lang="fr-FR" sz="1800" dirty="0">
                          <a:solidFill>
                            <a:srgbClr val="232F3F"/>
                          </a:solidFill>
                        </a:rPr>
                        <a:t>Agile</a:t>
                      </a:r>
                    </a:p>
                  </a:txBody>
                  <a:tcPr/>
                </a:tc>
                <a:extLst>
                  <a:ext uri="{0D108BD9-81ED-4DB2-BD59-A6C34878D82A}">
                    <a16:rowId xmlns:a16="http://schemas.microsoft.com/office/drawing/2014/main" val="10000"/>
                  </a:ext>
                </a:extLst>
              </a:tr>
              <a:tr h="656835">
                <a:tc>
                  <a:txBody>
                    <a:bodyPr/>
                    <a:lstStyle/>
                    <a:p>
                      <a:r>
                        <a:rPr lang="fr-FR" sz="1600" dirty="0">
                          <a:solidFill>
                            <a:srgbClr val="232F3F"/>
                          </a:solidFill>
                        </a:rPr>
                        <a:t>Cycle de vie</a:t>
                      </a:r>
                    </a:p>
                  </a:txBody>
                  <a:tcPr/>
                </a:tc>
                <a:tc>
                  <a:txBody>
                    <a:bodyPr/>
                    <a:lstStyle/>
                    <a:p>
                      <a:r>
                        <a:rPr lang="fr-FR" sz="1600" dirty="0">
                          <a:solidFill>
                            <a:srgbClr val="232F3F"/>
                          </a:solidFill>
                        </a:rPr>
                        <a:t>Phases séquentielles </a:t>
                      </a:r>
                    </a:p>
                    <a:p>
                      <a:r>
                        <a:rPr lang="fr-FR" sz="1600" dirty="0">
                          <a:solidFill>
                            <a:srgbClr val="232F3F"/>
                          </a:solidFill>
                        </a:rPr>
                        <a:t>sans rétroaction possible</a:t>
                      </a:r>
                    </a:p>
                  </a:txBody>
                  <a:tcPr/>
                </a:tc>
                <a:tc>
                  <a:txBody>
                    <a:bodyPr/>
                    <a:lstStyle/>
                    <a:p>
                      <a:r>
                        <a:rPr lang="fr-FR" sz="1600" dirty="0">
                          <a:solidFill>
                            <a:srgbClr val="232F3F"/>
                          </a:solidFill>
                        </a:rPr>
                        <a:t>Itératif et incrémental</a:t>
                      </a:r>
                    </a:p>
                  </a:txBody>
                  <a:tcPr/>
                </a:tc>
                <a:extLst>
                  <a:ext uri="{0D108BD9-81ED-4DB2-BD59-A6C34878D82A}">
                    <a16:rowId xmlns:a16="http://schemas.microsoft.com/office/drawing/2014/main" val="10001"/>
                  </a:ext>
                </a:extLst>
              </a:tr>
              <a:tr h="933397">
                <a:tc>
                  <a:txBody>
                    <a:bodyPr/>
                    <a:lstStyle/>
                    <a:p>
                      <a:r>
                        <a:rPr lang="fr-FR" sz="1600" dirty="0">
                          <a:solidFill>
                            <a:srgbClr val="232F3F"/>
                          </a:solidFill>
                        </a:rPr>
                        <a:t>Planification</a:t>
                      </a:r>
                    </a:p>
                  </a:txBody>
                  <a:tcPr/>
                </a:tc>
                <a:tc>
                  <a:txBody>
                    <a:bodyPr/>
                    <a:lstStyle/>
                    <a:p>
                      <a:r>
                        <a:rPr lang="fr-FR" sz="1600" dirty="0">
                          <a:solidFill>
                            <a:srgbClr val="232F3F"/>
                          </a:solidFill>
                        </a:rPr>
                        <a:t>Prédictive basée sur un </a:t>
                      </a:r>
                    </a:p>
                    <a:p>
                      <a:r>
                        <a:rPr lang="fr-FR" sz="1600" dirty="0">
                          <a:solidFill>
                            <a:srgbClr val="232F3F"/>
                          </a:solidFill>
                        </a:rPr>
                        <a:t>périmètre et des exigences définis et stables en début du projet</a:t>
                      </a:r>
                    </a:p>
                  </a:txBody>
                  <a:tcPr/>
                </a:tc>
                <a:tc>
                  <a:txBody>
                    <a:bodyPr/>
                    <a:lstStyle/>
                    <a:p>
                      <a:r>
                        <a:rPr lang="fr-FR" sz="1600" dirty="0">
                          <a:solidFill>
                            <a:srgbClr val="232F3F"/>
                          </a:solidFill>
                        </a:rPr>
                        <a:t>Adaptative </a:t>
                      </a:r>
                    </a:p>
                    <a:p>
                      <a:r>
                        <a:rPr lang="fr-FR" sz="1600" dirty="0">
                          <a:solidFill>
                            <a:srgbClr val="232F3F"/>
                          </a:solidFill>
                        </a:rPr>
                        <a:t>Ajustements au fil de l’eau</a:t>
                      </a:r>
                    </a:p>
                    <a:p>
                      <a:endParaRPr lang="fr-FR" sz="1600" dirty="0">
                        <a:solidFill>
                          <a:srgbClr val="232F3F"/>
                        </a:solidFill>
                      </a:endParaRPr>
                    </a:p>
                  </a:txBody>
                  <a:tcPr/>
                </a:tc>
                <a:extLst>
                  <a:ext uri="{0D108BD9-81ED-4DB2-BD59-A6C34878D82A}">
                    <a16:rowId xmlns:a16="http://schemas.microsoft.com/office/drawing/2014/main" val="10002"/>
                  </a:ext>
                </a:extLst>
              </a:tr>
              <a:tr h="1209959">
                <a:tc>
                  <a:txBody>
                    <a:bodyPr/>
                    <a:lstStyle/>
                    <a:p>
                      <a:r>
                        <a:rPr lang="fr-FR" sz="1600" dirty="0">
                          <a:solidFill>
                            <a:srgbClr val="232F3F"/>
                          </a:solidFill>
                        </a:rPr>
                        <a:t>Documentation</a:t>
                      </a:r>
                    </a:p>
                  </a:txBody>
                  <a:tcPr/>
                </a:tc>
                <a:tc>
                  <a:txBody>
                    <a:bodyPr/>
                    <a:lstStyle/>
                    <a:p>
                      <a:r>
                        <a:rPr lang="fr-FR" sz="1600" dirty="0">
                          <a:solidFill>
                            <a:srgbClr val="232F3F"/>
                          </a:solidFill>
                        </a:rPr>
                        <a:t>Produite en quantité importante</a:t>
                      </a:r>
                      <a:br>
                        <a:rPr lang="fr-FR" sz="1600" dirty="0">
                          <a:solidFill>
                            <a:srgbClr val="232F3F"/>
                          </a:solidFill>
                        </a:rPr>
                      </a:br>
                      <a:r>
                        <a:rPr lang="fr-FR" sz="1600" dirty="0">
                          <a:solidFill>
                            <a:srgbClr val="232F3F"/>
                          </a:solidFill>
                        </a:rPr>
                        <a:t>support de communication, de validation, de contractualisation</a:t>
                      </a:r>
                    </a:p>
                  </a:txBody>
                  <a:tcPr/>
                </a:tc>
                <a:tc>
                  <a:txBody>
                    <a:bodyPr/>
                    <a:lstStyle/>
                    <a:p>
                      <a:r>
                        <a:rPr lang="fr-FR" sz="1600" dirty="0">
                          <a:solidFill>
                            <a:srgbClr val="232F3F"/>
                          </a:solidFill>
                        </a:rPr>
                        <a:t>Légère (code, tests) au profit d’incréments opérationnels pour obtenir du feedback du client</a:t>
                      </a:r>
                    </a:p>
                  </a:txBody>
                  <a:tcPr/>
                </a:tc>
                <a:extLst>
                  <a:ext uri="{0D108BD9-81ED-4DB2-BD59-A6C34878D82A}">
                    <a16:rowId xmlns:a16="http://schemas.microsoft.com/office/drawing/2014/main" val="10003"/>
                  </a:ext>
                </a:extLst>
              </a:tr>
              <a:tr h="933397">
                <a:tc>
                  <a:txBody>
                    <a:bodyPr/>
                    <a:lstStyle/>
                    <a:p>
                      <a:r>
                        <a:rPr lang="fr-FR" sz="1600" dirty="0">
                          <a:solidFill>
                            <a:srgbClr val="232F3F"/>
                          </a:solidFill>
                        </a:rPr>
                        <a:t>Equipe</a:t>
                      </a:r>
                    </a:p>
                  </a:txBody>
                  <a:tcPr/>
                </a:tc>
                <a:tc>
                  <a:txBody>
                    <a:bodyPr/>
                    <a:lstStyle/>
                    <a:p>
                      <a:r>
                        <a:rPr lang="fr-FR" sz="1600" dirty="0">
                          <a:solidFill>
                            <a:srgbClr val="232F3F"/>
                          </a:solidFill>
                        </a:rPr>
                        <a:t>Ressources spécialisées</a:t>
                      </a:r>
                    </a:p>
                    <a:p>
                      <a:r>
                        <a:rPr lang="fr-FR" sz="1600" dirty="0">
                          <a:solidFill>
                            <a:srgbClr val="232F3F"/>
                          </a:solidFill>
                        </a:rPr>
                        <a:t>dirigée par un Chef de Projet</a:t>
                      </a:r>
                    </a:p>
                  </a:txBody>
                  <a:tcPr/>
                </a:tc>
                <a:tc>
                  <a:txBody>
                    <a:bodyPr/>
                    <a:lstStyle/>
                    <a:p>
                      <a:r>
                        <a:rPr lang="fr-FR" sz="1600" dirty="0">
                          <a:solidFill>
                            <a:srgbClr val="232F3F"/>
                          </a:solidFill>
                        </a:rPr>
                        <a:t>Auto-organisée, apprenante, communication et initiatives privilégiées</a:t>
                      </a:r>
                    </a:p>
                  </a:txBody>
                  <a:tcPr/>
                </a:tc>
                <a:extLst>
                  <a:ext uri="{0D108BD9-81ED-4DB2-BD59-A6C34878D82A}">
                    <a16:rowId xmlns:a16="http://schemas.microsoft.com/office/drawing/2014/main" val="10004"/>
                  </a:ext>
                </a:extLst>
              </a:tr>
              <a:tr h="1444742">
                <a:tc>
                  <a:txBody>
                    <a:bodyPr/>
                    <a:lstStyle/>
                    <a:p>
                      <a:r>
                        <a:rPr lang="fr-FR" sz="1600" dirty="0">
                          <a:solidFill>
                            <a:srgbClr val="232F3F"/>
                          </a:solidFill>
                        </a:rPr>
                        <a:t>Qualité</a:t>
                      </a:r>
                    </a:p>
                  </a:txBody>
                  <a:tcPr/>
                </a:tc>
                <a:tc>
                  <a:txBody>
                    <a:bodyPr/>
                    <a:lstStyle/>
                    <a:p>
                      <a:r>
                        <a:rPr lang="fr-FR" sz="1600" dirty="0">
                          <a:solidFill>
                            <a:srgbClr val="232F3F"/>
                          </a:solidFill>
                        </a:rPr>
                        <a:t>Contrôle à la fin du cycle</a:t>
                      </a:r>
                    </a:p>
                    <a:p>
                      <a:r>
                        <a:rPr lang="fr-FR" sz="1600" dirty="0">
                          <a:solidFill>
                            <a:srgbClr val="232F3F"/>
                          </a:solidFill>
                        </a:rPr>
                        <a:t>quand le client découvre le produit fini (effet tunnel possible)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solidFill>
                            <a:srgbClr val="232F3F"/>
                          </a:solidFill>
                        </a:rPr>
                        <a:t>Amélioration continue</a:t>
                      </a:r>
                      <a:br>
                        <a:rPr lang="fr-FR" sz="1600" dirty="0">
                          <a:solidFill>
                            <a:srgbClr val="232F3F"/>
                          </a:solidFill>
                        </a:rPr>
                      </a:br>
                      <a:r>
                        <a:rPr lang="fr-FR" sz="1600" dirty="0">
                          <a:solidFill>
                            <a:srgbClr val="232F3F"/>
                          </a:solidFill>
                        </a:rPr>
                        <a:t>au niveau du produit et au niveau du processus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solidFill>
                            <a:srgbClr val="232F3F"/>
                          </a:solidFill>
                        </a:rPr>
                        <a:t>Le client visualise le produit</a:t>
                      </a:r>
                      <a:br>
                        <a:rPr lang="fr-FR" sz="1600" dirty="0">
                          <a:solidFill>
                            <a:srgbClr val="232F3F"/>
                          </a:solidFill>
                        </a:rPr>
                      </a:br>
                      <a:r>
                        <a:rPr lang="fr-FR" sz="1600" dirty="0">
                          <a:solidFill>
                            <a:srgbClr val="232F3F"/>
                          </a:solidFill>
                        </a:rPr>
                        <a:t>tôt et fréquemment</a:t>
                      </a:r>
                    </a:p>
                  </a:txBody>
                  <a:tcPr/>
                </a:tc>
                <a:extLst>
                  <a:ext uri="{0D108BD9-81ED-4DB2-BD59-A6C34878D82A}">
                    <a16:rowId xmlns:a16="http://schemas.microsoft.com/office/drawing/2014/main" val="10005"/>
                  </a:ext>
                </a:extLst>
              </a:tr>
              <a:tr h="638374">
                <a:tc>
                  <a:txBody>
                    <a:bodyPr/>
                    <a:lstStyle/>
                    <a:p>
                      <a:r>
                        <a:rPr lang="fr-FR" sz="1600" dirty="0">
                          <a:solidFill>
                            <a:srgbClr val="232F3F"/>
                          </a:solidFill>
                        </a:rPr>
                        <a:t>Changement</a:t>
                      </a:r>
                    </a:p>
                  </a:txBody>
                  <a:tcPr/>
                </a:tc>
                <a:tc>
                  <a:txBody>
                    <a:bodyPr/>
                    <a:lstStyle/>
                    <a:p>
                      <a:r>
                        <a:rPr lang="fr-FR" sz="1600" dirty="0">
                          <a:solidFill>
                            <a:srgbClr val="232F3F"/>
                          </a:solidFill>
                        </a:rPr>
                        <a:t>Processus lourd de gestion des changements acceptés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solidFill>
                            <a:srgbClr val="232F3F"/>
                          </a:solidFill>
                        </a:rPr>
                        <a:t>Attendus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solidFill>
                            <a:srgbClr val="232F3F"/>
                          </a:solidFill>
                        </a:rPr>
                        <a:t>Relèvent du processus normal</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661347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DDF4BDB8-DF16-4DF9-8E80-F042B7B2B320"/>
  <p:tag name="ISPRING_CMI5_LAUNCH_METHOD" val="any window"/>
  <p:tag name="ISPRING_SCORM_RATE_SLIDES" val="1"/>
  <p:tag name="ISPRINGCLOUDFOLDERID" val="1"/>
  <p:tag name="ISPRINGONLINEFOLDERID" val="1"/>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fre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FIRST_PUBLISH" val="1"/>
  <p:tag name="ISPRING_ULTRA_SCORM_SLIDE_COUNT" val="24"/>
  <p:tag name="ISPRING_ULTRA_SCORM_COURCE_TITLE" val="Introduction à l'agilité"/>
  <p:tag name="ISPRING_OUTPUT_FOLDER" val="[[&quot; \uFFFDV{94CD0497-48D6-4BB0-AA17-A2FA1F3BDD05}&quot;,&quot;C:\\Users\\gg\\Desktop&quot;]]"/>
  <p:tag name="ISPRING_PRESENTATION_TITLE" val="Introduction à l'agilité"/>
  <p:tag name="ISPRING_SCORM_ENDPOINT" val="&lt;endpoint&gt;&lt;enable&gt;0&lt;/enable&gt;&lt;lrs&gt;http://&lt;/lrs&gt;&lt;auth&gt;0&lt;/auth&gt;&lt;login&gt;&lt;/login&gt;&lt;password&gt;&lt;/password&gt;&lt;key&gt;&lt;/key&gt;&lt;name&gt;&lt;/name&gt;&lt;email&gt;&lt;/email&gt;&lt;/endpoint&gt;&#10;"/>
  <p:tag name="ISPRING_SCORM_PASSING_SCORE" val="53.000000"/>
  <p:tag name="ISPRING_SCORM_RATE_QUIZZES" val="0"/>
</p:tagLst>
</file>

<file path=ppt/theme/theme1.xml><?xml version="1.0" encoding="utf-8"?>
<a:theme xmlns:a="http://schemas.openxmlformats.org/drawingml/2006/main" name="Modèle par défaut">
  <a:themeElements>
    <a:clrScheme name="Modèle par défaut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4066AA"/>
      </a:hlink>
      <a:folHlink>
        <a:srgbClr val="F29400"/>
      </a:folHlink>
    </a:clrScheme>
    <a:fontScheme name="Modèle par défau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Modèle par défaut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4066AA"/>
        </a:hlink>
        <a:folHlink>
          <a:srgbClr val="F294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itre de la présentation.pptx" id="{DC96598B-BD0B-4E6D-82FD-2D160533F3FF}" vid="{E8886D7E-4373-427E-86E4-527356919A50}"/>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item1.xml><?xml version="1.0" encoding="utf-8"?>
<Control xmlns="http://schemas.microsoft.com/VisualStudio/2011/storyboarding/control">
  <Id Name="System.Storyboarding.WindowsAppIcons.Download" Revision="1" Stencil="System.Storyboarding.WindowsAppIcons" StencilVersion="0.1"/>
</Control>
</file>

<file path=customXml/item2.xml><?xml version="1.0" encoding="utf-8"?>
<Control xmlns="http://schemas.microsoft.com/VisualStudio/2011/storyboarding/control">
  <Id Name="System.Storyboarding.Common.MouseClick" Revision="1" Stencil="System.Storyboarding.Common" StencilVersion="0.1"/>
</Control>
</file>

<file path=customXml/item3.xml><?xml version="1.0" encoding="utf-8"?>
<Control xmlns="http://schemas.microsoft.com/VisualStudio/2011/storyboarding/control">
  <Id Name="System.Storyboarding.Common.Calendar" Revision="1" Stencil="System.Storyboarding.Common" StencilVersion="0.1"/>
</Control>
</file>

<file path=customXml/item4.xml><?xml version="1.0" encoding="utf-8"?>
<Control xmlns="http://schemas.microsoft.com/VisualStudio/2011/storyboarding/control">
  <Id Name="System.Storyboarding.WindowsApps.WindowsAppsTileSubtitle" Revision="1" Stencil="System.Storyboarding.WindowsApps" StencilVersion="0.1"/>
</Control>
</file>

<file path=customXml/item5.xml><?xml version="1.0" encoding="utf-8"?>
<Control xmlns="http://schemas.microsoft.com/VisualStudio/2011/storyboarding/control">
  <Id Name="System.Storyboarding.Common.ProgressBar" Revision="1" Stencil="System.Storyboarding.Common" StencilVersion="0.1"/>
</Control>
</file>

<file path=customXml/item6.xml><?xml version="1.0" encoding="utf-8"?>
<Control xmlns="http://schemas.microsoft.com/VisualStudio/2011/storyboarding/control">
  <Id Name="System.Storyboarding.Common.Breadcrumb" Revision="1" Stencil="System.Storyboarding.Common" StencilVersion="0.1"/>
</Control>
</file>

<file path=customXml/item7.xml><?xml version="1.0" encoding="utf-8"?>
<Control xmlns="http://schemas.microsoft.com/VisualStudio/2011/storyboarding/control">
  <Id Name="System.Storyboarding.WindowsApps.WindowsAppsTileMedium" Revision="1" Stencil="System.Storyboarding.WindowsApps" StencilVersion="0.1"/>
</Control>
</file>

<file path=customXml/item8.xml><?xml version="1.0" encoding="utf-8"?>
<Control xmlns="http://schemas.microsoft.com/VisualStudio/2011/storyboarding/control">
  <Id Name="System.Storyboarding.Common.LinkBar" Revision="1" Stencil="System.Storyboarding.Common" StencilVersion="0.1"/>
</Control>
</file>

<file path=customXml/itemProps1.xml><?xml version="1.0" encoding="utf-8"?>
<ds:datastoreItem xmlns:ds="http://schemas.openxmlformats.org/officeDocument/2006/customXml" ds:itemID="{EF3080D9-D4C5-40BA-9175-92F8C7B22C7D}">
  <ds:schemaRefs>
    <ds:schemaRef ds:uri="http://schemas.microsoft.com/VisualStudio/2011/storyboarding/control"/>
  </ds:schemaRefs>
</ds:datastoreItem>
</file>

<file path=customXml/itemProps2.xml><?xml version="1.0" encoding="utf-8"?>
<ds:datastoreItem xmlns:ds="http://schemas.openxmlformats.org/officeDocument/2006/customXml" ds:itemID="{971D55C8-2974-4F1C-8824-D6FA7AB655D1}">
  <ds:schemaRefs>
    <ds:schemaRef ds:uri="http://schemas.microsoft.com/VisualStudio/2011/storyboarding/control"/>
  </ds:schemaRefs>
</ds:datastoreItem>
</file>

<file path=customXml/itemProps3.xml><?xml version="1.0" encoding="utf-8"?>
<ds:datastoreItem xmlns:ds="http://schemas.openxmlformats.org/officeDocument/2006/customXml" ds:itemID="{5E127766-2CD4-4CFE-86D4-5DEA0658241B}">
  <ds:schemaRefs>
    <ds:schemaRef ds:uri="http://schemas.microsoft.com/VisualStudio/2011/storyboarding/control"/>
  </ds:schemaRefs>
</ds:datastoreItem>
</file>

<file path=customXml/itemProps4.xml><?xml version="1.0" encoding="utf-8"?>
<ds:datastoreItem xmlns:ds="http://schemas.openxmlformats.org/officeDocument/2006/customXml" ds:itemID="{F846C1AE-6662-4CF4-8B57-51C72942FFB4}">
  <ds:schemaRefs>
    <ds:schemaRef ds:uri="http://schemas.microsoft.com/VisualStudio/2011/storyboarding/control"/>
  </ds:schemaRefs>
</ds:datastoreItem>
</file>

<file path=customXml/itemProps5.xml><?xml version="1.0" encoding="utf-8"?>
<ds:datastoreItem xmlns:ds="http://schemas.openxmlformats.org/officeDocument/2006/customXml" ds:itemID="{A924620C-EDA1-46DC-87CA-9F02A392D898}">
  <ds:schemaRefs>
    <ds:schemaRef ds:uri="http://schemas.microsoft.com/VisualStudio/2011/storyboarding/control"/>
  </ds:schemaRefs>
</ds:datastoreItem>
</file>

<file path=customXml/itemProps6.xml><?xml version="1.0" encoding="utf-8"?>
<ds:datastoreItem xmlns:ds="http://schemas.openxmlformats.org/officeDocument/2006/customXml" ds:itemID="{1C066663-5660-4DF7-9DD7-28B44A271F4B}">
  <ds:schemaRefs>
    <ds:schemaRef ds:uri="http://schemas.microsoft.com/VisualStudio/2011/storyboarding/control"/>
  </ds:schemaRefs>
</ds:datastoreItem>
</file>

<file path=customXml/itemProps7.xml><?xml version="1.0" encoding="utf-8"?>
<ds:datastoreItem xmlns:ds="http://schemas.openxmlformats.org/officeDocument/2006/customXml" ds:itemID="{546C65F9-FF52-44CE-A14C-4A662445A2A7}">
  <ds:schemaRefs>
    <ds:schemaRef ds:uri="http://schemas.microsoft.com/VisualStudio/2011/storyboarding/control"/>
  </ds:schemaRefs>
</ds:datastoreItem>
</file>

<file path=customXml/itemProps8.xml><?xml version="1.0" encoding="utf-8"?>
<ds:datastoreItem xmlns:ds="http://schemas.openxmlformats.org/officeDocument/2006/customXml" ds:itemID="{BC4A2B8C-3A73-4A63-BF4F-4CEC5038DB1B}">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PEI</Template>
  <TotalTime>5889</TotalTime>
  <Words>4048</Words>
  <Application>Microsoft Office PowerPoint</Application>
  <PresentationFormat>Affichage à l'écran (4:3)</PresentationFormat>
  <Paragraphs>670</Paragraphs>
  <Slides>41</Slides>
  <Notes>41</Notes>
  <HiddenSlides>1</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41</vt:i4>
      </vt:variant>
    </vt:vector>
  </HeadingPairs>
  <TitlesOfParts>
    <vt:vector size="53" baseType="lpstr">
      <vt:lpstr>Arial</vt:lpstr>
      <vt:lpstr>Calibri</vt:lpstr>
      <vt:lpstr>Candara</vt:lpstr>
      <vt:lpstr>Helvetica 45 Light</vt:lpstr>
      <vt:lpstr>Helvetica 55 Roman</vt:lpstr>
      <vt:lpstr>Helvetica 65 Medium</vt:lpstr>
      <vt:lpstr>Symbol</vt:lpstr>
      <vt:lpstr>Times New Roman</vt:lpstr>
      <vt:lpstr>Verdana</vt:lpstr>
      <vt:lpstr>Wingdings</vt:lpstr>
      <vt:lpstr>Wingdings 3</vt:lpstr>
      <vt:lpstr>Modèle par défaut</vt:lpstr>
      <vt:lpstr>Introduction à l’agilité</vt:lpstr>
      <vt:lpstr> Objectifs</vt:lpstr>
      <vt:lpstr> Forces // risques du cycle en V</vt:lpstr>
      <vt:lpstr> Constats sur le cycle en V</vt:lpstr>
      <vt:lpstr> A chacun son prisme</vt:lpstr>
      <vt:lpstr> A vous de jouer !</vt:lpstr>
      <vt:lpstr> Vers l’approche agile</vt:lpstr>
      <vt:lpstr> Dimensions d’un projet</vt:lpstr>
      <vt:lpstr> Objectif</vt:lpstr>
      <vt:lpstr>Présentation PowerPoint</vt:lpstr>
      <vt:lpstr> Faire petit et complet</vt:lpstr>
      <vt:lpstr> Automatisation des tests</vt:lpstr>
      <vt:lpstr> A vous de jouer !</vt:lpstr>
      <vt:lpstr> Scrum : l’agilité en pratique</vt:lpstr>
      <vt:lpstr> Scrum – Le framework</vt:lpstr>
      <vt:lpstr> Scrum – Framework </vt:lpstr>
      <vt:lpstr> Scrum – Process</vt:lpstr>
      <vt:lpstr> Scrum - Rôles</vt:lpstr>
      <vt:lpstr> Product Owner (PO)</vt:lpstr>
      <vt:lpstr> Equipe</vt:lpstr>
      <vt:lpstr> Scrum Master</vt:lpstr>
      <vt:lpstr> Product backlog</vt:lpstr>
      <vt:lpstr> User Story</vt:lpstr>
      <vt:lpstr> User Story - Compléments</vt:lpstr>
      <vt:lpstr> Déroulement d’un sprint</vt:lpstr>
      <vt:lpstr> Vélocité</vt:lpstr>
      <vt:lpstr> Sprint planning</vt:lpstr>
      <vt:lpstr> Du Product backlog au sprint backlog</vt:lpstr>
      <vt:lpstr> Estimations</vt:lpstr>
      <vt:lpstr> Daily Scrum</vt:lpstr>
      <vt:lpstr> Scrum board</vt:lpstr>
      <vt:lpstr> Burndown Chart</vt:lpstr>
      <vt:lpstr> Sprint Review</vt:lpstr>
      <vt:lpstr> Sprint Retrospective</vt:lpstr>
      <vt:lpstr> Sprint Retrospective – des outils</vt:lpstr>
      <vt:lpstr> C’est à vous !</vt:lpstr>
      <vt:lpstr> Valeurs dans l’équipe</vt:lpstr>
      <vt:lpstr> Valeurs dans l’équipe</vt:lpstr>
      <vt:lpstr> C’est à vous !</vt:lpstr>
      <vt:lpstr> En 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à l'agilité</dc:title>
  <dc:creator>Ghislaine GREGOIRE</dc:creator>
  <cp:lastModifiedBy>Laurent Lissandre</cp:lastModifiedBy>
  <cp:revision>423</cp:revision>
  <dcterms:created xsi:type="dcterms:W3CDTF">2019-07-07T20:07:09Z</dcterms:created>
  <dcterms:modified xsi:type="dcterms:W3CDTF">2023-04-03T12:47:08Z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ies>
</file>